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7" r:id="rId1"/>
    <p:sldMasterId id="2147483696" r:id="rId2"/>
  </p:sldMasterIdLst>
  <p:notesMasterIdLst>
    <p:notesMasterId r:id="rId23"/>
  </p:notesMasterIdLst>
  <p:sldIdLst>
    <p:sldId id="271" r:id="rId3"/>
    <p:sldId id="275" r:id="rId4"/>
    <p:sldId id="268" r:id="rId5"/>
    <p:sldId id="276" r:id="rId6"/>
    <p:sldId id="274" r:id="rId7"/>
    <p:sldId id="257" r:id="rId8"/>
    <p:sldId id="258" r:id="rId9"/>
    <p:sldId id="259" r:id="rId10"/>
    <p:sldId id="260" r:id="rId11"/>
    <p:sldId id="261" r:id="rId12"/>
    <p:sldId id="262" r:id="rId13"/>
    <p:sldId id="272" r:id="rId14"/>
    <p:sldId id="264" r:id="rId15"/>
    <p:sldId id="273" r:id="rId16"/>
    <p:sldId id="265" r:id="rId17"/>
    <p:sldId id="266" r:id="rId18"/>
    <p:sldId id="267" r:id="rId19"/>
    <p:sldId id="278" r:id="rId20"/>
    <p:sldId id="277" r:id="rId21"/>
    <p:sldId id="279" r:id="rId22"/>
  </p:sldIdLst>
  <p:sldSz cx="14630400" cy="8229600"/>
  <p:notesSz cx="8229600" cy="14630400"/>
  <p:embeddedFontLst>
    <p:embeddedFont>
      <p:font typeface="ADLaM Display" panose="02010000000000000000" pitchFamily="2" charset="0"/>
      <p:regular r:id="rId24"/>
    </p:embeddedFont>
    <p:embeddedFont>
      <p:font typeface="Barlow" panose="00000500000000000000" pitchFamily="2" charset="0"/>
      <p:regular r:id="rId25"/>
      <p:bold r:id="rId26"/>
      <p:italic r:id="rId27"/>
      <p:boldItalic r:id="rId28"/>
    </p:embeddedFont>
    <p:embeddedFont>
      <p:font typeface="Bookman Old Style" panose="02050604050505020204" pitchFamily="18" charset="0"/>
      <p:regular r:id="rId29"/>
      <p:bold r:id="rId30"/>
      <p:italic r:id="rId31"/>
      <p:boldItalic r:id="rId32"/>
    </p:embeddedFont>
    <p:embeddedFont>
      <p:font typeface="MV Boli" panose="02000500030200090000" pitchFamily="2" charset="0"/>
      <p:regular r:id="rId33"/>
    </p:embeddedFont>
    <p:embeddedFont>
      <p:font typeface="Spline Sans" panose="020B0604020202020204" charset="0"/>
      <p:bold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65" autoAdjust="0"/>
    <p:restoredTop sz="94660"/>
  </p:normalViewPr>
  <p:slideViewPr>
    <p:cSldViewPr snapToGrid="0">
      <p:cViewPr varScale="1">
        <p:scale>
          <a:sx n="51" d="100"/>
          <a:sy n="51" d="100"/>
        </p:scale>
        <p:origin x="96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3.fntdata"/><Relationship Id="rId21" Type="http://schemas.openxmlformats.org/officeDocument/2006/relationships/slide" Target="slides/slide19.xml"/><Relationship Id="rId34" Type="http://schemas.openxmlformats.org/officeDocument/2006/relationships/font" Target="fonts/font11.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8.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371850" y="1097275"/>
            <a:ext cx="5486650" cy="54864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822950" y="6949425"/>
            <a:ext cx="6583675" cy="658367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3B1863B1-5DB1-D00F-24D5-94AB66153D05}"/>
            </a:ext>
          </a:extLst>
        </p:cNvPr>
        <p:cNvGrpSpPr/>
        <p:nvPr/>
      </p:nvGrpSpPr>
      <p:grpSpPr>
        <a:xfrm>
          <a:off x="0" y="0"/>
          <a:ext cx="0" cy="0"/>
          <a:chOff x="0" y="0"/>
          <a:chExt cx="0" cy="0"/>
        </a:xfrm>
      </p:grpSpPr>
      <p:sp>
        <p:nvSpPr>
          <p:cNvPr id="40" name="Google Shape;40;p1:notes">
            <a:extLst>
              <a:ext uri="{FF2B5EF4-FFF2-40B4-BE49-F238E27FC236}">
                <a16:creationId xmlns:a16="http://schemas.microsoft.com/office/drawing/2014/main" id="{CC76EF1E-D30E-C2F3-D377-7557A0FCF9C8}"/>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 name="Google Shape;41;p1:notes">
            <a:extLst>
              <a:ext uri="{FF2B5EF4-FFF2-40B4-BE49-F238E27FC236}">
                <a16:creationId xmlns:a16="http://schemas.microsoft.com/office/drawing/2014/main" id="{75CC9C70-52C0-C13C-E0AE-463592EB806F}"/>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dirty="0">
              <a:solidFill>
                <a:schemeClr val="dk1"/>
              </a:solidFill>
              <a:latin typeface="Arial"/>
              <a:ea typeface="Arial"/>
              <a:cs typeface="Arial"/>
              <a:sym typeface="Arial"/>
            </a:endParaRPr>
          </a:p>
        </p:txBody>
      </p:sp>
      <p:sp>
        <p:nvSpPr>
          <p:cNvPr id="42" name="Google Shape;42;p1:notes">
            <a:extLst>
              <a:ext uri="{FF2B5EF4-FFF2-40B4-BE49-F238E27FC236}">
                <a16:creationId xmlns:a16="http://schemas.microsoft.com/office/drawing/2014/main" id="{EF06B615-1094-D3A6-E414-9689ADDF4943}"/>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3</a:t>
            </a:fld>
            <a:endParaRPr sz="1800">
              <a:solidFill>
                <a:schemeClr val="dk1"/>
              </a:solidFill>
              <a:latin typeface="Arial"/>
              <a:ea typeface="Arial"/>
              <a:cs typeface="Arial"/>
              <a:sym typeface="Arial"/>
            </a:endParaRPr>
          </a:p>
        </p:txBody>
      </p:sp>
    </p:spTree>
    <p:extLst>
      <p:ext uri="{BB962C8B-B14F-4D97-AF65-F5344CB8AC3E}">
        <p14:creationId xmlns:p14="http://schemas.microsoft.com/office/powerpoint/2010/main" val="10328973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 name="Google Shape;52;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53" name="Google Shape;53;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6</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3:notes"/>
          <p:cNvSpPr txBox="1">
            <a:spLocks noGrp="1"/>
          </p:cNvSpPr>
          <p:nvPr>
            <p:ph type="body" idx="1"/>
          </p:nvPr>
        </p:nvSpPr>
        <p:spPr>
          <a:xfrm>
            <a:off x="822950" y="6949425"/>
            <a:ext cx="6583675" cy="65836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 name="Google Shape;70;p3:notes"/>
          <p:cNvSpPr>
            <a:spLocks noGrp="1" noRot="1" noChangeAspect="1"/>
          </p:cNvSpPr>
          <p:nvPr>
            <p:ph type="sldImg" idx="2"/>
          </p:nvPr>
        </p:nvSpPr>
        <p:spPr>
          <a:xfrm>
            <a:off x="-762000" y="1096963"/>
            <a:ext cx="9753600" cy="548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 name="Google Shape;75;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76" name="Google Shape;76;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8</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5:notes"/>
          <p:cNvSpPr txBox="1">
            <a:spLocks noGrp="1"/>
          </p:cNvSpPr>
          <p:nvPr>
            <p:ph type="body" idx="1"/>
          </p:nvPr>
        </p:nvSpPr>
        <p:spPr>
          <a:xfrm>
            <a:off x="822950" y="6949425"/>
            <a:ext cx="6583675" cy="65836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5:notes"/>
          <p:cNvSpPr>
            <a:spLocks noGrp="1" noRot="1" noChangeAspect="1"/>
          </p:cNvSpPr>
          <p:nvPr>
            <p:ph type="sldImg" idx="2"/>
          </p:nvPr>
        </p:nvSpPr>
        <p:spPr>
          <a:xfrm>
            <a:off x="-762000" y="1096963"/>
            <a:ext cx="9753600" cy="548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0" name="Google Shape;100;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01" name="Google Shape;101;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10</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7" name="Google Shape;117;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18" name="Google Shape;118;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11</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9" name="Google Shape;139;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40" name="Google Shape;140;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13</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5" name="Google Shape;155;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56" name="Google Shape;156;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15</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1:notes"/>
          <p:cNvSpPr txBox="1">
            <a:spLocks noGrp="1"/>
          </p:cNvSpPr>
          <p:nvPr>
            <p:ph type="body" idx="1"/>
          </p:nvPr>
        </p:nvSpPr>
        <p:spPr>
          <a:xfrm>
            <a:off x="822950" y="6949425"/>
            <a:ext cx="6583675" cy="65836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11:notes"/>
          <p:cNvSpPr>
            <a:spLocks noGrp="1" noRot="1" noChangeAspect="1"/>
          </p:cNvSpPr>
          <p:nvPr>
            <p:ph type="sldImg" idx="2"/>
          </p:nvPr>
        </p:nvSpPr>
        <p:spPr>
          <a:xfrm>
            <a:off x="-762000" y="1096963"/>
            <a:ext cx="9753600" cy="548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4" name="Google Shape;184;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85" name="Google Shape;185;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17</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1 master">
  <p:cSld name="Slide 1 master">
    <p:spTree>
      <p:nvGrpSpPr>
        <p:cNvPr id="1" name="Shape 6"/>
        <p:cNvGrpSpPr/>
        <p:nvPr/>
      </p:nvGrpSpPr>
      <p:grpSpPr>
        <a:xfrm>
          <a:off x="0" y="0"/>
          <a:ext cx="0" cy="0"/>
          <a:chOff x="0" y="0"/>
          <a:chExt cx="0" cy="0"/>
        </a:xfrm>
      </p:grpSpPr>
      <p:pic>
        <p:nvPicPr>
          <p:cNvPr id="7" name="Google Shape;7;p2"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8" name="Google Shape;8;p2"/>
          <p:cNvSpPr/>
          <p:nvPr/>
        </p:nvSpPr>
        <p:spPr>
          <a:xfrm>
            <a:off x="0" y="0"/>
            <a:ext cx="14630400" cy="8229600"/>
          </a:xfrm>
          <a:prstGeom prst="rect">
            <a:avLst/>
          </a:prstGeom>
          <a:solidFill>
            <a:srgbClr val="0A081B">
              <a:alpha val="7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 name="Google Shape;9;p2" descr="preencoded.png">
            <a:hlinkClick r:id="rId3"/>
          </p:cNvPr>
          <p:cNvPicPr preferRelativeResize="0"/>
          <p:nvPr/>
        </p:nvPicPr>
        <p:blipFill rotWithShape="1">
          <a:blip r:embed="rId4">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2 master">
  <p:cSld name="Slide 2 master">
    <p:spTree>
      <p:nvGrpSpPr>
        <p:cNvPr id="1" name="Shape 10"/>
        <p:cNvGrpSpPr/>
        <p:nvPr/>
      </p:nvGrpSpPr>
      <p:grpSpPr>
        <a:xfrm>
          <a:off x="0" y="0"/>
          <a:ext cx="0" cy="0"/>
          <a:chOff x="0" y="0"/>
          <a:chExt cx="0" cy="0"/>
        </a:xfrm>
      </p:grpSpPr>
      <p:pic>
        <p:nvPicPr>
          <p:cNvPr id="11" name="Google Shape;11;p3"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12" name="Google Shape;12;p3"/>
          <p:cNvSpPr/>
          <p:nvPr/>
        </p:nvSpPr>
        <p:spPr>
          <a:xfrm>
            <a:off x="0" y="0"/>
            <a:ext cx="14630400" cy="8229600"/>
          </a:xfrm>
          <a:prstGeom prst="rect">
            <a:avLst/>
          </a:prstGeom>
          <a:solidFill>
            <a:srgbClr val="0A081B">
              <a:alpha val="7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 name="Google Shape;13;p3" descr="preencoded.png">
            <a:hlinkClick r:id="rId3"/>
          </p:cNvPr>
          <p:cNvPicPr preferRelativeResize="0"/>
          <p:nvPr/>
        </p:nvPicPr>
        <p:blipFill rotWithShape="1">
          <a:blip r:embed="rId4">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3 master">
  <p:cSld name="Slide 3 master">
    <p:spTree>
      <p:nvGrpSpPr>
        <p:cNvPr id="1" name="Shape 14"/>
        <p:cNvGrpSpPr/>
        <p:nvPr/>
      </p:nvGrpSpPr>
      <p:grpSpPr>
        <a:xfrm>
          <a:off x="0" y="0"/>
          <a:ext cx="0" cy="0"/>
          <a:chOff x="0" y="0"/>
          <a:chExt cx="0" cy="0"/>
        </a:xfrm>
      </p:grpSpPr>
      <p:pic>
        <p:nvPicPr>
          <p:cNvPr id="15" name="Google Shape;15;p4"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16" name="Google Shape;16;p4"/>
          <p:cNvSpPr/>
          <p:nvPr/>
        </p:nvSpPr>
        <p:spPr>
          <a:xfrm>
            <a:off x="0" y="0"/>
            <a:ext cx="14630400" cy="8229600"/>
          </a:xfrm>
          <a:prstGeom prst="rect">
            <a:avLst/>
          </a:prstGeom>
          <a:solidFill>
            <a:srgbClr val="0A081B">
              <a:alpha val="7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 name="Google Shape;17;p4" descr="preencoded.png">
            <a:hlinkClick r:id="rId3"/>
          </p:cNvPr>
          <p:cNvPicPr preferRelativeResize="0"/>
          <p:nvPr/>
        </p:nvPicPr>
        <p:blipFill rotWithShape="1">
          <a:blip r:embed="rId4">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lide 4 master">
  <p:cSld name="Slide 4 master">
    <p:spTree>
      <p:nvGrpSpPr>
        <p:cNvPr id="1" name="Shape 18"/>
        <p:cNvGrpSpPr/>
        <p:nvPr/>
      </p:nvGrpSpPr>
      <p:grpSpPr>
        <a:xfrm>
          <a:off x="0" y="0"/>
          <a:ext cx="0" cy="0"/>
          <a:chOff x="0" y="0"/>
          <a:chExt cx="0" cy="0"/>
        </a:xfrm>
      </p:grpSpPr>
      <p:pic>
        <p:nvPicPr>
          <p:cNvPr id="19" name="Google Shape;19;p5"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20" name="Google Shape;20;p5"/>
          <p:cNvSpPr/>
          <p:nvPr/>
        </p:nvSpPr>
        <p:spPr>
          <a:xfrm>
            <a:off x="0" y="0"/>
            <a:ext cx="14630400" cy="8229600"/>
          </a:xfrm>
          <a:prstGeom prst="rect">
            <a:avLst/>
          </a:prstGeom>
          <a:solidFill>
            <a:srgbClr val="0A081B">
              <a:alpha val="7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 name="Google Shape;21;p5" descr="preencoded.png">
            <a:hlinkClick r:id="rId3"/>
          </p:cNvPr>
          <p:cNvPicPr preferRelativeResize="0"/>
          <p:nvPr/>
        </p:nvPicPr>
        <p:blipFill rotWithShape="1">
          <a:blip r:embed="rId4">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lide 6 master">
  <p:cSld name="Slide 6 master">
    <p:spTree>
      <p:nvGrpSpPr>
        <p:cNvPr id="1" name="Shape 22"/>
        <p:cNvGrpSpPr/>
        <p:nvPr/>
      </p:nvGrpSpPr>
      <p:grpSpPr>
        <a:xfrm>
          <a:off x="0" y="0"/>
          <a:ext cx="0" cy="0"/>
          <a:chOff x="0" y="0"/>
          <a:chExt cx="0" cy="0"/>
        </a:xfrm>
      </p:grpSpPr>
      <p:pic>
        <p:nvPicPr>
          <p:cNvPr id="23" name="Google Shape;23;p6"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24" name="Google Shape;24;p6"/>
          <p:cNvSpPr/>
          <p:nvPr/>
        </p:nvSpPr>
        <p:spPr>
          <a:xfrm>
            <a:off x="0" y="0"/>
            <a:ext cx="14630400" cy="8229600"/>
          </a:xfrm>
          <a:prstGeom prst="rect">
            <a:avLst/>
          </a:prstGeom>
          <a:solidFill>
            <a:srgbClr val="0A081B">
              <a:alpha val="7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 name="Google Shape;25;p6" descr="preencoded.png">
            <a:hlinkClick r:id="rId3"/>
          </p:cNvPr>
          <p:cNvPicPr preferRelativeResize="0"/>
          <p:nvPr/>
        </p:nvPicPr>
        <p:blipFill rotWithShape="1">
          <a:blip r:embed="rId4">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lide 5 master">
  <p:cSld name="Slide 5 master">
    <p:spTree>
      <p:nvGrpSpPr>
        <p:cNvPr id="1" name="Shape 26"/>
        <p:cNvGrpSpPr/>
        <p:nvPr/>
      </p:nvGrpSpPr>
      <p:grpSpPr>
        <a:xfrm>
          <a:off x="0" y="0"/>
          <a:ext cx="0" cy="0"/>
          <a:chOff x="0" y="0"/>
          <a:chExt cx="0" cy="0"/>
        </a:xfrm>
      </p:grpSpPr>
      <p:pic>
        <p:nvPicPr>
          <p:cNvPr id="27" name="Google Shape;27;p7"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28" name="Google Shape;28;p7"/>
          <p:cNvSpPr/>
          <p:nvPr/>
        </p:nvSpPr>
        <p:spPr>
          <a:xfrm>
            <a:off x="0" y="0"/>
            <a:ext cx="14630400" cy="8229600"/>
          </a:xfrm>
          <a:prstGeom prst="rect">
            <a:avLst/>
          </a:prstGeom>
          <a:solidFill>
            <a:srgbClr val="0A081B">
              <a:alpha val="7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 name="Google Shape;29;p7" descr="preencoded.png">
            <a:hlinkClick r:id="rId3"/>
          </p:cNvPr>
          <p:cNvPicPr preferRelativeResize="0"/>
          <p:nvPr/>
        </p:nvPicPr>
        <p:blipFill rotWithShape="1">
          <a:blip r:embed="rId4">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lide 7 master">
  <p:cSld name="Slide 7 master">
    <p:spTree>
      <p:nvGrpSpPr>
        <p:cNvPr id="1" name="Shape 30"/>
        <p:cNvGrpSpPr/>
        <p:nvPr/>
      </p:nvGrpSpPr>
      <p:grpSpPr>
        <a:xfrm>
          <a:off x="0" y="0"/>
          <a:ext cx="0" cy="0"/>
          <a:chOff x="0" y="0"/>
          <a:chExt cx="0" cy="0"/>
        </a:xfrm>
      </p:grpSpPr>
      <p:pic>
        <p:nvPicPr>
          <p:cNvPr id="31" name="Google Shape;31;p8"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32" name="Google Shape;32;p8"/>
          <p:cNvSpPr/>
          <p:nvPr/>
        </p:nvSpPr>
        <p:spPr>
          <a:xfrm>
            <a:off x="0" y="0"/>
            <a:ext cx="14630400" cy="8229600"/>
          </a:xfrm>
          <a:prstGeom prst="rect">
            <a:avLst/>
          </a:prstGeom>
          <a:solidFill>
            <a:srgbClr val="0A081B">
              <a:alpha val="7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3" name="Google Shape;33;p8" descr="preencoded.png">
            <a:hlinkClick r:id="rId3"/>
          </p:cNvPr>
          <p:cNvPicPr preferRelativeResize="0"/>
          <p:nvPr/>
        </p:nvPicPr>
        <p:blipFill rotWithShape="1">
          <a:blip r:embed="rId4">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lide 8 master">
  <p:cSld name="Slide 8 master">
    <p:spTree>
      <p:nvGrpSpPr>
        <p:cNvPr id="1" name="Shape 34"/>
        <p:cNvGrpSpPr/>
        <p:nvPr/>
      </p:nvGrpSpPr>
      <p:grpSpPr>
        <a:xfrm>
          <a:off x="0" y="0"/>
          <a:ext cx="0" cy="0"/>
          <a:chOff x="0" y="0"/>
          <a:chExt cx="0" cy="0"/>
        </a:xfrm>
      </p:grpSpPr>
      <p:pic>
        <p:nvPicPr>
          <p:cNvPr id="35" name="Google Shape;35;p9" descr="preencoded.png"/>
          <p:cNvPicPr preferRelativeResize="0"/>
          <p:nvPr/>
        </p:nvPicPr>
        <p:blipFill rotWithShape="1">
          <a:blip r:embed="rId2">
            <a:alphaModFix/>
          </a:blip>
          <a:srcRect/>
          <a:stretch/>
        </p:blipFill>
        <p:spPr>
          <a:xfrm>
            <a:off x="0" y="0"/>
            <a:ext cx="14630400" cy="8229600"/>
          </a:xfrm>
          <a:prstGeom prst="rect">
            <a:avLst/>
          </a:prstGeom>
          <a:noFill/>
          <a:ln>
            <a:noFill/>
          </a:ln>
        </p:spPr>
      </p:pic>
      <p:sp>
        <p:nvSpPr>
          <p:cNvPr id="36" name="Google Shape;36;p9"/>
          <p:cNvSpPr/>
          <p:nvPr/>
        </p:nvSpPr>
        <p:spPr>
          <a:xfrm>
            <a:off x="0" y="0"/>
            <a:ext cx="14630400" cy="8229600"/>
          </a:xfrm>
          <a:prstGeom prst="rect">
            <a:avLst/>
          </a:prstGeom>
          <a:solidFill>
            <a:srgbClr val="0A081B">
              <a:alpha val="7490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7" name="Google Shape;37;p9" descr="preencoded.png">
            <a:hlinkClick r:id="rId3"/>
          </p:cNvPr>
          <p:cNvPicPr preferRelativeResize="0"/>
          <p:nvPr/>
        </p:nvPicPr>
        <p:blipFill rotWithShape="1">
          <a:blip r:embed="rId4">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38"/>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4626590" cy="8227457"/>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E6E078A-AD6F-471B-A25E-0BE472E10691}" type="datetimeFigureOut">
              <a:rPr lang="en-US" smtClean="0"/>
              <a:t>2025-05-26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CE063B-8FB5-4568-82E0-8D2FDFD24B6F}" type="slidenum">
              <a:rPr lang="en-US" smtClean="0"/>
              <a:t>‹#›</a:t>
            </a:fld>
            <a:endParaRPr lang="en-US"/>
          </a:p>
        </p:txBody>
      </p:sp>
    </p:spTree>
    <p:extLst>
      <p:ext uri="{BB962C8B-B14F-4D97-AF65-F5344CB8AC3E}">
        <p14:creationId xmlns:p14="http://schemas.microsoft.com/office/powerpoint/2010/main" val="24075610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22962" y="731521"/>
            <a:ext cx="12157710" cy="174752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22962" y="2570481"/>
            <a:ext cx="12157710" cy="437896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07592" y="7044691"/>
            <a:ext cx="1920240" cy="453390"/>
          </a:xfrm>
          <a:prstGeom prst="rect">
            <a:avLst/>
          </a:prstGeom>
        </p:spPr>
        <p:txBody>
          <a:bodyPr vert="horz" lIns="91440" tIns="45720" rIns="91440" bIns="45720" rtlCol="0" anchor="ctr"/>
          <a:lstStyle>
            <a:lvl1pPr algn="r">
              <a:defRPr sz="1200" b="0" i="0">
                <a:solidFill>
                  <a:schemeClr val="tx1"/>
                </a:solidFill>
                <a:effectLst/>
                <a:latin typeface="+mn-lt"/>
              </a:defRPr>
            </a:lvl1pPr>
          </a:lstStyle>
          <a:p>
            <a:fld id="{EE6E078A-AD6F-471B-A25E-0BE472E10691}" type="datetimeFigureOut">
              <a:rPr lang="en-US" smtClean="0"/>
              <a:t>2025-05-26</a:t>
            </a:fld>
            <a:endParaRPr lang="en-US"/>
          </a:p>
        </p:txBody>
      </p:sp>
      <p:sp>
        <p:nvSpPr>
          <p:cNvPr id="5" name="Footer Placeholder 4"/>
          <p:cNvSpPr>
            <a:spLocks noGrp="1"/>
          </p:cNvSpPr>
          <p:nvPr>
            <p:ph type="ftr" sz="quarter" idx="3"/>
          </p:nvPr>
        </p:nvSpPr>
        <p:spPr>
          <a:xfrm>
            <a:off x="822961" y="7044691"/>
            <a:ext cx="9393191" cy="453390"/>
          </a:xfrm>
          <a:prstGeom prst="rect">
            <a:avLst/>
          </a:prstGeom>
        </p:spPr>
        <p:txBody>
          <a:bodyPr vert="horz" lIns="91440" tIns="45720" rIns="91440" bIns="45720" rtlCol="0" anchor="ctr"/>
          <a:lstStyle>
            <a:lvl1pPr algn="l">
              <a:defRPr sz="12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2319273" y="7044691"/>
            <a:ext cx="661400" cy="453390"/>
          </a:xfrm>
          <a:prstGeom prst="rect">
            <a:avLst/>
          </a:prstGeom>
        </p:spPr>
        <p:txBody>
          <a:bodyPr vert="horz" lIns="91440" tIns="45720" rIns="91440" bIns="45720" rtlCol="0" anchor="ctr"/>
          <a:lstStyle>
            <a:lvl1pPr algn="r">
              <a:defRPr sz="1200" b="0" i="0">
                <a:solidFill>
                  <a:schemeClr val="tx1"/>
                </a:solidFill>
                <a:effectLst/>
                <a:latin typeface="+mn-lt"/>
              </a:defRPr>
            </a:lvl1pPr>
          </a:lstStyle>
          <a:p>
            <a:fld id="{4BCE063B-8FB5-4568-82E0-8D2FDFD24B6F}" type="slidenum">
              <a:rPr lang="en-US" smtClean="0"/>
              <a:t>‹#›</a:t>
            </a:fld>
            <a:endParaRPr lang="en-US"/>
          </a:p>
        </p:txBody>
      </p:sp>
    </p:spTree>
    <p:extLst>
      <p:ext uri="{BB962C8B-B14F-4D97-AF65-F5344CB8AC3E}">
        <p14:creationId xmlns:p14="http://schemas.microsoft.com/office/powerpoint/2010/main" val="3815253780"/>
      </p:ext>
    </p:extLst>
  </p:cSld>
  <p:clrMap bg1="dk1" tx1="lt1" bg2="dk2" tx2="lt2" accent1="accent1" accent2="accent2" accent3="accent3" accent4="accent4" accent5="accent5" accent6="accent6" hlink="hlink" folHlink="folHlink"/>
  <p:sldLayoutIdLst>
    <p:sldLayoutId id="2147483702" r:id="rId1"/>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0.jpg"/></Relationships>
</file>

<file path=ppt/slides/_rels/slide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9.jp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10.jp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30.jpeg"/><Relationship Id="rId7" Type="http://schemas.openxmlformats.org/officeDocument/2006/relationships/image" Target="../media/image8.jpeg"/><Relationship Id="rId2" Type="http://schemas.openxmlformats.org/officeDocument/2006/relationships/image" Target="../media/image29.jpeg"/><Relationship Id="rId1" Type="http://schemas.openxmlformats.org/officeDocument/2006/relationships/slideLayout" Target="../slideLayouts/slideLayout10.xml"/><Relationship Id="rId6" Type="http://schemas.openxmlformats.org/officeDocument/2006/relationships/image" Target="../media/image7.jpeg"/><Relationship Id="rId5" Type="http://schemas.openxmlformats.org/officeDocument/2006/relationships/image" Target="../media/image32.jpeg"/><Relationship Id="rId4" Type="http://schemas.openxmlformats.org/officeDocument/2006/relationships/image" Target="../media/image31.jpeg"/></Relationships>
</file>

<file path=ppt/slides/_rels/slide2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32570-B72D-5CBB-36AF-C23A6982C805}"/>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927A5D13-0B65-F11C-EFB6-12617D430ACC}"/>
              </a:ext>
            </a:extLst>
          </p:cNvPr>
          <p:cNvSpPr txBox="1"/>
          <p:nvPr/>
        </p:nvSpPr>
        <p:spPr>
          <a:xfrm>
            <a:off x="4995414" y="2288020"/>
            <a:ext cx="4639571" cy="1039002"/>
          </a:xfrm>
          <a:prstGeom prst="rect">
            <a:avLst/>
          </a:prstGeom>
          <a:noFill/>
        </p:spPr>
        <p:txBody>
          <a:bodyPr wrap="square">
            <a:spAutoFit/>
          </a:bodyPr>
          <a:lstStyle>
            <a:defPPr>
              <a:defRPr lang="en-US"/>
            </a:defPPr>
            <a:lvl1pPr marL="0" algn="l" defTabSz="548640" rtl="0" eaLnBrk="1" latinLnBrk="0" hangingPunct="1">
              <a:defRPr sz="2160" kern="1200">
                <a:solidFill>
                  <a:schemeClr val="tx1"/>
                </a:solidFill>
                <a:latin typeface="+mn-lt"/>
                <a:ea typeface="+mn-ea"/>
                <a:cs typeface="+mn-cs"/>
              </a:defRPr>
            </a:lvl1pPr>
            <a:lvl2pPr marL="548640" algn="l" defTabSz="548640" rtl="0" eaLnBrk="1" latinLnBrk="0" hangingPunct="1">
              <a:defRPr sz="2160" kern="1200">
                <a:solidFill>
                  <a:schemeClr val="tx1"/>
                </a:solidFill>
                <a:latin typeface="+mn-lt"/>
                <a:ea typeface="+mn-ea"/>
                <a:cs typeface="+mn-cs"/>
              </a:defRPr>
            </a:lvl2pPr>
            <a:lvl3pPr marL="1097280" algn="l" defTabSz="548640" rtl="0" eaLnBrk="1" latinLnBrk="0" hangingPunct="1">
              <a:defRPr sz="2160" kern="1200">
                <a:solidFill>
                  <a:schemeClr val="tx1"/>
                </a:solidFill>
                <a:latin typeface="+mn-lt"/>
                <a:ea typeface="+mn-ea"/>
                <a:cs typeface="+mn-cs"/>
              </a:defRPr>
            </a:lvl3pPr>
            <a:lvl4pPr marL="1645920" algn="l" defTabSz="548640" rtl="0" eaLnBrk="1" latinLnBrk="0" hangingPunct="1">
              <a:defRPr sz="2160" kern="1200">
                <a:solidFill>
                  <a:schemeClr val="tx1"/>
                </a:solidFill>
                <a:latin typeface="+mn-lt"/>
                <a:ea typeface="+mn-ea"/>
                <a:cs typeface="+mn-cs"/>
              </a:defRPr>
            </a:lvl4pPr>
            <a:lvl5pPr marL="2194560" algn="l" defTabSz="548640" rtl="0" eaLnBrk="1" latinLnBrk="0" hangingPunct="1">
              <a:defRPr sz="2160" kern="1200">
                <a:solidFill>
                  <a:schemeClr val="tx1"/>
                </a:solidFill>
                <a:latin typeface="+mn-lt"/>
                <a:ea typeface="+mn-ea"/>
                <a:cs typeface="+mn-cs"/>
              </a:defRPr>
            </a:lvl5pPr>
            <a:lvl6pPr marL="2743200" algn="l" defTabSz="548640" rtl="0" eaLnBrk="1" latinLnBrk="0" hangingPunct="1">
              <a:defRPr sz="2160" kern="1200">
                <a:solidFill>
                  <a:schemeClr val="tx1"/>
                </a:solidFill>
                <a:latin typeface="+mn-lt"/>
                <a:ea typeface="+mn-ea"/>
                <a:cs typeface="+mn-cs"/>
              </a:defRPr>
            </a:lvl6pPr>
            <a:lvl7pPr marL="3291840" algn="l" defTabSz="548640" rtl="0" eaLnBrk="1" latinLnBrk="0" hangingPunct="1">
              <a:defRPr sz="2160" kern="1200">
                <a:solidFill>
                  <a:schemeClr val="tx1"/>
                </a:solidFill>
                <a:latin typeface="+mn-lt"/>
                <a:ea typeface="+mn-ea"/>
                <a:cs typeface="+mn-cs"/>
              </a:defRPr>
            </a:lvl7pPr>
            <a:lvl8pPr marL="3840480" algn="l" defTabSz="548640" rtl="0" eaLnBrk="1" latinLnBrk="0" hangingPunct="1">
              <a:defRPr sz="2160" kern="1200">
                <a:solidFill>
                  <a:schemeClr val="tx1"/>
                </a:solidFill>
                <a:latin typeface="+mn-lt"/>
                <a:ea typeface="+mn-ea"/>
                <a:cs typeface="+mn-cs"/>
              </a:defRPr>
            </a:lvl8pPr>
            <a:lvl9pPr marL="4389120" algn="l" defTabSz="548640" rtl="0" eaLnBrk="1" latinLnBrk="0" hangingPunct="1">
              <a:defRPr sz="2160" kern="1200">
                <a:solidFill>
                  <a:schemeClr val="tx1"/>
                </a:solidFill>
                <a:latin typeface="+mn-lt"/>
                <a:ea typeface="+mn-ea"/>
                <a:cs typeface="+mn-cs"/>
              </a:defRPr>
            </a:lvl9pPr>
          </a:lstStyle>
          <a:p>
            <a:pPr marL="0" marR="0" lvl="0" indent="0" algn="l" rtl="0">
              <a:lnSpc>
                <a:spcPct val="125581"/>
              </a:lnSpc>
              <a:spcBef>
                <a:spcPts val="0"/>
              </a:spcBef>
              <a:spcAft>
                <a:spcPts val="0"/>
              </a:spcAft>
              <a:buClr>
                <a:srgbClr val="F0FCFF"/>
              </a:buClr>
              <a:buSzPts val="4300"/>
              <a:buFont typeface="Spline Sans"/>
              <a:buNone/>
            </a:pPr>
            <a:r>
              <a:rPr lang="en-US" sz="5280" b="1" i="0" u="none" strike="noStrike" cap="none" dirty="0">
                <a:solidFill>
                  <a:srgbClr val="F0FCFF"/>
                </a:solidFill>
                <a:latin typeface="ADLaM Display" panose="020F0502020204030204" pitchFamily="2" charset="0"/>
                <a:ea typeface="ADLaM Display" panose="020F0502020204030204" pitchFamily="2" charset="0"/>
                <a:cs typeface="ADLaM Display" panose="020F0502020204030204" pitchFamily="2" charset="0"/>
                <a:sym typeface="Spline Sans"/>
              </a:rPr>
              <a:t>Project Idea 6</a:t>
            </a:r>
          </a:p>
        </p:txBody>
      </p:sp>
      <p:sp>
        <p:nvSpPr>
          <p:cNvPr id="4" name="TextBox 3">
            <a:extLst>
              <a:ext uri="{FF2B5EF4-FFF2-40B4-BE49-F238E27FC236}">
                <a16:creationId xmlns:a16="http://schemas.microsoft.com/office/drawing/2014/main" id="{EEDDF5B9-2D5E-8E92-FB4D-0A61910E91DD}"/>
              </a:ext>
            </a:extLst>
          </p:cNvPr>
          <p:cNvSpPr txBox="1"/>
          <p:nvPr/>
        </p:nvSpPr>
        <p:spPr>
          <a:xfrm>
            <a:off x="3346284" y="3924789"/>
            <a:ext cx="7937825" cy="1286565"/>
          </a:xfrm>
          <a:prstGeom prst="rect">
            <a:avLst/>
          </a:prstGeom>
          <a:noFill/>
        </p:spPr>
        <p:txBody>
          <a:bodyPr wrap="square">
            <a:spAutoFit/>
          </a:bodyPr>
          <a:lstStyle/>
          <a:p>
            <a:pPr marL="0" marR="0" lvl="0" indent="0" algn="just" rtl="0">
              <a:lnSpc>
                <a:spcPct val="125581"/>
              </a:lnSpc>
              <a:spcBef>
                <a:spcPts val="0"/>
              </a:spcBef>
              <a:spcAft>
                <a:spcPts val="0"/>
              </a:spcAft>
              <a:buClr>
                <a:srgbClr val="F0FCFF"/>
              </a:buClr>
              <a:buSzPts val="4300"/>
              <a:buFont typeface="Spline Sans"/>
              <a:buNone/>
            </a:pPr>
            <a:r>
              <a:rPr lang="en-US" sz="6600" b="1" i="0" u="none" strike="noStrike" cap="none" spc="600" dirty="0">
                <a:solidFill>
                  <a:srgbClr val="F0FCFF"/>
                </a:solidFill>
                <a:latin typeface="Bookman Old Style" panose="02050604050505020204" pitchFamily="18" charset="0"/>
                <a:ea typeface="Spline Sans"/>
                <a:cs typeface="Spline Sans"/>
                <a:sym typeface="Spline Sans"/>
              </a:rPr>
              <a:t>UK Train Rides</a:t>
            </a:r>
          </a:p>
        </p:txBody>
      </p:sp>
      <p:sp>
        <p:nvSpPr>
          <p:cNvPr id="6" name="TextBox 5">
            <a:extLst>
              <a:ext uri="{FF2B5EF4-FFF2-40B4-BE49-F238E27FC236}">
                <a16:creationId xmlns:a16="http://schemas.microsoft.com/office/drawing/2014/main" id="{24B8966D-A176-FD89-CC0B-8F8DA550ADC0}"/>
              </a:ext>
            </a:extLst>
          </p:cNvPr>
          <p:cNvSpPr txBox="1"/>
          <p:nvPr/>
        </p:nvSpPr>
        <p:spPr>
          <a:xfrm>
            <a:off x="5772151" y="5760695"/>
            <a:ext cx="2971744" cy="680827"/>
          </a:xfrm>
          <a:prstGeom prst="rect">
            <a:avLst/>
          </a:prstGeom>
          <a:noFill/>
        </p:spPr>
        <p:txBody>
          <a:bodyPr wrap="square">
            <a:spAutoFit/>
          </a:bodyPr>
          <a:lstStyle/>
          <a:p>
            <a:pPr marL="0" marR="0" lvl="0" indent="0" algn="ctr" rtl="0">
              <a:lnSpc>
                <a:spcPct val="125581"/>
              </a:lnSpc>
              <a:spcBef>
                <a:spcPts val="0"/>
              </a:spcBef>
              <a:spcAft>
                <a:spcPts val="0"/>
              </a:spcAft>
              <a:buClr>
                <a:srgbClr val="F0FCFF"/>
              </a:buClr>
              <a:buSzPts val="4300"/>
              <a:buFont typeface="Spline Sans"/>
              <a:buNone/>
            </a:pPr>
            <a:r>
              <a:rPr lang="en-US" sz="3200" b="1" i="0" u="none" strike="noStrike" cap="none" dirty="0">
                <a:solidFill>
                  <a:srgbClr val="F0FCFF"/>
                </a:solidFill>
                <a:latin typeface="MV Boli" panose="02000500030200090000" pitchFamily="2" charset="0"/>
                <a:ea typeface="Spline Sans"/>
                <a:cs typeface="MV Boli" panose="02000500030200090000" pitchFamily="2" charset="0"/>
                <a:sym typeface="Spline Sans"/>
              </a:rPr>
              <a:t>(Outstanding)</a:t>
            </a:r>
          </a:p>
        </p:txBody>
      </p:sp>
      <p:pic>
        <p:nvPicPr>
          <p:cNvPr id="9" name="Picture 8">
            <a:extLst>
              <a:ext uri="{FF2B5EF4-FFF2-40B4-BE49-F238E27FC236}">
                <a16:creationId xmlns:a16="http://schemas.microsoft.com/office/drawing/2014/main" id="{83EC2583-EEFE-674A-E1F9-BC5E1BFCF7B1}"/>
              </a:ext>
            </a:extLst>
          </p:cNvPr>
          <p:cNvPicPr>
            <a:picLocks noChangeAspect="1"/>
          </p:cNvPicPr>
          <p:nvPr/>
        </p:nvPicPr>
        <p:blipFill>
          <a:blip r:embed="rId2"/>
          <a:stretch>
            <a:fillRect/>
          </a:stretch>
        </p:blipFill>
        <p:spPr>
          <a:xfrm>
            <a:off x="870387" y="573829"/>
            <a:ext cx="2475897" cy="2144476"/>
          </a:xfrm>
          <a:prstGeom prst="rect">
            <a:avLst/>
          </a:prstGeom>
        </p:spPr>
      </p:pic>
      <p:pic>
        <p:nvPicPr>
          <p:cNvPr id="10" name="image50.png">
            <a:extLst>
              <a:ext uri="{FF2B5EF4-FFF2-40B4-BE49-F238E27FC236}">
                <a16:creationId xmlns:a16="http://schemas.microsoft.com/office/drawing/2014/main" id="{36E6A009-5445-10E7-FA10-0A769A5E3748}"/>
              </a:ext>
            </a:extLst>
          </p:cNvPr>
          <p:cNvPicPr/>
          <p:nvPr/>
        </p:nvPicPr>
        <p:blipFill>
          <a:blip r:embed="rId3"/>
          <a:srcRect/>
          <a:stretch>
            <a:fillRect/>
          </a:stretch>
        </p:blipFill>
        <p:spPr>
          <a:xfrm>
            <a:off x="11284109" y="573829"/>
            <a:ext cx="2475897" cy="2144477"/>
          </a:xfrm>
          <a:prstGeom prst="rect">
            <a:avLst/>
          </a:prstGeom>
          <a:ln/>
        </p:spPr>
      </p:pic>
      <p:sp>
        <p:nvSpPr>
          <p:cNvPr id="3" name="TextBox 2">
            <a:extLst>
              <a:ext uri="{FF2B5EF4-FFF2-40B4-BE49-F238E27FC236}">
                <a16:creationId xmlns:a16="http://schemas.microsoft.com/office/drawing/2014/main" id="{087D593E-6DF5-344B-6141-E74E05F36C8C}"/>
              </a:ext>
            </a:extLst>
          </p:cNvPr>
          <p:cNvSpPr txBox="1"/>
          <p:nvPr/>
        </p:nvSpPr>
        <p:spPr>
          <a:xfrm>
            <a:off x="4267200" y="1080154"/>
            <a:ext cx="6095999" cy="1077218"/>
          </a:xfrm>
          <a:prstGeom prst="rect">
            <a:avLst/>
          </a:prstGeom>
          <a:noFill/>
        </p:spPr>
        <p:txBody>
          <a:bodyPr wrap="square">
            <a:spAutoFit/>
          </a:bodyPr>
          <a:lstStyle/>
          <a:p>
            <a:pPr algn="ctr"/>
            <a:r>
              <a:rPr lang="en-US" sz="3200" dirty="0">
                <a:solidFill>
                  <a:schemeClr val="accent6"/>
                </a:solidFill>
              </a:rPr>
              <a:t>Google Data Analyst Specialist</a:t>
            </a:r>
            <a:br>
              <a:rPr lang="en-US" sz="3200" dirty="0">
                <a:solidFill>
                  <a:schemeClr val="accent6"/>
                </a:solidFill>
              </a:rPr>
            </a:br>
            <a:r>
              <a:rPr lang="en-US" sz="3200" dirty="0">
                <a:solidFill>
                  <a:schemeClr val="accent6"/>
                </a:solidFill>
              </a:rPr>
              <a:t>CLS ONL2_DAT1_G2</a:t>
            </a:r>
          </a:p>
        </p:txBody>
      </p:sp>
    </p:spTree>
    <p:extLst>
      <p:ext uri="{BB962C8B-B14F-4D97-AF65-F5344CB8AC3E}">
        <p14:creationId xmlns:p14="http://schemas.microsoft.com/office/powerpoint/2010/main" val="26811436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239C8-A52B-549A-BECE-9FC4B64AF196}"/>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6C6CD6F6-9375-3858-9DB2-5E46A2CDA8D0}"/>
              </a:ext>
            </a:extLst>
          </p:cNvPr>
          <p:cNvSpPr txBox="1"/>
          <p:nvPr/>
        </p:nvSpPr>
        <p:spPr>
          <a:xfrm>
            <a:off x="921263" y="4159245"/>
            <a:ext cx="8768317" cy="2954720"/>
          </a:xfrm>
          <a:prstGeom prst="rect">
            <a:avLst/>
          </a:prstGeom>
          <a:noFill/>
        </p:spPr>
        <p:txBody>
          <a:bodyPr wrap="square">
            <a:spAutoFit/>
          </a:bodyPr>
          <a:lstStyle/>
          <a:p>
            <a:pPr marL="0" marR="0">
              <a:lnSpc>
                <a:spcPct val="107000"/>
              </a:lnSpc>
              <a:spcAft>
                <a:spcPts val="800"/>
              </a:spcAft>
              <a:buNone/>
            </a:pPr>
            <a:r>
              <a:rPr lang="en-US" sz="3200" dirty="0">
                <a:solidFill>
                  <a:schemeClr val="accent6"/>
                </a:solidFill>
                <a:effectLst/>
                <a:latin typeface="MV Boli" panose="02000500030200090000" pitchFamily="2" charset="0"/>
                <a:ea typeface="Aptos" panose="020B0004020202020204" pitchFamily="34" charset="0"/>
                <a:cs typeface="MV Boli" panose="02000500030200090000" pitchFamily="2" charset="0"/>
              </a:rPr>
              <a:t>Prepared by: </a:t>
            </a:r>
            <a:r>
              <a:rPr lang="en-US" sz="3200" dirty="0">
                <a:solidFill>
                  <a:schemeClr val="accent6"/>
                </a:solidFill>
                <a:effectLst/>
                <a:latin typeface="MV Boli" panose="02000500030200090000" pitchFamily="2" charset="0"/>
                <a:ea typeface="Arial" panose="020B0604020202020204" pitchFamily="34" charset="0"/>
                <a:cs typeface="MV Boli" panose="02000500030200090000" pitchFamily="2" charset="0"/>
              </a:rPr>
              <a:t>Elite Team</a:t>
            </a:r>
            <a:endParaRPr lang="en-US" sz="2800" dirty="0">
              <a:solidFill>
                <a:schemeClr val="accent6"/>
              </a:solidFill>
              <a:effectLst/>
              <a:latin typeface="MV Boli" panose="02000500030200090000" pitchFamily="2" charset="0"/>
              <a:ea typeface="Arial" panose="020B0604020202020204" pitchFamily="34" charset="0"/>
              <a:cs typeface="MV Boli" panose="02000500030200090000" pitchFamily="2" charset="0"/>
            </a:endParaRPr>
          </a:p>
          <a:p>
            <a:pPr marL="0" marR="0">
              <a:lnSpc>
                <a:spcPct val="115000"/>
              </a:lnSpc>
              <a:buNone/>
            </a:pPr>
            <a:r>
              <a:rPr lang="en-US" sz="3200" dirty="0">
                <a:solidFill>
                  <a:schemeClr val="tx1"/>
                </a:solidFill>
                <a:effectLst/>
                <a:latin typeface="Aptos" panose="020B0004020202020204" pitchFamily="34" charset="0"/>
                <a:ea typeface="Aptos" panose="020B0004020202020204" pitchFamily="34" charset="0"/>
                <a:cs typeface="Aptos" panose="020B0004020202020204" pitchFamily="34" charset="0"/>
              </a:rPr>
              <a:t>1) Ahmed Hussein Ali Mustafa. </a:t>
            </a:r>
            <a:endParaRPr lang="en-US" sz="2800" dirty="0">
              <a:solidFill>
                <a:schemeClr val="tx1"/>
              </a:solidFill>
              <a:effectLst/>
              <a:latin typeface="Arial" panose="020B0604020202020204" pitchFamily="34" charset="0"/>
              <a:ea typeface="Arial" panose="020B0604020202020204" pitchFamily="34" charset="0"/>
            </a:endParaRPr>
          </a:p>
          <a:p>
            <a:pPr>
              <a:lnSpc>
                <a:spcPct val="115000"/>
              </a:lnSpc>
            </a:pPr>
            <a:r>
              <a:rPr lang="en-US" sz="3200" dirty="0">
                <a:solidFill>
                  <a:schemeClr val="tx1"/>
                </a:solidFill>
                <a:effectLst/>
                <a:latin typeface="Aptos" panose="020B0004020202020204" pitchFamily="34" charset="0"/>
                <a:ea typeface="Aptos" panose="020B0004020202020204" pitchFamily="34" charset="0"/>
                <a:cs typeface="Aptos" panose="020B0004020202020204" pitchFamily="34" charset="0"/>
              </a:rPr>
              <a:t>2) Fatma Alzahraa </a:t>
            </a:r>
            <a:r>
              <a:rPr lang="en-US" sz="3200" dirty="0">
                <a:solidFill>
                  <a:schemeClr val="tx1"/>
                </a:solidFill>
                <a:latin typeface="Aptos" panose="020B0004020202020204" pitchFamily="34" charset="0"/>
              </a:rPr>
              <a:t>Galal. Abd-elsalam  Soliman.</a:t>
            </a:r>
          </a:p>
          <a:p>
            <a:pPr marL="0" marR="0">
              <a:lnSpc>
                <a:spcPct val="115000"/>
              </a:lnSpc>
              <a:buNone/>
            </a:pPr>
            <a:r>
              <a:rPr lang="en-US" sz="3200" dirty="0">
                <a:solidFill>
                  <a:schemeClr val="tx1"/>
                </a:solidFill>
                <a:effectLst/>
                <a:latin typeface="Aptos" panose="020B0004020202020204" pitchFamily="34" charset="0"/>
                <a:ea typeface="Aptos" panose="020B0004020202020204" pitchFamily="34" charset="0"/>
                <a:cs typeface="Aptos" panose="020B0004020202020204" pitchFamily="34" charset="0"/>
              </a:rPr>
              <a:t>3) Heba Tallah Talaat Ezzat Ibrahim.</a:t>
            </a:r>
            <a:endParaRPr lang="en-US" sz="2800" dirty="0">
              <a:solidFill>
                <a:schemeClr val="tx1"/>
              </a:solidFill>
              <a:effectLst/>
              <a:latin typeface="Arial" panose="020B0604020202020204" pitchFamily="34" charset="0"/>
              <a:ea typeface="Arial" panose="020B0604020202020204" pitchFamily="34" charset="0"/>
            </a:endParaRPr>
          </a:p>
          <a:p>
            <a:pPr marL="0" marR="0">
              <a:lnSpc>
                <a:spcPct val="115000"/>
              </a:lnSpc>
            </a:pPr>
            <a:r>
              <a:rPr lang="en-US" sz="3200" dirty="0">
                <a:solidFill>
                  <a:schemeClr val="tx1"/>
                </a:solidFill>
                <a:effectLst/>
                <a:latin typeface="Aptos" panose="020B0004020202020204" pitchFamily="34" charset="0"/>
                <a:ea typeface="Aptos" panose="020B0004020202020204" pitchFamily="34" charset="0"/>
                <a:cs typeface="Aptos" panose="020B0004020202020204" pitchFamily="34" charset="0"/>
              </a:rPr>
              <a:t>4) Kareman Mohamed Mahmoud Awad.</a:t>
            </a:r>
            <a:endParaRPr lang="en-US" sz="2400" dirty="0">
              <a:solidFill>
                <a:schemeClr val="tx1"/>
              </a:solidFill>
              <a:effectLst/>
              <a:latin typeface="Arial" panose="020B0604020202020204" pitchFamily="34" charset="0"/>
              <a:ea typeface="Arial" panose="020B0604020202020204" pitchFamily="34" charset="0"/>
            </a:endParaRPr>
          </a:p>
        </p:txBody>
      </p:sp>
      <p:sp>
        <p:nvSpPr>
          <p:cNvPr id="17" name="TextBox 16">
            <a:extLst>
              <a:ext uri="{FF2B5EF4-FFF2-40B4-BE49-F238E27FC236}">
                <a16:creationId xmlns:a16="http://schemas.microsoft.com/office/drawing/2014/main" id="{57BE20D9-8AD5-ECD5-7E39-2337B77FEB19}"/>
              </a:ext>
            </a:extLst>
          </p:cNvPr>
          <p:cNvSpPr txBox="1"/>
          <p:nvPr/>
        </p:nvSpPr>
        <p:spPr>
          <a:xfrm>
            <a:off x="5014912" y="2119633"/>
            <a:ext cx="4600575" cy="1355115"/>
          </a:xfrm>
          <a:prstGeom prst="rect">
            <a:avLst/>
          </a:prstGeom>
          <a:noFill/>
        </p:spPr>
        <p:txBody>
          <a:bodyPr wrap="square">
            <a:spAutoFit/>
          </a:bodyPr>
          <a:lstStyle/>
          <a:p>
            <a:pPr marL="0" marR="0" algn="ctr">
              <a:lnSpc>
                <a:spcPct val="107000"/>
              </a:lnSpc>
              <a:spcAft>
                <a:spcPts val="800"/>
              </a:spcAft>
              <a:buNone/>
            </a:pPr>
            <a:r>
              <a:rPr lang="en-US" sz="3600" dirty="0">
                <a:solidFill>
                  <a:schemeClr val="accent6"/>
                </a:solidFill>
                <a:effectLst/>
                <a:latin typeface="Aptos" panose="020B0004020202020204" pitchFamily="34" charset="0"/>
                <a:ea typeface="Aptos" panose="020B0004020202020204" pitchFamily="34" charset="0"/>
                <a:cs typeface="Aptos" panose="020B0004020202020204" pitchFamily="34" charset="0"/>
              </a:rPr>
              <a:t>Supervised by:</a:t>
            </a:r>
            <a:endParaRPr lang="en-US" sz="3200" dirty="0">
              <a:solidFill>
                <a:schemeClr val="accent6"/>
              </a:solidFill>
              <a:effectLst/>
              <a:latin typeface="Arial" panose="020B0604020202020204" pitchFamily="34" charset="0"/>
              <a:ea typeface="Arial" panose="020B0604020202020204" pitchFamily="34" charset="0"/>
            </a:endParaRPr>
          </a:p>
          <a:p>
            <a:pPr marL="0" marR="0" algn="ctr">
              <a:lnSpc>
                <a:spcPct val="107000"/>
              </a:lnSpc>
              <a:spcAft>
                <a:spcPts val="800"/>
              </a:spcAft>
              <a:buNone/>
            </a:pPr>
            <a:r>
              <a:rPr lang="en-US" sz="3600" dirty="0">
                <a:solidFill>
                  <a:schemeClr val="tx1"/>
                </a:solidFill>
                <a:effectLst/>
                <a:latin typeface="Aptos" panose="020B0004020202020204" pitchFamily="34" charset="0"/>
                <a:ea typeface="Aptos" panose="020B0004020202020204" pitchFamily="34" charset="0"/>
                <a:cs typeface="Aptos" panose="020B0004020202020204" pitchFamily="34" charset="0"/>
              </a:rPr>
              <a:t>Dr. Yasser A. Rahman</a:t>
            </a:r>
            <a:endParaRPr lang="en-US" sz="3200" dirty="0">
              <a:solidFill>
                <a:schemeClr val="tx1"/>
              </a:solidFill>
              <a:effectLst/>
              <a:latin typeface="Arial" panose="020B0604020202020204" pitchFamily="34" charset="0"/>
              <a:ea typeface="Arial" panose="020B0604020202020204" pitchFamily="34" charset="0"/>
            </a:endParaRPr>
          </a:p>
        </p:txBody>
      </p:sp>
      <p:pic>
        <p:nvPicPr>
          <p:cNvPr id="11" name="Picture 10" descr="A logo with graphics and text&#10;&#10;AI-generated content may be incorrect.">
            <a:extLst>
              <a:ext uri="{FF2B5EF4-FFF2-40B4-BE49-F238E27FC236}">
                <a16:creationId xmlns:a16="http://schemas.microsoft.com/office/drawing/2014/main" id="{21EDB5FD-1532-8349-3833-FEC2FA8928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04496" y="653586"/>
            <a:ext cx="2304641" cy="2143605"/>
          </a:xfrm>
          <a:prstGeom prst="rect">
            <a:avLst/>
          </a:prstGeom>
        </p:spPr>
      </p:pic>
      <p:pic>
        <p:nvPicPr>
          <p:cNvPr id="12" name="Picture 11" descr="A logo with a train and mountains&#10;&#10;AI-generated content may be incorrect.">
            <a:extLst>
              <a:ext uri="{FF2B5EF4-FFF2-40B4-BE49-F238E27FC236}">
                <a16:creationId xmlns:a16="http://schemas.microsoft.com/office/drawing/2014/main" id="{477DD789-C97B-CA0E-2E5B-53A4BB3E253F}"/>
              </a:ext>
            </a:extLst>
          </p:cNvPr>
          <p:cNvPicPr>
            <a:picLocks noChangeAspect="1"/>
          </p:cNvPicPr>
          <p:nvPr/>
        </p:nvPicPr>
        <p:blipFill>
          <a:blip r:embed="rId3"/>
          <a:stretch>
            <a:fillRect/>
          </a:stretch>
        </p:blipFill>
        <p:spPr>
          <a:xfrm>
            <a:off x="955130" y="652715"/>
            <a:ext cx="2475897" cy="2144476"/>
          </a:xfrm>
          <a:prstGeom prst="rect">
            <a:avLst/>
          </a:prstGeom>
        </p:spPr>
      </p:pic>
    </p:spTree>
    <p:extLst>
      <p:ext uri="{BB962C8B-B14F-4D97-AF65-F5344CB8AC3E}">
        <p14:creationId xmlns:p14="http://schemas.microsoft.com/office/powerpoint/2010/main" val="1406589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3">
          <a:extLst>
            <a:ext uri="{FF2B5EF4-FFF2-40B4-BE49-F238E27FC236}">
              <a16:creationId xmlns:a16="http://schemas.microsoft.com/office/drawing/2014/main" id="{9C8B26C5-2208-F175-2B4C-F974F3858F20}"/>
            </a:ext>
          </a:extLst>
        </p:cNvPr>
        <p:cNvGrpSpPr/>
        <p:nvPr/>
      </p:nvGrpSpPr>
      <p:grpSpPr>
        <a:xfrm>
          <a:off x="0" y="0"/>
          <a:ext cx="0" cy="0"/>
          <a:chOff x="0" y="0"/>
          <a:chExt cx="0" cy="0"/>
        </a:xfrm>
      </p:grpSpPr>
      <p:pic>
        <p:nvPicPr>
          <p:cNvPr id="44" name="Google Shape;44;p11" descr="preencoded.png">
            <a:extLst>
              <a:ext uri="{FF2B5EF4-FFF2-40B4-BE49-F238E27FC236}">
                <a16:creationId xmlns:a16="http://schemas.microsoft.com/office/drawing/2014/main" id="{45CCEA73-13F5-4785-5D80-142E0EFAA12C}"/>
              </a:ext>
            </a:extLst>
          </p:cNvPr>
          <p:cNvPicPr preferRelativeResize="0"/>
          <p:nvPr/>
        </p:nvPicPr>
        <p:blipFill rotWithShape="1">
          <a:blip r:embed="rId3">
            <a:alphaModFix/>
          </a:blip>
          <a:srcRect/>
          <a:stretch/>
        </p:blipFill>
        <p:spPr>
          <a:xfrm>
            <a:off x="9144000" y="0"/>
            <a:ext cx="5486400" cy="8229600"/>
          </a:xfrm>
          <a:prstGeom prst="rect">
            <a:avLst/>
          </a:prstGeom>
          <a:noFill/>
          <a:ln>
            <a:noFill/>
          </a:ln>
        </p:spPr>
      </p:pic>
      <p:sp>
        <p:nvSpPr>
          <p:cNvPr id="45" name="Google Shape;45;p11">
            <a:extLst>
              <a:ext uri="{FF2B5EF4-FFF2-40B4-BE49-F238E27FC236}">
                <a16:creationId xmlns:a16="http://schemas.microsoft.com/office/drawing/2014/main" id="{4BC1CF1F-517C-442B-80D5-42FC5BF34EAB}"/>
              </a:ext>
            </a:extLst>
          </p:cNvPr>
          <p:cNvSpPr/>
          <p:nvPr/>
        </p:nvSpPr>
        <p:spPr>
          <a:xfrm>
            <a:off x="979321" y="959347"/>
            <a:ext cx="4076882" cy="1145202"/>
          </a:xfrm>
          <a:prstGeom prst="rect">
            <a:avLst/>
          </a:prstGeom>
          <a:noFill/>
          <a:ln>
            <a:noFill/>
          </a:ln>
        </p:spPr>
        <p:txBody>
          <a:bodyPr spcFirstLastPara="1" wrap="square" lIns="0" tIns="0" rIns="0" bIns="0" anchor="t" anchorCtr="0">
            <a:noAutofit/>
          </a:bodyPr>
          <a:lstStyle/>
          <a:p>
            <a:pPr marL="0" marR="0" lvl="0" indent="0" algn="l" rtl="0">
              <a:lnSpc>
                <a:spcPct val="125581"/>
              </a:lnSpc>
              <a:spcBef>
                <a:spcPts val="0"/>
              </a:spcBef>
              <a:spcAft>
                <a:spcPts val="0"/>
              </a:spcAft>
              <a:buClr>
                <a:srgbClr val="F0FCFF"/>
              </a:buClr>
              <a:buSzPts val="4300"/>
              <a:buFont typeface="Spline Sans"/>
              <a:buNone/>
            </a:pPr>
            <a:r>
              <a:rPr lang="en-US" sz="4300" b="1" i="0" u="none" strike="noStrike" cap="none" dirty="0">
                <a:solidFill>
                  <a:srgbClr val="F0FCFF"/>
                </a:solidFill>
                <a:latin typeface="Spline Sans"/>
                <a:ea typeface="Spline Sans"/>
                <a:cs typeface="Spline Sans"/>
                <a:sym typeface="Spline Sans"/>
              </a:rPr>
              <a:t>Introduction</a:t>
            </a:r>
            <a:endParaRPr sz="4300" b="0" i="0" u="none" strike="noStrike" cap="none" dirty="0">
              <a:solidFill>
                <a:schemeClr val="dk1"/>
              </a:solidFill>
              <a:latin typeface="Calibri"/>
              <a:ea typeface="Calibri"/>
              <a:cs typeface="Calibri"/>
              <a:sym typeface="Calibri"/>
            </a:endParaRPr>
          </a:p>
        </p:txBody>
      </p:sp>
      <p:sp>
        <p:nvSpPr>
          <p:cNvPr id="46" name="Google Shape;46;p11">
            <a:extLst>
              <a:ext uri="{FF2B5EF4-FFF2-40B4-BE49-F238E27FC236}">
                <a16:creationId xmlns:a16="http://schemas.microsoft.com/office/drawing/2014/main" id="{D32A6453-CB26-7DB7-7155-3394AD1494C1}"/>
              </a:ext>
            </a:extLst>
          </p:cNvPr>
          <p:cNvSpPr/>
          <p:nvPr/>
        </p:nvSpPr>
        <p:spPr>
          <a:xfrm>
            <a:off x="469192" y="2266950"/>
            <a:ext cx="8210731" cy="5200650"/>
          </a:xfrm>
          <a:prstGeom prst="rect">
            <a:avLst/>
          </a:prstGeom>
          <a:noFill/>
          <a:ln>
            <a:noFill/>
          </a:ln>
        </p:spPr>
        <p:txBody>
          <a:bodyPr spcFirstLastPara="1" wrap="square" lIns="0" tIns="0" rIns="0" bIns="0" anchor="t" anchorCtr="0">
            <a:noAutofit/>
          </a:bodyPr>
          <a:lstStyle/>
          <a:p>
            <a:pPr marL="0" marR="0" lvl="0" indent="0" rtl="0">
              <a:spcBef>
                <a:spcPts val="0"/>
              </a:spcBef>
              <a:spcAft>
                <a:spcPts val="0"/>
              </a:spcAft>
              <a:buClr>
                <a:srgbClr val="E0E4E6"/>
              </a:buClr>
              <a:buSzPts val="1900"/>
              <a:buFont typeface="Barlow"/>
              <a:buNone/>
            </a:pPr>
            <a:r>
              <a:rPr lang="en-US" sz="3600" b="0" i="0" u="none" strike="noStrike" cap="none" dirty="0">
                <a:solidFill>
                  <a:srgbClr val="E0E4E6"/>
                </a:solidFill>
                <a:latin typeface="Barlow"/>
                <a:ea typeface="Barlow"/>
                <a:cs typeface="Barlow"/>
                <a:sym typeface="Barlow"/>
              </a:rPr>
              <a:t>The UK railway network is vital for transportation. Our analysis of train ticket data from January to April 2024 focuses on operational efficiency, financial performance, customer behavior, and route analysis. The goal is to uncover insights that can optimize pricing, enhance customer experience, and improve operations.</a:t>
            </a:r>
            <a:endParaRPr sz="3600" b="0" i="0" u="none" strike="noStrike" cap="none" dirty="0">
              <a:solidFill>
                <a:schemeClr val="dk1"/>
              </a:solidFill>
              <a:latin typeface="Calibri"/>
              <a:ea typeface="Calibri"/>
              <a:cs typeface="Calibri"/>
              <a:sym typeface="Calibri"/>
            </a:endParaRPr>
          </a:p>
        </p:txBody>
      </p:sp>
      <p:sp>
        <p:nvSpPr>
          <p:cNvPr id="47" name="Google Shape;47;p11">
            <a:extLst>
              <a:ext uri="{FF2B5EF4-FFF2-40B4-BE49-F238E27FC236}">
                <a16:creationId xmlns:a16="http://schemas.microsoft.com/office/drawing/2014/main" id="{7EBC68EB-AC0C-ADB6-D37C-F70B30B9B2AF}"/>
              </a:ext>
            </a:extLst>
          </p:cNvPr>
          <p:cNvSpPr/>
          <p:nvPr/>
        </p:nvSpPr>
        <p:spPr>
          <a:xfrm>
            <a:off x="979321" y="6112192"/>
            <a:ext cx="2369225" cy="431959"/>
          </a:xfrm>
          <a:prstGeom prst="rect">
            <a:avLst/>
          </a:prstGeom>
          <a:noFill/>
          <a:ln>
            <a:noFill/>
          </a:ln>
        </p:spPr>
        <p:txBody>
          <a:bodyPr spcFirstLastPara="1" wrap="square" lIns="0" tIns="0" rIns="0" bIns="0" anchor="t" anchorCtr="0">
            <a:noAutofit/>
          </a:bodyPr>
          <a:lstStyle/>
          <a:p>
            <a:pPr marL="0" marR="0" lvl="0" indent="0" algn="l" rtl="0">
              <a:lnSpc>
                <a:spcPct val="141666"/>
              </a:lnSpc>
              <a:spcBef>
                <a:spcPts val="0"/>
              </a:spcBef>
              <a:spcAft>
                <a:spcPts val="0"/>
              </a:spcAft>
              <a:buClr>
                <a:srgbClr val="E0E4E6"/>
              </a:buClr>
              <a:buSzPts val="2400"/>
              <a:buFont typeface="Barlow"/>
              <a:buNone/>
            </a:pPr>
            <a:endParaRPr sz="2400" b="0" i="0" u="none" strike="noStrike" cap="none" dirty="0">
              <a:solidFill>
                <a:schemeClr val="dk1"/>
              </a:solidFill>
              <a:latin typeface="Arial"/>
              <a:ea typeface="Arial"/>
              <a:cs typeface="Arial"/>
              <a:sym typeface="Arial"/>
            </a:endParaRPr>
          </a:p>
        </p:txBody>
      </p:sp>
      <p:pic>
        <p:nvPicPr>
          <p:cNvPr id="48" name="Google Shape;48;p11" descr="A logo of a train&#10;&#10;AI-generated content may be incorrect.">
            <a:extLst>
              <a:ext uri="{FF2B5EF4-FFF2-40B4-BE49-F238E27FC236}">
                <a16:creationId xmlns:a16="http://schemas.microsoft.com/office/drawing/2014/main" id="{66217EC2-E5E3-91AA-F512-E631B142EF05}"/>
              </a:ext>
            </a:extLst>
          </p:cNvPr>
          <p:cNvPicPr preferRelativeResize="0"/>
          <p:nvPr/>
        </p:nvPicPr>
        <p:blipFill rotWithShape="1">
          <a:blip r:embed="rId4">
            <a:alphaModFix/>
          </a:blip>
          <a:srcRect/>
          <a:stretch/>
        </p:blipFill>
        <p:spPr>
          <a:xfrm>
            <a:off x="5056203" y="762000"/>
            <a:ext cx="1426922" cy="1290167"/>
          </a:xfrm>
          <a:prstGeom prst="ellipse">
            <a:avLst/>
          </a:prstGeom>
          <a:noFill/>
          <a:ln>
            <a:noFill/>
          </a:ln>
        </p:spPr>
      </p:pic>
    </p:spTree>
    <p:extLst>
      <p:ext uri="{BB962C8B-B14F-4D97-AF65-F5344CB8AC3E}">
        <p14:creationId xmlns:p14="http://schemas.microsoft.com/office/powerpoint/2010/main" val="39493931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9AF07-0D73-06F0-7F5B-B26E508ECAB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5B898A2-5A96-60F3-4366-8039B7CAF8CC}"/>
              </a:ext>
            </a:extLst>
          </p:cNvPr>
          <p:cNvSpPr txBox="1"/>
          <p:nvPr/>
        </p:nvSpPr>
        <p:spPr>
          <a:xfrm>
            <a:off x="6003376" y="5681982"/>
            <a:ext cx="7315200" cy="1200329"/>
          </a:xfrm>
          <a:prstGeom prst="rect">
            <a:avLst/>
          </a:prstGeom>
          <a:noFill/>
        </p:spPr>
        <p:txBody>
          <a:bodyPr wrap="square">
            <a:spAutoFit/>
          </a:bodyPr>
          <a:lstStyle>
            <a:defPPr marR="0" lvl="0" algn="l" rtl="0">
              <a:lnSpc>
                <a:spcPct val="100000"/>
              </a:lnSpc>
              <a:spcBef>
                <a:spcPts val="0"/>
              </a:spcBef>
              <a:spcAft>
                <a:spcPts val="0"/>
              </a:spcAft>
            </a:defPPr>
            <a:lvl1pPr>
              <a:defRPr sz="3600"/>
            </a:lvl1pPr>
          </a:lstStyle>
          <a:p>
            <a:r>
              <a:rPr lang="en-US" dirty="0">
                <a:solidFill>
                  <a:schemeClr val="tx1"/>
                </a:solidFill>
              </a:rPr>
              <a:t>Excel, Power Bi, Tableau, python and SQL.</a:t>
            </a:r>
          </a:p>
        </p:txBody>
      </p:sp>
      <p:sp>
        <p:nvSpPr>
          <p:cNvPr id="4" name="TextBox 3">
            <a:extLst>
              <a:ext uri="{FF2B5EF4-FFF2-40B4-BE49-F238E27FC236}">
                <a16:creationId xmlns:a16="http://schemas.microsoft.com/office/drawing/2014/main" id="{2A990EA8-A1AD-3B56-9ADB-7FCE3418E4CA}"/>
              </a:ext>
            </a:extLst>
          </p:cNvPr>
          <p:cNvSpPr txBox="1"/>
          <p:nvPr/>
        </p:nvSpPr>
        <p:spPr>
          <a:xfrm>
            <a:off x="5629272" y="848663"/>
            <a:ext cx="4600575" cy="659732"/>
          </a:xfrm>
          <a:prstGeom prst="rect">
            <a:avLst/>
          </a:prstGeom>
          <a:noFill/>
        </p:spPr>
        <p:txBody>
          <a:bodyPr wrap="square">
            <a:spAutoFit/>
          </a:bodyPr>
          <a:lstStyle/>
          <a:p>
            <a:r>
              <a:rPr lang="en-US" sz="3600" dirty="0">
                <a:solidFill>
                  <a:schemeClr val="accent6"/>
                </a:solidFill>
              </a:rPr>
              <a:t>Results &amp; Insights</a:t>
            </a:r>
            <a:r>
              <a:rPr lang="ar-EG" sz="3600" dirty="0">
                <a:solidFill>
                  <a:schemeClr val="accent6"/>
                </a:solidFill>
              </a:rPr>
              <a:t>:</a:t>
            </a:r>
            <a:endParaRPr lang="en-US" sz="3600" dirty="0">
              <a:solidFill>
                <a:schemeClr val="accent6"/>
              </a:solidFill>
            </a:endParaRPr>
          </a:p>
        </p:txBody>
      </p:sp>
      <p:sp>
        <p:nvSpPr>
          <p:cNvPr id="6" name="TextBox 5">
            <a:extLst>
              <a:ext uri="{FF2B5EF4-FFF2-40B4-BE49-F238E27FC236}">
                <a16:creationId xmlns:a16="http://schemas.microsoft.com/office/drawing/2014/main" id="{6E6FC5A9-2C1B-E1B3-8CE6-DC6B508AC5E1}"/>
              </a:ext>
            </a:extLst>
          </p:cNvPr>
          <p:cNvSpPr txBox="1"/>
          <p:nvPr/>
        </p:nvSpPr>
        <p:spPr>
          <a:xfrm>
            <a:off x="6003376" y="1730039"/>
            <a:ext cx="6017174" cy="2862322"/>
          </a:xfrm>
          <a:prstGeom prst="rect">
            <a:avLst/>
          </a:prstGeom>
          <a:noFill/>
        </p:spPr>
        <p:txBody>
          <a:bodyPr wrap="square">
            <a:spAutoFit/>
          </a:bodyPr>
          <a:lstStyle/>
          <a:p>
            <a:r>
              <a:rPr lang="en-US" sz="3600" dirty="0">
                <a:solidFill>
                  <a:schemeClr val="tx1"/>
                </a:solidFill>
              </a:rPr>
              <a:t>●	Operational Efficiency</a:t>
            </a:r>
          </a:p>
          <a:p>
            <a:r>
              <a:rPr lang="en-US" sz="3600" dirty="0">
                <a:solidFill>
                  <a:schemeClr val="tx1"/>
                </a:solidFill>
              </a:rPr>
              <a:t>●	Financial Analysis</a:t>
            </a:r>
          </a:p>
          <a:p>
            <a:r>
              <a:rPr lang="en-US" sz="3600" dirty="0">
                <a:solidFill>
                  <a:schemeClr val="tx1"/>
                </a:solidFill>
              </a:rPr>
              <a:t>●	Customer Behavior</a:t>
            </a:r>
          </a:p>
          <a:p>
            <a:r>
              <a:rPr lang="en-US" sz="3600" dirty="0">
                <a:solidFill>
                  <a:schemeClr val="tx1"/>
                </a:solidFill>
              </a:rPr>
              <a:t>●	Route Analysis</a:t>
            </a:r>
          </a:p>
          <a:p>
            <a:r>
              <a:rPr lang="en-US" sz="3600" dirty="0">
                <a:solidFill>
                  <a:schemeClr val="tx1"/>
                </a:solidFill>
              </a:rPr>
              <a:t>●	Demographic Insights</a:t>
            </a:r>
          </a:p>
        </p:txBody>
      </p:sp>
      <p:sp>
        <p:nvSpPr>
          <p:cNvPr id="8" name="TextBox 7">
            <a:extLst>
              <a:ext uri="{FF2B5EF4-FFF2-40B4-BE49-F238E27FC236}">
                <a16:creationId xmlns:a16="http://schemas.microsoft.com/office/drawing/2014/main" id="{A8EA3367-1A47-F71A-2329-A3E6D2748642}"/>
              </a:ext>
            </a:extLst>
          </p:cNvPr>
          <p:cNvSpPr txBox="1"/>
          <p:nvPr/>
        </p:nvSpPr>
        <p:spPr>
          <a:xfrm>
            <a:off x="5629272" y="4814005"/>
            <a:ext cx="3752850" cy="646331"/>
          </a:xfrm>
          <a:prstGeom prst="rect">
            <a:avLst/>
          </a:prstGeom>
          <a:noFill/>
        </p:spPr>
        <p:txBody>
          <a:bodyPr wrap="square">
            <a:spAutoFit/>
          </a:bodyPr>
          <a:lstStyle/>
          <a:p>
            <a:r>
              <a:rPr lang="en-US" sz="3600" dirty="0">
                <a:solidFill>
                  <a:schemeClr val="accent6"/>
                </a:solidFill>
              </a:rPr>
              <a:t>Selected Tools: </a:t>
            </a:r>
          </a:p>
        </p:txBody>
      </p:sp>
      <p:pic>
        <p:nvPicPr>
          <p:cNvPr id="9" name="image36.jpg">
            <a:extLst>
              <a:ext uri="{FF2B5EF4-FFF2-40B4-BE49-F238E27FC236}">
                <a16:creationId xmlns:a16="http://schemas.microsoft.com/office/drawing/2014/main" id="{2967A86D-5B35-B896-7BB4-6FED69D0BE93}"/>
              </a:ext>
            </a:extLst>
          </p:cNvPr>
          <p:cNvPicPr/>
          <p:nvPr/>
        </p:nvPicPr>
        <p:blipFill>
          <a:blip r:embed="rId2"/>
          <a:srcRect l="38738"/>
          <a:stretch/>
        </p:blipFill>
        <p:spPr>
          <a:xfrm>
            <a:off x="-1" y="0"/>
            <a:ext cx="4638677" cy="8229600"/>
          </a:xfrm>
          <a:prstGeom prst="rect">
            <a:avLst/>
          </a:prstGeom>
          <a:ln/>
        </p:spPr>
      </p:pic>
    </p:spTree>
    <p:extLst>
      <p:ext uri="{BB962C8B-B14F-4D97-AF65-F5344CB8AC3E}">
        <p14:creationId xmlns:p14="http://schemas.microsoft.com/office/powerpoint/2010/main" val="846310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A20746D-FE59-2DD2-3514-28E37AED08EC}"/>
              </a:ext>
            </a:extLst>
          </p:cNvPr>
          <p:cNvPicPr>
            <a:picLocks noChangeAspect="1"/>
          </p:cNvPicPr>
          <p:nvPr/>
        </p:nvPicPr>
        <p:blipFill>
          <a:blip r:embed="rId2"/>
          <a:stretch>
            <a:fillRect/>
          </a:stretch>
        </p:blipFill>
        <p:spPr>
          <a:xfrm>
            <a:off x="0" y="0"/>
            <a:ext cx="14630400" cy="8229600"/>
          </a:xfrm>
          <a:prstGeom prst="rect">
            <a:avLst/>
          </a:prstGeom>
        </p:spPr>
      </p:pic>
    </p:spTree>
    <p:extLst>
      <p:ext uri="{BB962C8B-B14F-4D97-AF65-F5344CB8AC3E}">
        <p14:creationId xmlns:p14="http://schemas.microsoft.com/office/powerpoint/2010/main" val="1483032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2"/>
          <p:cNvSpPr/>
          <p:nvPr/>
        </p:nvSpPr>
        <p:spPr>
          <a:xfrm>
            <a:off x="864036" y="1233607"/>
            <a:ext cx="6451163" cy="685800"/>
          </a:xfrm>
          <a:prstGeom prst="rect">
            <a:avLst/>
          </a:prstGeom>
          <a:noFill/>
          <a:ln>
            <a:noFill/>
          </a:ln>
        </p:spPr>
        <p:txBody>
          <a:bodyPr spcFirstLastPara="1" wrap="square" lIns="0" tIns="0" rIns="0" bIns="0" anchor="t" anchorCtr="0">
            <a:noAutofit/>
          </a:bodyPr>
          <a:lstStyle/>
          <a:p>
            <a:pPr marL="0" marR="0" lvl="0" indent="0" algn="l" rtl="0">
              <a:lnSpc>
                <a:spcPct val="125581"/>
              </a:lnSpc>
              <a:spcBef>
                <a:spcPts val="0"/>
              </a:spcBef>
              <a:spcAft>
                <a:spcPts val="0"/>
              </a:spcAft>
              <a:buClr>
                <a:srgbClr val="F0FCFF"/>
              </a:buClr>
              <a:buSzPts val="4300"/>
              <a:buFont typeface="Spline Sans"/>
              <a:buNone/>
            </a:pPr>
            <a:r>
              <a:rPr lang="en-US" sz="4400" b="1" dirty="0">
                <a:solidFill>
                  <a:srgbClr val="F0FCFF"/>
                </a:solidFill>
                <a:latin typeface="Spline Sans"/>
                <a:ea typeface="Spline Sans"/>
                <a:cs typeface="Spline Sans"/>
                <a:sym typeface="Spline Sans"/>
              </a:rPr>
              <a:t>Operational Efficiency</a:t>
            </a:r>
            <a:endParaRPr sz="4400" dirty="0">
              <a:solidFill>
                <a:schemeClr val="dk1"/>
              </a:solidFill>
              <a:latin typeface="Calibri"/>
              <a:ea typeface="Calibri"/>
              <a:cs typeface="Calibri"/>
              <a:sym typeface="Calibri"/>
            </a:endParaRPr>
          </a:p>
        </p:txBody>
      </p:sp>
      <p:sp>
        <p:nvSpPr>
          <p:cNvPr id="56" name="Google Shape;56;p12"/>
          <p:cNvSpPr/>
          <p:nvPr/>
        </p:nvSpPr>
        <p:spPr>
          <a:xfrm>
            <a:off x="864037" y="2536508"/>
            <a:ext cx="2743200" cy="342900"/>
          </a:xfrm>
          <a:prstGeom prst="rect">
            <a:avLst/>
          </a:prstGeom>
          <a:noFill/>
          <a:ln>
            <a:noFill/>
          </a:ln>
        </p:spPr>
        <p:txBody>
          <a:bodyPr spcFirstLastPara="1" wrap="square" lIns="0" tIns="0" rIns="0" bIns="0" anchor="t" anchorCtr="0">
            <a:noAutofit/>
          </a:bodyPr>
          <a:lstStyle/>
          <a:p>
            <a:pPr marL="0" marR="0" lvl="0" indent="0" algn="l" rtl="0">
              <a:lnSpc>
                <a:spcPct val="125581"/>
              </a:lnSpc>
              <a:spcBef>
                <a:spcPts val="0"/>
              </a:spcBef>
              <a:spcAft>
                <a:spcPts val="0"/>
              </a:spcAft>
              <a:buClr>
                <a:srgbClr val="F0FCFF"/>
              </a:buClr>
              <a:buSzPts val="2150"/>
              <a:buFont typeface="Spline Sans"/>
              <a:buNone/>
            </a:pPr>
            <a:r>
              <a:rPr lang="en-US" sz="3200" b="1" dirty="0">
                <a:solidFill>
                  <a:schemeClr val="accent6"/>
                </a:solidFill>
                <a:latin typeface="Spline Sans"/>
                <a:ea typeface="Spline Sans"/>
                <a:cs typeface="Spline Sans"/>
                <a:sym typeface="Spline Sans"/>
              </a:rPr>
              <a:t>Key Findings</a:t>
            </a:r>
            <a:endParaRPr sz="3200" dirty="0">
              <a:solidFill>
                <a:schemeClr val="accent6"/>
              </a:solidFill>
              <a:latin typeface="Calibri"/>
              <a:ea typeface="Calibri"/>
              <a:cs typeface="Calibri"/>
              <a:sym typeface="Calibri"/>
            </a:endParaRPr>
          </a:p>
        </p:txBody>
      </p:sp>
      <p:sp>
        <p:nvSpPr>
          <p:cNvPr id="57" name="Google Shape;57;p12"/>
          <p:cNvSpPr/>
          <p:nvPr/>
        </p:nvSpPr>
        <p:spPr>
          <a:xfrm>
            <a:off x="864037" y="3126224"/>
            <a:ext cx="6150054" cy="395049"/>
          </a:xfrm>
          <a:prstGeom prst="rect">
            <a:avLst/>
          </a:prstGeom>
          <a:noFill/>
          <a:ln>
            <a:noFill/>
          </a:ln>
        </p:spPr>
        <p:txBody>
          <a:bodyPr spcFirstLastPara="1" wrap="square" lIns="0" tIns="0" rIns="0" bIns="0" anchor="t" anchorCtr="0">
            <a:noAutofit/>
          </a:bodyPr>
          <a:lstStyle/>
          <a:p>
            <a:pPr marL="342900" marR="0" lvl="0" indent="-342900" algn="l" rtl="0">
              <a:lnSpc>
                <a:spcPct val="163157"/>
              </a:lnSpc>
              <a:spcBef>
                <a:spcPts val="0"/>
              </a:spcBef>
              <a:spcAft>
                <a:spcPts val="0"/>
              </a:spcAft>
              <a:buClr>
                <a:srgbClr val="E0E4E6"/>
              </a:buClr>
              <a:buSzPts val="1900"/>
              <a:buFont typeface="Barlow"/>
              <a:buChar char="•"/>
            </a:pPr>
            <a:r>
              <a:rPr lang="en-US" sz="2800" dirty="0">
                <a:solidFill>
                  <a:srgbClr val="E0E4E6"/>
                </a:solidFill>
                <a:latin typeface="Barlow"/>
                <a:ea typeface="Barlow"/>
                <a:cs typeface="Barlow"/>
                <a:sym typeface="Barlow"/>
              </a:rPr>
              <a:t>Total Journeys: 31,653</a:t>
            </a:r>
            <a:endParaRPr sz="2800" dirty="0">
              <a:solidFill>
                <a:schemeClr val="dk1"/>
              </a:solidFill>
              <a:latin typeface="Calibri"/>
              <a:ea typeface="Calibri"/>
              <a:cs typeface="Calibri"/>
              <a:sym typeface="Calibri"/>
            </a:endParaRPr>
          </a:p>
        </p:txBody>
      </p:sp>
      <p:sp>
        <p:nvSpPr>
          <p:cNvPr id="58" name="Google Shape;58;p12"/>
          <p:cNvSpPr/>
          <p:nvPr/>
        </p:nvSpPr>
        <p:spPr>
          <a:xfrm>
            <a:off x="864037" y="3607594"/>
            <a:ext cx="6150054" cy="395049"/>
          </a:xfrm>
          <a:prstGeom prst="rect">
            <a:avLst/>
          </a:prstGeom>
          <a:noFill/>
          <a:ln>
            <a:noFill/>
          </a:ln>
        </p:spPr>
        <p:txBody>
          <a:bodyPr spcFirstLastPara="1" wrap="square" lIns="0" tIns="0" rIns="0" bIns="0" anchor="t" anchorCtr="0">
            <a:noAutofit/>
          </a:bodyPr>
          <a:lstStyle/>
          <a:p>
            <a:pPr marL="342900" marR="0" lvl="0" indent="-342900" algn="l" rtl="0">
              <a:lnSpc>
                <a:spcPct val="163157"/>
              </a:lnSpc>
              <a:spcBef>
                <a:spcPts val="0"/>
              </a:spcBef>
              <a:spcAft>
                <a:spcPts val="0"/>
              </a:spcAft>
              <a:buClr>
                <a:srgbClr val="E0E4E6"/>
              </a:buClr>
              <a:buSzPts val="1900"/>
              <a:buFont typeface="Barlow"/>
              <a:buChar char="•"/>
            </a:pPr>
            <a:r>
              <a:rPr lang="en-US" sz="2800" dirty="0">
                <a:solidFill>
                  <a:srgbClr val="E0E4E6"/>
                </a:solidFill>
                <a:latin typeface="Barlow"/>
                <a:ea typeface="Barlow"/>
                <a:cs typeface="Barlow"/>
                <a:sym typeface="Barlow"/>
              </a:rPr>
              <a:t>On-Time Journeys: 27,481 (86.82%)</a:t>
            </a:r>
            <a:endParaRPr sz="2800" dirty="0">
              <a:solidFill>
                <a:schemeClr val="dk1"/>
              </a:solidFill>
              <a:latin typeface="Calibri"/>
              <a:ea typeface="Calibri"/>
              <a:cs typeface="Calibri"/>
              <a:sym typeface="Calibri"/>
            </a:endParaRPr>
          </a:p>
        </p:txBody>
      </p:sp>
      <p:sp>
        <p:nvSpPr>
          <p:cNvPr id="59" name="Google Shape;59;p12"/>
          <p:cNvSpPr/>
          <p:nvPr/>
        </p:nvSpPr>
        <p:spPr>
          <a:xfrm>
            <a:off x="864037" y="4088963"/>
            <a:ext cx="6150054" cy="395049"/>
          </a:xfrm>
          <a:prstGeom prst="rect">
            <a:avLst/>
          </a:prstGeom>
          <a:noFill/>
          <a:ln>
            <a:noFill/>
          </a:ln>
        </p:spPr>
        <p:txBody>
          <a:bodyPr spcFirstLastPara="1" wrap="square" lIns="0" tIns="0" rIns="0" bIns="0" anchor="t" anchorCtr="0">
            <a:noAutofit/>
          </a:bodyPr>
          <a:lstStyle/>
          <a:p>
            <a:pPr marL="342900" marR="0" lvl="0" indent="-342900" algn="l" rtl="0">
              <a:lnSpc>
                <a:spcPct val="163157"/>
              </a:lnSpc>
              <a:spcBef>
                <a:spcPts val="0"/>
              </a:spcBef>
              <a:spcAft>
                <a:spcPts val="0"/>
              </a:spcAft>
              <a:buClr>
                <a:srgbClr val="E0E4E6"/>
              </a:buClr>
              <a:buSzPts val="1900"/>
              <a:buFont typeface="Barlow"/>
              <a:buChar char="•"/>
            </a:pPr>
            <a:r>
              <a:rPr lang="en-US" sz="2800">
                <a:solidFill>
                  <a:srgbClr val="E0E4E6"/>
                </a:solidFill>
                <a:latin typeface="Barlow"/>
                <a:ea typeface="Barlow"/>
                <a:cs typeface="Barlow"/>
                <a:sym typeface="Barlow"/>
              </a:rPr>
              <a:t>Delayed Journeys: 2,292 (7.24%)</a:t>
            </a:r>
            <a:endParaRPr sz="2800">
              <a:solidFill>
                <a:schemeClr val="dk1"/>
              </a:solidFill>
              <a:latin typeface="Calibri"/>
              <a:ea typeface="Calibri"/>
              <a:cs typeface="Calibri"/>
              <a:sym typeface="Calibri"/>
            </a:endParaRPr>
          </a:p>
        </p:txBody>
      </p:sp>
      <p:sp>
        <p:nvSpPr>
          <p:cNvPr id="60" name="Google Shape;60;p12"/>
          <p:cNvSpPr/>
          <p:nvPr/>
        </p:nvSpPr>
        <p:spPr>
          <a:xfrm>
            <a:off x="864037" y="4570333"/>
            <a:ext cx="6150054" cy="395049"/>
          </a:xfrm>
          <a:prstGeom prst="rect">
            <a:avLst/>
          </a:prstGeom>
          <a:noFill/>
          <a:ln>
            <a:noFill/>
          </a:ln>
        </p:spPr>
        <p:txBody>
          <a:bodyPr spcFirstLastPara="1" wrap="square" lIns="0" tIns="0" rIns="0" bIns="0" anchor="t" anchorCtr="0">
            <a:noAutofit/>
          </a:bodyPr>
          <a:lstStyle/>
          <a:p>
            <a:pPr marL="342900" marR="0" lvl="0" indent="-342900" algn="l" rtl="0">
              <a:lnSpc>
                <a:spcPct val="163157"/>
              </a:lnSpc>
              <a:spcBef>
                <a:spcPts val="0"/>
              </a:spcBef>
              <a:spcAft>
                <a:spcPts val="0"/>
              </a:spcAft>
              <a:buClr>
                <a:srgbClr val="E0E4E6"/>
              </a:buClr>
              <a:buSzPts val="1900"/>
              <a:buFont typeface="Barlow"/>
              <a:buChar char="•"/>
            </a:pPr>
            <a:r>
              <a:rPr lang="en-US" sz="2800" dirty="0">
                <a:solidFill>
                  <a:srgbClr val="E0E4E6"/>
                </a:solidFill>
                <a:latin typeface="Barlow"/>
                <a:ea typeface="Barlow"/>
                <a:cs typeface="Barlow"/>
                <a:sym typeface="Barlow"/>
              </a:rPr>
              <a:t>Cancelled Journeys: 1,880 (5.94%)</a:t>
            </a:r>
            <a:endParaRPr sz="2800" dirty="0">
              <a:solidFill>
                <a:schemeClr val="dk1"/>
              </a:solidFill>
              <a:latin typeface="Calibri"/>
              <a:ea typeface="Calibri"/>
              <a:cs typeface="Calibri"/>
              <a:sym typeface="Calibri"/>
            </a:endParaRPr>
          </a:p>
        </p:txBody>
      </p:sp>
      <p:sp>
        <p:nvSpPr>
          <p:cNvPr id="61" name="Google Shape;61;p12"/>
          <p:cNvSpPr/>
          <p:nvPr/>
        </p:nvSpPr>
        <p:spPr>
          <a:xfrm>
            <a:off x="7623929" y="2536508"/>
            <a:ext cx="2743200" cy="342900"/>
          </a:xfrm>
          <a:prstGeom prst="rect">
            <a:avLst/>
          </a:prstGeom>
          <a:noFill/>
          <a:ln>
            <a:noFill/>
          </a:ln>
        </p:spPr>
        <p:txBody>
          <a:bodyPr spcFirstLastPara="1" wrap="square" lIns="0" tIns="0" rIns="0" bIns="0" anchor="t" anchorCtr="0">
            <a:noAutofit/>
          </a:bodyPr>
          <a:lstStyle/>
          <a:p>
            <a:pPr marL="0" marR="0" lvl="0" indent="0" algn="l" rtl="0">
              <a:lnSpc>
                <a:spcPct val="125581"/>
              </a:lnSpc>
              <a:spcBef>
                <a:spcPts val="0"/>
              </a:spcBef>
              <a:spcAft>
                <a:spcPts val="0"/>
              </a:spcAft>
              <a:buClr>
                <a:srgbClr val="F0FCFF"/>
              </a:buClr>
              <a:buSzPts val="2150"/>
              <a:buFont typeface="Spline Sans"/>
              <a:buNone/>
            </a:pPr>
            <a:r>
              <a:rPr lang="en-US" sz="3200" b="1" dirty="0">
                <a:solidFill>
                  <a:schemeClr val="accent6"/>
                </a:solidFill>
                <a:latin typeface="Spline Sans"/>
                <a:ea typeface="Spline Sans"/>
                <a:cs typeface="Spline Sans"/>
                <a:sym typeface="Spline Sans"/>
              </a:rPr>
              <a:t>Delay Causes</a:t>
            </a:r>
            <a:endParaRPr sz="3200" dirty="0">
              <a:solidFill>
                <a:schemeClr val="accent6"/>
              </a:solidFill>
              <a:latin typeface="Calibri"/>
              <a:ea typeface="Calibri"/>
              <a:cs typeface="Calibri"/>
              <a:sym typeface="Calibri"/>
            </a:endParaRPr>
          </a:p>
        </p:txBody>
      </p:sp>
      <p:sp>
        <p:nvSpPr>
          <p:cNvPr id="62" name="Google Shape;62;p12"/>
          <p:cNvSpPr/>
          <p:nvPr/>
        </p:nvSpPr>
        <p:spPr>
          <a:xfrm>
            <a:off x="7623929" y="3126224"/>
            <a:ext cx="6150054" cy="395049"/>
          </a:xfrm>
          <a:prstGeom prst="rect">
            <a:avLst/>
          </a:prstGeom>
          <a:noFill/>
          <a:ln>
            <a:noFill/>
          </a:ln>
        </p:spPr>
        <p:txBody>
          <a:bodyPr spcFirstLastPara="1" wrap="square" lIns="0" tIns="0" rIns="0" bIns="0" anchor="t" anchorCtr="0">
            <a:noAutofit/>
          </a:bodyPr>
          <a:lstStyle/>
          <a:p>
            <a:pPr marL="342900" marR="0" lvl="0" indent="-342900" algn="l" rtl="0">
              <a:lnSpc>
                <a:spcPct val="163157"/>
              </a:lnSpc>
              <a:spcBef>
                <a:spcPts val="0"/>
              </a:spcBef>
              <a:spcAft>
                <a:spcPts val="0"/>
              </a:spcAft>
              <a:buClr>
                <a:srgbClr val="E0E4E6"/>
              </a:buClr>
              <a:buSzPts val="1900"/>
              <a:buFont typeface="Barlow"/>
              <a:buChar char="•"/>
            </a:pPr>
            <a:r>
              <a:rPr lang="en-US" sz="2800">
                <a:solidFill>
                  <a:srgbClr val="E0E4E6"/>
                </a:solidFill>
                <a:latin typeface="Barlow"/>
                <a:ea typeface="Barlow"/>
                <a:cs typeface="Barlow"/>
                <a:sym typeface="Barlow"/>
              </a:rPr>
              <a:t>Weather Conditions: 927 delayed</a:t>
            </a:r>
            <a:endParaRPr sz="2800">
              <a:solidFill>
                <a:schemeClr val="dk1"/>
              </a:solidFill>
              <a:latin typeface="Calibri"/>
              <a:ea typeface="Calibri"/>
              <a:cs typeface="Calibri"/>
              <a:sym typeface="Calibri"/>
            </a:endParaRPr>
          </a:p>
        </p:txBody>
      </p:sp>
      <p:sp>
        <p:nvSpPr>
          <p:cNvPr id="63" name="Google Shape;63;p12"/>
          <p:cNvSpPr/>
          <p:nvPr/>
        </p:nvSpPr>
        <p:spPr>
          <a:xfrm>
            <a:off x="7623929" y="3607594"/>
            <a:ext cx="6150054" cy="395049"/>
          </a:xfrm>
          <a:prstGeom prst="rect">
            <a:avLst/>
          </a:prstGeom>
          <a:noFill/>
          <a:ln>
            <a:noFill/>
          </a:ln>
        </p:spPr>
        <p:txBody>
          <a:bodyPr spcFirstLastPara="1" wrap="square" lIns="0" tIns="0" rIns="0" bIns="0" anchor="t" anchorCtr="0">
            <a:noAutofit/>
          </a:bodyPr>
          <a:lstStyle/>
          <a:p>
            <a:pPr marL="342900" marR="0" lvl="0" indent="-342900" algn="l" rtl="0">
              <a:lnSpc>
                <a:spcPct val="163157"/>
              </a:lnSpc>
              <a:spcBef>
                <a:spcPts val="0"/>
              </a:spcBef>
              <a:spcAft>
                <a:spcPts val="0"/>
              </a:spcAft>
              <a:buClr>
                <a:srgbClr val="E0E4E6"/>
              </a:buClr>
              <a:buSzPts val="1900"/>
              <a:buFont typeface="Barlow"/>
              <a:buChar char="•"/>
            </a:pPr>
            <a:r>
              <a:rPr lang="en-US" sz="2800" dirty="0">
                <a:solidFill>
                  <a:srgbClr val="E0E4E6"/>
                </a:solidFill>
                <a:latin typeface="Barlow"/>
                <a:ea typeface="Barlow"/>
                <a:cs typeface="Barlow"/>
                <a:sym typeface="Barlow"/>
              </a:rPr>
              <a:t>Technical Issues: 472 delayed</a:t>
            </a:r>
            <a:endParaRPr sz="2800" dirty="0">
              <a:solidFill>
                <a:schemeClr val="dk1"/>
              </a:solidFill>
              <a:latin typeface="Calibri"/>
              <a:ea typeface="Calibri"/>
              <a:cs typeface="Calibri"/>
              <a:sym typeface="Calibri"/>
            </a:endParaRPr>
          </a:p>
        </p:txBody>
      </p:sp>
      <p:sp>
        <p:nvSpPr>
          <p:cNvPr id="64" name="Google Shape;64;p12"/>
          <p:cNvSpPr/>
          <p:nvPr/>
        </p:nvSpPr>
        <p:spPr>
          <a:xfrm>
            <a:off x="7623929" y="4088963"/>
            <a:ext cx="6150054" cy="395049"/>
          </a:xfrm>
          <a:prstGeom prst="rect">
            <a:avLst/>
          </a:prstGeom>
          <a:noFill/>
          <a:ln>
            <a:noFill/>
          </a:ln>
        </p:spPr>
        <p:txBody>
          <a:bodyPr spcFirstLastPara="1" wrap="square" lIns="0" tIns="0" rIns="0" bIns="0" anchor="t" anchorCtr="0">
            <a:noAutofit/>
          </a:bodyPr>
          <a:lstStyle/>
          <a:p>
            <a:pPr marL="342900" marR="0" lvl="0" indent="-342900" algn="l" rtl="0">
              <a:lnSpc>
                <a:spcPct val="163157"/>
              </a:lnSpc>
              <a:spcBef>
                <a:spcPts val="0"/>
              </a:spcBef>
              <a:spcAft>
                <a:spcPts val="0"/>
              </a:spcAft>
              <a:buClr>
                <a:srgbClr val="E0E4E6"/>
              </a:buClr>
              <a:buSzPts val="1900"/>
              <a:buFont typeface="Barlow"/>
              <a:buChar char="•"/>
            </a:pPr>
            <a:r>
              <a:rPr lang="en-US" sz="2800">
                <a:solidFill>
                  <a:srgbClr val="E0E4E6"/>
                </a:solidFill>
                <a:latin typeface="Barlow"/>
                <a:ea typeface="Barlow"/>
                <a:cs typeface="Barlow"/>
                <a:sym typeface="Barlow"/>
              </a:rPr>
              <a:t>Signal Failure: 451 delayed</a:t>
            </a:r>
            <a:endParaRPr sz="2800">
              <a:solidFill>
                <a:schemeClr val="dk1"/>
              </a:solidFill>
              <a:latin typeface="Calibri"/>
              <a:ea typeface="Calibri"/>
              <a:cs typeface="Calibri"/>
              <a:sym typeface="Calibri"/>
            </a:endParaRPr>
          </a:p>
        </p:txBody>
      </p:sp>
      <p:sp>
        <p:nvSpPr>
          <p:cNvPr id="65" name="Google Shape;65;p12"/>
          <p:cNvSpPr/>
          <p:nvPr/>
        </p:nvSpPr>
        <p:spPr>
          <a:xfrm>
            <a:off x="7623929" y="4570333"/>
            <a:ext cx="6150054" cy="395049"/>
          </a:xfrm>
          <a:prstGeom prst="rect">
            <a:avLst/>
          </a:prstGeom>
          <a:noFill/>
          <a:ln>
            <a:noFill/>
          </a:ln>
        </p:spPr>
        <p:txBody>
          <a:bodyPr spcFirstLastPara="1" wrap="square" lIns="0" tIns="0" rIns="0" bIns="0" anchor="t" anchorCtr="0">
            <a:noAutofit/>
          </a:bodyPr>
          <a:lstStyle/>
          <a:p>
            <a:pPr marL="342900" marR="0" lvl="0" indent="-342900" algn="l" rtl="0">
              <a:lnSpc>
                <a:spcPct val="163157"/>
              </a:lnSpc>
              <a:spcBef>
                <a:spcPts val="0"/>
              </a:spcBef>
              <a:spcAft>
                <a:spcPts val="0"/>
              </a:spcAft>
              <a:buClr>
                <a:srgbClr val="E0E4E6"/>
              </a:buClr>
              <a:buSzPts val="1900"/>
              <a:buFont typeface="Barlow"/>
              <a:buChar char="•"/>
            </a:pPr>
            <a:r>
              <a:rPr lang="en-US" sz="2800" dirty="0">
                <a:solidFill>
                  <a:srgbClr val="E0E4E6"/>
                </a:solidFill>
                <a:latin typeface="Barlow"/>
                <a:ea typeface="Barlow"/>
                <a:cs typeface="Barlow"/>
                <a:sym typeface="Barlow"/>
              </a:rPr>
              <a:t>Staffing Issues: 355 delayed</a:t>
            </a:r>
            <a:endParaRPr sz="2800" dirty="0">
              <a:solidFill>
                <a:schemeClr val="dk1"/>
              </a:solidFill>
              <a:latin typeface="Calibri"/>
              <a:ea typeface="Calibri"/>
              <a:cs typeface="Calibri"/>
              <a:sym typeface="Calibri"/>
            </a:endParaRPr>
          </a:p>
        </p:txBody>
      </p:sp>
      <p:sp>
        <p:nvSpPr>
          <p:cNvPr id="66" name="Google Shape;66;p12"/>
          <p:cNvSpPr/>
          <p:nvPr/>
        </p:nvSpPr>
        <p:spPr>
          <a:xfrm>
            <a:off x="7623929" y="5051703"/>
            <a:ext cx="6150054" cy="395049"/>
          </a:xfrm>
          <a:prstGeom prst="rect">
            <a:avLst/>
          </a:prstGeom>
          <a:noFill/>
          <a:ln>
            <a:noFill/>
          </a:ln>
        </p:spPr>
        <p:txBody>
          <a:bodyPr spcFirstLastPara="1" wrap="square" lIns="0" tIns="0" rIns="0" bIns="0" anchor="t" anchorCtr="0">
            <a:noAutofit/>
          </a:bodyPr>
          <a:lstStyle/>
          <a:p>
            <a:pPr marL="342900" marR="0" lvl="0" indent="-342900" algn="l" rtl="0">
              <a:lnSpc>
                <a:spcPct val="163157"/>
              </a:lnSpc>
              <a:spcBef>
                <a:spcPts val="0"/>
              </a:spcBef>
              <a:spcAft>
                <a:spcPts val="0"/>
              </a:spcAft>
              <a:buClr>
                <a:srgbClr val="E0E4E6"/>
              </a:buClr>
              <a:buSzPts val="1900"/>
              <a:buFont typeface="Barlow"/>
              <a:buChar char="•"/>
            </a:pPr>
            <a:r>
              <a:rPr lang="en-US" sz="2800">
                <a:solidFill>
                  <a:srgbClr val="E0E4E6"/>
                </a:solidFill>
                <a:latin typeface="Barlow"/>
                <a:ea typeface="Barlow"/>
                <a:cs typeface="Barlow"/>
                <a:sym typeface="Barlow"/>
              </a:rPr>
              <a:t>Traffic Congestion: 87 delayed</a:t>
            </a:r>
            <a:endParaRPr sz="2800">
              <a:solidFill>
                <a:schemeClr val="dk1"/>
              </a:solidFill>
              <a:latin typeface="Calibri"/>
              <a:ea typeface="Calibri"/>
              <a:cs typeface="Calibri"/>
              <a:sym typeface="Calibri"/>
            </a:endParaRPr>
          </a:p>
        </p:txBody>
      </p:sp>
      <p:pic>
        <p:nvPicPr>
          <p:cNvPr id="2" name="Google Shape;48;p11" descr="A logo of a train&#10;&#10;AI-generated content may be incorrect.">
            <a:extLst>
              <a:ext uri="{FF2B5EF4-FFF2-40B4-BE49-F238E27FC236}">
                <a16:creationId xmlns:a16="http://schemas.microsoft.com/office/drawing/2014/main" id="{9BDCAF78-CFDE-698C-C6D6-F2A101908D55}"/>
              </a:ext>
            </a:extLst>
          </p:cNvPr>
          <p:cNvPicPr preferRelativeResize="0"/>
          <p:nvPr/>
        </p:nvPicPr>
        <p:blipFill rotWithShape="1">
          <a:blip r:embed="rId3">
            <a:alphaModFix/>
          </a:blip>
          <a:srcRect/>
          <a:stretch/>
        </p:blipFill>
        <p:spPr>
          <a:xfrm>
            <a:off x="7315199" y="931423"/>
            <a:ext cx="1426922" cy="1290167"/>
          </a:xfrm>
          <a:prstGeom prst="ellipse">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pic>
        <p:nvPicPr>
          <p:cNvPr id="3" name="Picture 2">
            <a:extLst>
              <a:ext uri="{FF2B5EF4-FFF2-40B4-BE49-F238E27FC236}">
                <a16:creationId xmlns:a16="http://schemas.microsoft.com/office/drawing/2014/main" id="{F509AF7D-E44D-9812-EB2E-B16686CEFE86}"/>
              </a:ext>
            </a:extLst>
          </p:cNvPr>
          <p:cNvPicPr>
            <a:picLocks noChangeAspect="1"/>
          </p:cNvPicPr>
          <p:nvPr/>
        </p:nvPicPr>
        <p:blipFill>
          <a:blip r:embed="rId3"/>
          <a:stretch>
            <a:fillRect/>
          </a:stretch>
        </p:blipFill>
        <p:spPr>
          <a:xfrm>
            <a:off x="0" y="0"/>
            <a:ext cx="14630401" cy="8229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78" name="Google Shape;78;p14" descr="preencoded.png"/>
          <p:cNvPicPr preferRelativeResize="0"/>
          <p:nvPr/>
        </p:nvPicPr>
        <p:blipFill rotWithShape="1">
          <a:blip r:embed="rId3">
            <a:alphaModFix/>
          </a:blip>
          <a:srcRect/>
          <a:stretch/>
        </p:blipFill>
        <p:spPr>
          <a:xfrm>
            <a:off x="0" y="0"/>
            <a:ext cx="5486400" cy="8229600"/>
          </a:xfrm>
          <a:prstGeom prst="rect">
            <a:avLst/>
          </a:prstGeom>
          <a:noFill/>
          <a:ln>
            <a:noFill/>
          </a:ln>
        </p:spPr>
      </p:pic>
      <p:sp>
        <p:nvSpPr>
          <p:cNvPr id="79" name="Google Shape;79;p14"/>
          <p:cNvSpPr/>
          <p:nvPr/>
        </p:nvSpPr>
        <p:spPr>
          <a:xfrm>
            <a:off x="6245304" y="636984"/>
            <a:ext cx="4819055" cy="602456"/>
          </a:xfrm>
          <a:prstGeom prst="rect">
            <a:avLst/>
          </a:prstGeom>
          <a:noFill/>
          <a:ln>
            <a:noFill/>
          </a:ln>
        </p:spPr>
        <p:txBody>
          <a:bodyPr spcFirstLastPara="1" wrap="square" lIns="0" tIns="0" rIns="0" bIns="0" anchor="t" anchorCtr="0">
            <a:noAutofit/>
          </a:bodyPr>
          <a:lstStyle/>
          <a:p>
            <a:pPr marL="0" marR="0" lvl="0" indent="0" algn="l" rtl="0">
              <a:lnSpc>
                <a:spcPct val="125333"/>
              </a:lnSpc>
              <a:spcBef>
                <a:spcPts val="0"/>
              </a:spcBef>
              <a:spcAft>
                <a:spcPts val="0"/>
              </a:spcAft>
              <a:buClr>
                <a:srgbClr val="F0FCFF"/>
              </a:buClr>
              <a:buSzPts val="3750"/>
              <a:buFont typeface="Spline Sans"/>
              <a:buNone/>
            </a:pPr>
            <a:r>
              <a:rPr lang="en-US" sz="3750" b="1">
                <a:solidFill>
                  <a:srgbClr val="F0FCFF"/>
                </a:solidFill>
                <a:latin typeface="Spline Sans"/>
                <a:ea typeface="Spline Sans"/>
                <a:cs typeface="Spline Sans"/>
                <a:sym typeface="Spline Sans"/>
              </a:rPr>
              <a:t>Financial Analysis</a:t>
            </a:r>
            <a:endParaRPr sz="3750">
              <a:solidFill>
                <a:schemeClr val="dk1"/>
              </a:solidFill>
              <a:latin typeface="Calibri"/>
              <a:ea typeface="Calibri"/>
              <a:cs typeface="Calibri"/>
              <a:sym typeface="Calibri"/>
            </a:endParaRPr>
          </a:p>
        </p:txBody>
      </p:sp>
      <p:sp>
        <p:nvSpPr>
          <p:cNvPr id="80" name="Google Shape;80;p14"/>
          <p:cNvSpPr/>
          <p:nvPr/>
        </p:nvSpPr>
        <p:spPr>
          <a:xfrm>
            <a:off x="6245304" y="1673066"/>
            <a:ext cx="3650456" cy="715566"/>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16FFBB"/>
              </a:buClr>
              <a:buSzPts val="5600"/>
              <a:buFont typeface="Spline Sans"/>
              <a:buNone/>
            </a:pPr>
            <a:r>
              <a:rPr lang="en-US" sz="5600" b="1">
                <a:solidFill>
                  <a:srgbClr val="16FFBB"/>
                </a:solidFill>
                <a:latin typeface="Spline Sans"/>
                <a:ea typeface="Spline Sans"/>
                <a:cs typeface="Spline Sans"/>
                <a:sym typeface="Spline Sans"/>
              </a:rPr>
              <a:t>£703K</a:t>
            </a:r>
            <a:endParaRPr sz="5600">
              <a:solidFill>
                <a:schemeClr val="dk1"/>
              </a:solidFill>
              <a:latin typeface="Calibri"/>
              <a:ea typeface="Calibri"/>
              <a:cs typeface="Calibri"/>
              <a:sym typeface="Calibri"/>
            </a:endParaRPr>
          </a:p>
        </p:txBody>
      </p:sp>
      <p:sp>
        <p:nvSpPr>
          <p:cNvPr id="81" name="Google Shape;81;p14"/>
          <p:cNvSpPr/>
          <p:nvPr/>
        </p:nvSpPr>
        <p:spPr>
          <a:xfrm>
            <a:off x="6865739" y="2659618"/>
            <a:ext cx="2409468" cy="301228"/>
          </a:xfrm>
          <a:prstGeom prst="rect">
            <a:avLst/>
          </a:prstGeom>
          <a:noFill/>
          <a:ln>
            <a:noFill/>
          </a:ln>
        </p:spPr>
        <p:txBody>
          <a:bodyPr spcFirstLastPara="1" wrap="square" lIns="0" tIns="0" rIns="0" bIns="0" anchor="t" anchorCtr="0">
            <a:noAutofit/>
          </a:bodyPr>
          <a:lstStyle/>
          <a:p>
            <a:pPr marL="0" marR="0" lvl="0" indent="0" algn="ctr" rtl="0">
              <a:lnSpc>
                <a:spcPct val="127027"/>
              </a:lnSpc>
              <a:spcBef>
                <a:spcPts val="0"/>
              </a:spcBef>
              <a:spcAft>
                <a:spcPts val="0"/>
              </a:spcAft>
              <a:buClr>
                <a:srgbClr val="E0E4E6"/>
              </a:buClr>
              <a:buSzPts val="1850"/>
              <a:buFont typeface="Spline Sans"/>
              <a:buNone/>
            </a:pPr>
            <a:r>
              <a:rPr lang="en-US" sz="1850" b="1">
                <a:solidFill>
                  <a:srgbClr val="E0E4E6"/>
                </a:solidFill>
                <a:latin typeface="Spline Sans"/>
                <a:ea typeface="Spline Sans"/>
                <a:cs typeface="Spline Sans"/>
                <a:sym typeface="Spline Sans"/>
              </a:rPr>
              <a:t>Total Revenue</a:t>
            </a:r>
            <a:endParaRPr sz="1850">
              <a:solidFill>
                <a:schemeClr val="dk1"/>
              </a:solidFill>
              <a:latin typeface="Calibri"/>
              <a:ea typeface="Calibri"/>
              <a:cs typeface="Calibri"/>
              <a:sym typeface="Calibri"/>
            </a:endParaRPr>
          </a:p>
        </p:txBody>
      </p:sp>
      <p:sp>
        <p:nvSpPr>
          <p:cNvPr id="82" name="Google Shape;82;p14"/>
          <p:cNvSpPr/>
          <p:nvPr/>
        </p:nvSpPr>
        <p:spPr>
          <a:xfrm>
            <a:off x="6245304" y="3090863"/>
            <a:ext cx="3650456" cy="346829"/>
          </a:xfrm>
          <a:prstGeom prst="rect">
            <a:avLst/>
          </a:prstGeom>
          <a:noFill/>
          <a:ln>
            <a:noFill/>
          </a:ln>
        </p:spPr>
        <p:txBody>
          <a:bodyPr spcFirstLastPara="1" wrap="square" lIns="0" tIns="0" rIns="0" bIns="0" anchor="t" anchorCtr="0">
            <a:noAutofit/>
          </a:bodyPr>
          <a:lstStyle/>
          <a:p>
            <a:pPr marL="0" marR="0" lvl="0" indent="0" algn="ctr" rtl="0">
              <a:lnSpc>
                <a:spcPct val="158823"/>
              </a:lnSpc>
              <a:spcBef>
                <a:spcPts val="0"/>
              </a:spcBef>
              <a:spcAft>
                <a:spcPts val="0"/>
              </a:spcAft>
              <a:buClr>
                <a:srgbClr val="E0E4E6"/>
              </a:buClr>
              <a:buSzPts val="1700"/>
              <a:buFont typeface="Barlow"/>
              <a:buNone/>
            </a:pPr>
            <a:r>
              <a:rPr lang="en-US" sz="1700">
                <a:solidFill>
                  <a:srgbClr val="E0E4E6"/>
                </a:solidFill>
                <a:latin typeface="Barlow"/>
                <a:ea typeface="Barlow"/>
                <a:cs typeface="Barlow"/>
                <a:sym typeface="Barlow"/>
              </a:rPr>
              <a:t>Generated from ticket sales</a:t>
            </a:r>
            <a:endParaRPr sz="1700">
              <a:solidFill>
                <a:schemeClr val="dk1"/>
              </a:solidFill>
              <a:latin typeface="Calibri"/>
              <a:ea typeface="Calibri"/>
              <a:cs typeface="Calibri"/>
              <a:sym typeface="Calibri"/>
            </a:endParaRPr>
          </a:p>
        </p:txBody>
      </p:sp>
      <p:sp>
        <p:nvSpPr>
          <p:cNvPr id="83" name="Google Shape;83;p14"/>
          <p:cNvSpPr/>
          <p:nvPr/>
        </p:nvSpPr>
        <p:spPr>
          <a:xfrm>
            <a:off x="10221039" y="1673066"/>
            <a:ext cx="3650456" cy="715566"/>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29DDDA"/>
              </a:buClr>
              <a:buSzPts val="5600"/>
              <a:buFont typeface="Spline Sans"/>
              <a:buNone/>
            </a:pPr>
            <a:r>
              <a:rPr lang="en-US" sz="5600" b="1">
                <a:solidFill>
                  <a:srgbClr val="29DDDA"/>
                </a:solidFill>
                <a:latin typeface="Spline Sans"/>
                <a:ea typeface="Spline Sans"/>
                <a:cs typeface="Spline Sans"/>
                <a:sym typeface="Spline Sans"/>
              </a:rPr>
              <a:t>82.5%</a:t>
            </a:r>
            <a:endParaRPr sz="5600">
              <a:solidFill>
                <a:schemeClr val="dk1"/>
              </a:solidFill>
              <a:latin typeface="Calibri"/>
              <a:ea typeface="Calibri"/>
              <a:cs typeface="Calibri"/>
              <a:sym typeface="Calibri"/>
            </a:endParaRPr>
          </a:p>
        </p:txBody>
      </p:sp>
      <p:sp>
        <p:nvSpPr>
          <p:cNvPr id="84" name="Google Shape;84;p14"/>
          <p:cNvSpPr/>
          <p:nvPr/>
        </p:nvSpPr>
        <p:spPr>
          <a:xfrm>
            <a:off x="10841474" y="2659618"/>
            <a:ext cx="2409468" cy="301228"/>
          </a:xfrm>
          <a:prstGeom prst="rect">
            <a:avLst/>
          </a:prstGeom>
          <a:noFill/>
          <a:ln>
            <a:noFill/>
          </a:ln>
        </p:spPr>
        <p:txBody>
          <a:bodyPr spcFirstLastPara="1" wrap="square" lIns="0" tIns="0" rIns="0" bIns="0" anchor="t" anchorCtr="0">
            <a:noAutofit/>
          </a:bodyPr>
          <a:lstStyle/>
          <a:p>
            <a:pPr marL="0" marR="0" lvl="0" indent="0" algn="ctr" rtl="0">
              <a:lnSpc>
                <a:spcPct val="127027"/>
              </a:lnSpc>
              <a:spcBef>
                <a:spcPts val="0"/>
              </a:spcBef>
              <a:spcAft>
                <a:spcPts val="0"/>
              </a:spcAft>
              <a:buClr>
                <a:srgbClr val="E0E4E6"/>
              </a:buClr>
              <a:buSzPts val="1850"/>
              <a:buFont typeface="Spline Sans"/>
              <a:buNone/>
            </a:pPr>
            <a:r>
              <a:rPr lang="en-US" sz="1850" b="1">
                <a:solidFill>
                  <a:srgbClr val="E0E4E6"/>
                </a:solidFill>
                <a:latin typeface="Spline Sans"/>
                <a:ea typeface="Spline Sans"/>
                <a:cs typeface="Spline Sans"/>
                <a:sym typeface="Spline Sans"/>
              </a:rPr>
              <a:t>Standard Class</a:t>
            </a:r>
            <a:endParaRPr sz="1850">
              <a:solidFill>
                <a:schemeClr val="dk1"/>
              </a:solidFill>
              <a:latin typeface="Calibri"/>
              <a:ea typeface="Calibri"/>
              <a:cs typeface="Calibri"/>
              <a:sym typeface="Calibri"/>
            </a:endParaRPr>
          </a:p>
        </p:txBody>
      </p:sp>
      <p:sp>
        <p:nvSpPr>
          <p:cNvPr id="85" name="Google Shape;85;p14"/>
          <p:cNvSpPr/>
          <p:nvPr/>
        </p:nvSpPr>
        <p:spPr>
          <a:xfrm>
            <a:off x="10221039" y="3090863"/>
            <a:ext cx="3650456" cy="346829"/>
          </a:xfrm>
          <a:prstGeom prst="rect">
            <a:avLst/>
          </a:prstGeom>
          <a:noFill/>
          <a:ln>
            <a:noFill/>
          </a:ln>
        </p:spPr>
        <p:txBody>
          <a:bodyPr spcFirstLastPara="1" wrap="square" lIns="0" tIns="0" rIns="0" bIns="0" anchor="t" anchorCtr="0">
            <a:noAutofit/>
          </a:bodyPr>
          <a:lstStyle/>
          <a:p>
            <a:pPr marL="0" marR="0" lvl="0" indent="0" algn="ctr" rtl="0">
              <a:lnSpc>
                <a:spcPct val="158823"/>
              </a:lnSpc>
              <a:spcBef>
                <a:spcPts val="0"/>
              </a:spcBef>
              <a:spcAft>
                <a:spcPts val="0"/>
              </a:spcAft>
              <a:buClr>
                <a:srgbClr val="E0E4E6"/>
              </a:buClr>
              <a:buSzPts val="1700"/>
              <a:buFont typeface="Barlow"/>
              <a:buNone/>
            </a:pPr>
            <a:r>
              <a:rPr lang="en-US" sz="1700">
                <a:solidFill>
                  <a:srgbClr val="E0E4E6"/>
                </a:solidFill>
                <a:latin typeface="Barlow"/>
                <a:ea typeface="Barlow"/>
                <a:cs typeface="Barlow"/>
                <a:sym typeface="Barlow"/>
              </a:rPr>
              <a:t>Percentage of total passenger count</a:t>
            </a:r>
            <a:endParaRPr sz="1700">
              <a:solidFill>
                <a:schemeClr val="dk1"/>
              </a:solidFill>
              <a:latin typeface="Calibri"/>
              <a:ea typeface="Calibri"/>
              <a:cs typeface="Calibri"/>
              <a:sym typeface="Calibri"/>
            </a:endParaRPr>
          </a:p>
        </p:txBody>
      </p:sp>
      <p:sp>
        <p:nvSpPr>
          <p:cNvPr id="86" name="Google Shape;86;p14"/>
          <p:cNvSpPr/>
          <p:nvPr/>
        </p:nvSpPr>
        <p:spPr>
          <a:xfrm>
            <a:off x="6407944" y="4196596"/>
            <a:ext cx="3650456" cy="715566"/>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37A7E7"/>
              </a:buClr>
              <a:buSzPts val="5600"/>
              <a:buFont typeface="Spline Sans"/>
              <a:buNone/>
            </a:pPr>
            <a:r>
              <a:rPr lang="en-US" sz="5600" b="1">
                <a:solidFill>
                  <a:srgbClr val="37A7E7"/>
                </a:solidFill>
                <a:latin typeface="Spline Sans"/>
                <a:ea typeface="Spline Sans"/>
                <a:cs typeface="Spline Sans"/>
                <a:sym typeface="Spline Sans"/>
              </a:rPr>
              <a:t>18.5K</a:t>
            </a:r>
            <a:endParaRPr sz="5600">
              <a:solidFill>
                <a:schemeClr val="dk1"/>
              </a:solidFill>
              <a:latin typeface="Calibri"/>
              <a:ea typeface="Calibri"/>
              <a:cs typeface="Calibri"/>
              <a:sym typeface="Calibri"/>
            </a:endParaRPr>
          </a:p>
        </p:txBody>
      </p:sp>
      <p:sp>
        <p:nvSpPr>
          <p:cNvPr id="87" name="Google Shape;87;p14"/>
          <p:cNvSpPr/>
          <p:nvPr/>
        </p:nvSpPr>
        <p:spPr>
          <a:xfrm>
            <a:off x="11064359" y="5268211"/>
            <a:ext cx="2409468" cy="301228"/>
          </a:xfrm>
          <a:prstGeom prst="rect">
            <a:avLst/>
          </a:prstGeom>
          <a:noFill/>
          <a:ln>
            <a:noFill/>
          </a:ln>
        </p:spPr>
        <p:txBody>
          <a:bodyPr spcFirstLastPara="1" wrap="square" lIns="0" tIns="0" rIns="0" bIns="0" anchor="t" anchorCtr="0">
            <a:noAutofit/>
          </a:bodyPr>
          <a:lstStyle/>
          <a:p>
            <a:pPr marL="0" marR="0" lvl="0" indent="0" algn="ctr" rtl="0">
              <a:lnSpc>
                <a:spcPct val="127027"/>
              </a:lnSpc>
              <a:spcBef>
                <a:spcPts val="0"/>
              </a:spcBef>
              <a:spcAft>
                <a:spcPts val="0"/>
              </a:spcAft>
              <a:buClr>
                <a:srgbClr val="E0E4E6"/>
              </a:buClr>
              <a:buSzPts val="1850"/>
              <a:buFont typeface="Spline Sans"/>
              <a:buNone/>
            </a:pPr>
            <a:r>
              <a:rPr lang="en-US" sz="1850" b="1">
                <a:solidFill>
                  <a:srgbClr val="E0E4E6"/>
                </a:solidFill>
                <a:latin typeface="Spline Sans"/>
                <a:ea typeface="Spline Sans"/>
                <a:cs typeface="Spline Sans"/>
                <a:sym typeface="Spline Sans"/>
              </a:rPr>
              <a:t>Refund Tickets</a:t>
            </a:r>
            <a:endParaRPr sz="1850">
              <a:solidFill>
                <a:schemeClr val="dk1"/>
              </a:solidFill>
              <a:latin typeface="Calibri"/>
              <a:ea typeface="Calibri"/>
              <a:cs typeface="Calibri"/>
              <a:sym typeface="Calibri"/>
            </a:endParaRPr>
          </a:p>
        </p:txBody>
      </p:sp>
      <p:sp>
        <p:nvSpPr>
          <p:cNvPr id="88" name="Google Shape;88;p14"/>
          <p:cNvSpPr/>
          <p:nvPr/>
        </p:nvSpPr>
        <p:spPr>
          <a:xfrm>
            <a:off x="6570583" y="5601061"/>
            <a:ext cx="3650456" cy="346829"/>
          </a:xfrm>
          <a:prstGeom prst="rect">
            <a:avLst/>
          </a:prstGeom>
          <a:noFill/>
          <a:ln>
            <a:noFill/>
          </a:ln>
        </p:spPr>
        <p:txBody>
          <a:bodyPr spcFirstLastPara="1" wrap="square" lIns="0" tIns="0" rIns="0" bIns="0" anchor="t" anchorCtr="0">
            <a:noAutofit/>
          </a:bodyPr>
          <a:lstStyle/>
          <a:p>
            <a:pPr marL="0" marR="0" lvl="0" indent="0" algn="ctr" rtl="0">
              <a:lnSpc>
                <a:spcPct val="158823"/>
              </a:lnSpc>
              <a:spcBef>
                <a:spcPts val="0"/>
              </a:spcBef>
              <a:spcAft>
                <a:spcPts val="0"/>
              </a:spcAft>
              <a:buClr>
                <a:srgbClr val="E0E4E6"/>
              </a:buClr>
              <a:buSzPts val="1700"/>
              <a:buFont typeface="Barlow"/>
              <a:buNone/>
            </a:pPr>
            <a:r>
              <a:rPr lang="en-US" sz="1700">
                <a:solidFill>
                  <a:srgbClr val="E0E4E6"/>
                </a:solidFill>
                <a:latin typeface="Barlow"/>
                <a:ea typeface="Barlow"/>
                <a:cs typeface="Barlow"/>
                <a:sym typeface="Barlow"/>
              </a:rPr>
              <a:t>Tickets purchased online</a:t>
            </a:r>
            <a:endParaRPr sz="1700">
              <a:solidFill>
                <a:schemeClr val="dk1"/>
              </a:solidFill>
              <a:latin typeface="Calibri"/>
              <a:ea typeface="Calibri"/>
              <a:cs typeface="Calibri"/>
              <a:sym typeface="Calibri"/>
            </a:endParaRPr>
          </a:p>
        </p:txBody>
      </p:sp>
      <p:sp>
        <p:nvSpPr>
          <p:cNvPr id="89" name="Google Shape;89;p14"/>
          <p:cNvSpPr/>
          <p:nvPr/>
        </p:nvSpPr>
        <p:spPr>
          <a:xfrm>
            <a:off x="6245304" y="6205180"/>
            <a:ext cx="7626191" cy="1387316"/>
          </a:xfrm>
          <a:prstGeom prst="rect">
            <a:avLst/>
          </a:prstGeom>
          <a:noFill/>
          <a:ln>
            <a:noFill/>
          </a:ln>
        </p:spPr>
        <p:txBody>
          <a:bodyPr spcFirstLastPara="1" wrap="square" lIns="0" tIns="0" rIns="0" bIns="0" anchor="t" anchorCtr="0">
            <a:noAutofit/>
          </a:bodyPr>
          <a:lstStyle/>
          <a:p>
            <a:pPr marL="0" marR="0" lvl="0" indent="0" algn="l" rtl="0">
              <a:lnSpc>
                <a:spcPct val="158823"/>
              </a:lnSpc>
              <a:spcBef>
                <a:spcPts val="0"/>
              </a:spcBef>
              <a:spcAft>
                <a:spcPts val="0"/>
              </a:spcAft>
              <a:buClr>
                <a:srgbClr val="E0E4E6"/>
              </a:buClr>
              <a:buSzPts val="1700"/>
              <a:buFont typeface="Barlow"/>
              <a:buNone/>
            </a:pPr>
            <a:r>
              <a:rPr lang="en-US" sz="1700" dirty="0">
                <a:solidFill>
                  <a:srgbClr val="E0E4E6"/>
                </a:solidFill>
                <a:latin typeface="Barlow"/>
                <a:ea typeface="Barlow"/>
                <a:cs typeface="Barlow"/>
                <a:sym typeface="Barlow"/>
              </a:rPr>
              <a:t>The total revenue from ticket sales is £703,219, with Standard Class tickets representing 82.50% of the passenger count. A total of 18,521 tickets were purchased online, surpassing the 13,132 tickets bought at stations. The most profitable route is Liverpool Lime Street to London Euston, generating £113,451.</a:t>
            </a:r>
            <a:endParaRPr sz="1700" dirty="0">
              <a:solidFill>
                <a:schemeClr val="dk1"/>
              </a:solidFill>
              <a:latin typeface="Calibri"/>
              <a:ea typeface="Calibri"/>
              <a:cs typeface="Calibri"/>
              <a:sym typeface="Calibri"/>
            </a:endParaRPr>
          </a:p>
        </p:txBody>
      </p:sp>
      <p:sp>
        <p:nvSpPr>
          <p:cNvPr id="90" name="Google Shape;90;p14"/>
          <p:cNvSpPr/>
          <p:nvPr/>
        </p:nvSpPr>
        <p:spPr>
          <a:xfrm>
            <a:off x="10221039" y="4196596"/>
            <a:ext cx="3650456" cy="715566"/>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8DA9DB"/>
              </a:buClr>
              <a:buSzPts val="5600"/>
              <a:buFont typeface="Spline Sans"/>
              <a:buNone/>
            </a:pPr>
            <a:r>
              <a:rPr lang="en-US" sz="5600" b="1">
                <a:solidFill>
                  <a:srgbClr val="8DA9DB"/>
                </a:solidFill>
                <a:latin typeface="Spline Sans"/>
                <a:ea typeface="Spline Sans"/>
                <a:cs typeface="Spline Sans"/>
                <a:sym typeface="Spline Sans"/>
              </a:rPr>
              <a:t>5.2%</a:t>
            </a:r>
            <a:endParaRPr sz="5600">
              <a:solidFill>
                <a:srgbClr val="8DA9DB"/>
              </a:solidFill>
              <a:latin typeface="Calibri"/>
              <a:ea typeface="Calibri"/>
              <a:cs typeface="Calibri"/>
              <a:sym typeface="Calibri"/>
            </a:endParaRPr>
          </a:p>
        </p:txBody>
      </p:sp>
      <p:sp>
        <p:nvSpPr>
          <p:cNvPr id="91" name="Google Shape;91;p14"/>
          <p:cNvSpPr/>
          <p:nvPr/>
        </p:nvSpPr>
        <p:spPr>
          <a:xfrm>
            <a:off x="7180838" y="5268211"/>
            <a:ext cx="2409468" cy="301228"/>
          </a:xfrm>
          <a:prstGeom prst="rect">
            <a:avLst/>
          </a:prstGeom>
          <a:noFill/>
          <a:ln>
            <a:noFill/>
          </a:ln>
        </p:spPr>
        <p:txBody>
          <a:bodyPr spcFirstLastPara="1" wrap="square" lIns="0" tIns="0" rIns="0" bIns="0" anchor="t" anchorCtr="0">
            <a:noAutofit/>
          </a:bodyPr>
          <a:lstStyle/>
          <a:p>
            <a:pPr marL="0" marR="0" lvl="0" indent="0" algn="ctr" rtl="0">
              <a:lnSpc>
                <a:spcPct val="127027"/>
              </a:lnSpc>
              <a:spcBef>
                <a:spcPts val="0"/>
              </a:spcBef>
              <a:spcAft>
                <a:spcPts val="0"/>
              </a:spcAft>
              <a:buClr>
                <a:srgbClr val="E0E4E6"/>
              </a:buClr>
              <a:buSzPts val="1850"/>
              <a:buFont typeface="Spline Sans"/>
              <a:buNone/>
            </a:pPr>
            <a:r>
              <a:rPr lang="en-US" sz="1850" b="1">
                <a:solidFill>
                  <a:srgbClr val="E0E4E6"/>
                </a:solidFill>
                <a:latin typeface="Spline Sans"/>
                <a:ea typeface="Spline Sans"/>
                <a:cs typeface="Spline Sans"/>
                <a:sym typeface="Spline Sans"/>
              </a:rPr>
              <a:t>Online Tickets</a:t>
            </a:r>
            <a:endParaRPr sz="1850">
              <a:solidFill>
                <a:schemeClr val="dk1"/>
              </a:solidFill>
              <a:latin typeface="Calibri"/>
              <a:ea typeface="Calibri"/>
              <a:cs typeface="Calibri"/>
              <a:sym typeface="Calibri"/>
            </a:endParaRPr>
          </a:p>
        </p:txBody>
      </p:sp>
      <p:sp>
        <p:nvSpPr>
          <p:cNvPr id="92" name="Google Shape;92;p14"/>
          <p:cNvSpPr/>
          <p:nvPr/>
        </p:nvSpPr>
        <p:spPr>
          <a:xfrm>
            <a:off x="10373439" y="5540480"/>
            <a:ext cx="3650456" cy="346829"/>
          </a:xfrm>
          <a:prstGeom prst="rect">
            <a:avLst/>
          </a:prstGeom>
          <a:noFill/>
          <a:ln>
            <a:noFill/>
          </a:ln>
        </p:spPr>
        <p:txBody>
          <a:bodyPr spcFirstLastPara="1" wrap="square" lIns="0" tIns="0" rIns="0" bIns="0" anchor="t" anchorCtr="0">
            <a:noAutofit/>
          </a:bodyPr>
          <a:lstStyle/>
          <a:p>
            <a:pPr marL="0" marR="0" lvl="0" indent="0" algn="ctr" rtl="0">
              <a:lnSpc>
                <a:spcPct val="158823"/>
              </a:lnSpc>
              <a:spcBef>
                <a:spcPts val="0"/>
              </a:spcBef>
              <a:spcAft>
                <a:spcPts val="0"/>
              </a:spcAft>
              <a:buClr>
                <a:srgbClr val="E0E4E6"/>
              </a:buClr>
              <a:buSzPts val="1700"/>
              <a:buFont typeface="Barlow"/>
              <a:buNone/>
            </a:pPr>
            <a:r>
              <a:rPr lang="en-US" sz="1700">
                <a:solidFill>
                  <a:srgbClr val="E0E4E6"/>
                </a:solidFill>
                <a:latin typeface="Barlow"/>
                <a:ea typeface="Barlow"/>
                <a:cs typeface="Barlow"/>
                <a:sym typeface="Barlow"/>
              </a:rPr>
              <a:t>Percentage of tickets refund</a:t>
            </a:r>
            <a:endParaRPr sz="17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pic>
        <p:nvPicPr>
          <p:cNvPr id="3" name="Picture 2">
            <a:extLst>
              <a:ext uri="{FF2B5EF4-FFF2-40B4-BE49-F238E27FC236}">
                <a16:creationId xmlns:a16="http://schemas.microsoft.com/office/drawing/2014/main" id="{5332FD3C-3743-EBAF-E8D1-8947D13FA65C}"/>
              </a:ext>
            </a:extLst>
          </p:cNvPr>
          <p:cNvPicPr>
            <a:picLocks noChangeAspect="1"/>
          </p:cNvPicPr>
          <p:nvPr/>
        </p:nvPicPr>
        <p:blipFill>
          <a:blip r:embed="rId3"/>
          <a:stretch>
            <a:fillRect/>
          </a:stretch>
        </p:blipFill>
        <p:spPr>
          <a:xfrm>
            <a:off x="0" y="-16933"/>
            <a:ext cx="14630400" cy="824653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p:nvPr/>
        </p:nvSpPr>
        <p:spPr>
          <a:xfrm>
            <a:off x="6350437" y="1049179"/>
            <a:ext cx="5486400" cy="685800"/>
          </a:xfrm>
          <a:prstGeom prst="rect">
            <a:avLst/>
          </a:prstGeom>
          <a:noFill/>
          <a:ln>
            <a:noFill/>
          </a:ln>
        </p:spPr>
        <p:txBody>
          <a:bodyPr spcFirstLastPara="1" wrap="square" lIns="0" tIns="0" rIns="0" bIns="0" anchor="t" anchorCtr="0">
            <a:noAutofit/>
          </a:bodyPr>
          <a:lstStyle/>
          <a:p>
            <a:pPr marL="0" marR="0" lvl="0" indent="0" algn="l" rtl="0">
              <a:lnSpc>
                <a:spcPct val="125581"/>
              </a:lnSpc>
              <a:spcBef>
                <a:spcPts val="0"/>
              </a:spcBef>
              <a:spcAft>
                <a:spcPts val="0"/>
              </a:spcAft>
              <a:buClr>
                <a:srgbClr val="F0FCFF"/>
              </a:buClr>
              <a:buSzPts val="4300"/>
              <a:buFont typeface="Spline Sans"/>
              <a:buNone/>
            </a:pPr>
            <a:r>
              <a:rPr lang="en-US" sz="4300" b="1">
                <a:solidFill>
                  <a:srgbClr val="F0FCFF"/>
                </a:solidFill>
                <a:latin typeface="Spline Sans"/>
                <a:ea typeface="Spline Sans"/>
                <a:cs typeface="Spline Sans"/>
                <a:sym typeface="Spline Sans"/>
              </a:rPr>
              <a:t>Customer Behavior</a:t>
            </a:r>
            <a:endParaRPr sz="4300">
              <a:solidFill>
                <a:schemeClr val="dk1"/>
              </a:solidFill>
              <a:latin typeface="Calibri"/>
              <a:ea typeface="Calibri"/>
              <a:cs typeface="Calibri"/>
              <a:sym typeface="Calibri"/>
            </a:endParaRPr>
          </a:p>
        </p:txBody>
      </p:sp>
      <p:pic>
        <p:nvPicPr>
          <p:cNvPr id="104" name="Google Shape;104;p16" descr="preencoded.png"/>
          <p:cNvPicPr preferRelativeResize="0"/>
          <p:nvPr/>
        </p:nvPicPr>
        <p:blipFill rotWithShape="1">
          <a:blip r:embed="rId3">
            <a:alphaModFix/>
          </a:blip>
          <a:srcRect/>
          <a:stretch/>
        </p:blipFill>
        <p:spPr>
          <a:xfrm>
            <a:off x="6350437" y="2105263"/>
            <a:ext cx="556260" cy="556260"/>
          </a:xfrm>
          <a:prstGeom prst="rect">
            <a:avLst/>
          </a:prstGeom>
          <a:noFill/>
          <a:ln>
            <a:noFill/>
          </a:ln>
        </p:spPr>
      </p:pic>
      <p:sp>
        <p:nvSpPr>
          <p:cNvPr id="105" name="Google Shape;105;p16"/>
          <p:cNvSpPr/>
          <p:nvPr/>
        </p:nvSpPr>
        <p:spPr>
          <a:xfrm>
            <a:off x="6350437" y="2908340"/>
            <a:ext cx="2225040" cy="685800"/>
          </a:xfrm>
          <a:prstGeom prst="rect">
            <a:avLst/>
          </a:prstGeom>
          <a:noFill/>
          <a:ln>
            <a:noFill/>
          </a:ln>
        </p:spPr>
        <p:txBody>
          <a:bodyPr spcFirstLastPara="1" wrap="square" lIns="0" tIns="0" rIns="0" bIns="0" anchor="t" anchorCtr="0">
            <a:noAutofit/>
          </a:bodyPr>
          <a:lstStyle/>
          <a:p>
            <a:pPr marL="0" marR="0" lvl="0" indent="0" algn="l" rtl="0">
              <a:lnSpc>
                <a:spcPct val="125581"/>
              </a:lnSpc>
              <a:spcBef>
                <a:spcPts val="0"/>
              </a:spcBef>
              <a:spcAft>
                <a:spcPts val="0"/>
              </a:spcAft>
              <a:buClr>
                <a:srgbClr val="E0E4E6"/>
              </a:buClr>
              <a:buSzPts val="2150"/>
              <a:buFont typeface="Spline Sans"/>
              <a:buNone/>
            </a:pPr>
            <a:r>
              <a:rPr lang="en-US" sz="2150" b="1">
                <a:solidFill>
                  <a:srgbClr val="E0E4E6"/>
                </a:solidFill>
                <a:latin typeface="Spline Sans"/>
                <a:ea typeface="Spline Sans"/>
                <a:cs typeface="Spline Sans"/>
                <a:sym typeface="Spline Sans"/>
              </a:rPr>
              <a:t>Crowded Stations</a:t>
            </a:r>
            <a:endParaRPr sz="2150">
              <a:solidFill>
                <a:schemeClr val="dk1"/>
              </a:solidFill>
              <a:latin typeface="Calibri"/>
              <a:ea typeface="Calibri"/>
              <a:cs typeface="Calibri"/>
              <a:sym typeface="Calibri"/>
            </a:endParaRPr>
          </a:p>
        </p:txBody>
      </p:sp>
      <p:sp>
        <p:nvSpPr>
          <p:cNvPr id="106" name="Google Shape;106;p16"/>
          <p:cNvSpPr/>
          <p:nvPr/>
        </p:nvSpPr>
        <p:spPr>
          <a:xfrm>
            <a:off x="6350437" y="3742253"/>
            <a:ext cx="2225040" cy="1185148"/>
          </a:xfrm>
          <a:prstGeom prst="rect">
            <a:avLst/>
          </a:prstGeom>
          <a:noFill/>
          <a:ln>
            <a:noFill/>
          </a:ln>
        </p:spPr>
        <p:txBody>
          <a:bodyPr spcFirstLastPara="1" wrap="square" lIns="0" tIns="0" rIns="0" bIns="0" anchor="t" anchorCtr="0">
            <a:noAutofit/>
          </a:bodyPr>
          <a:lstStyle/>
          <a:p>
            <a:pPr marL="0" marR="0" lvl="0" indent="0" algn="l" rtl="0">
              <a:lnSpc>
                <a:spcPct val="163157"/>
              </a:lnSpc>
              <a:spcBef>
                <a:spcPts val="0"/>
              </a:spcBef>
              <a:spcAft>
                <a:spcPts val="0"/>
              </a:spcAft>
              <a:buClr>
                <a:srgbClr val="E0E4E6"/>
              </a:buClr>
              <a:buSzPts val="1900"/>
              <a:buFont typeface="Barlow"/>
              <a:buNone/>
            </a:pPr>
            <a:r>
              <a:rPr lang="en-US" sz="1900">
                <a:solidFill>
                  <a:srgbClr val="E0E4E6"/>
                </a:solidFill>
                <a:latin typeface="Barlow"/>
                <a:ea typeface="Barlow"/>
                <a:cs typeface="Barlow"/>
                <a:sym typeface="Barlow"/>
              </a:rPr>
              <a:t>Birmingham New Street, Manchester Piccadilly</a:t>
            </a:r>
            <a:endParaRPr sz="1900">
              <a:solidFill>
                <a:schemeClr val="dk1"/>
              </a:solidFill>
              <a:latin typeface="Calibri"/>
              <a:ea typeface="Calibri"/>
              <a:cs typeface="Calibri"/>
              <a:sym typeface="Calibri"/>
            </a:endParaRPr>
          </a:p>
        </p:txBody>
      </p:sp>
      <p:pic>
        <p:nvPicPr>
          <p:cNvPr id="107" name="Google Shape;107;p16" descr="preencoded.png"/>
          <p:cNvPicPr preferRelativeResize="0"/>
          <p:nvPr/>
        </p:nvPicPr>
        <p:blipFill rotWithShape="1">
          <a:blip r:embed="rId4">
            <a:alphaModFix/>
          </a:blip>
          <a:srcRect/>
          <a:stretch/>
        </p:blipFill>
        <p:spPr>
          <a:xfrm>
            <a:off x="8945761" y="2105263"/>
            <a:ext cx="556260" cy="556260"/>
          </a:xfrm>
          <a:prstGeom prst="rect">
            <a:avLst/>
          </a:prstGeom>
          <a:noFill/>
          <a:ln>
            <a:noFill/>
          </a:ln>
        </p:spPr>
      </p:pic>
      <p:sp>
        <p:nvSpPr>
          <p:cNvPr id="108" name="Google Shape;108;p16"/>
          <p:cNvSpPr/>
          <p:nvPr/>
        </p:nvSpPr>
        <p:spPr>
          <a:xfrm>
            <a:off x="8945761" y="2908340"/>
            <a:ext cx="2225159" cy="685800"/>
          </a:xfrm>
          <a:prstGeom prst="rect">
            <a:avLst/>
          </a:prstGeom>
          <a:noFill/>
          <a:ln>
            <a:noFill/>
          </a:ln>
        </p:spPr>
        <p:txBody>
          <a:bodyPr spcFirstLastPara="1" wrap="square" lIns="0" tIns="0" rIns="0" bIns="0" anchor="t" anchorCtr="0">
            <a:noAutofit/>
          </a:bodyPr>
          <a:lstStyle/>
          <a:p>
            <a:pPr marL="0" marR="0" lvl="0" indent="0" algn="l" rtl="0">
              <a:lnSpc>
                <a:spcPct val="125581"/>
              </a:lnSpc>
              <a:spcBef>
                <a:spcPts val="0"/>
              </a:spcBef>
              <a:spcAft>
                <a:spcPts val="0"/>
              </a:spcAft>
              <a:buClr>
                <a:srgbClr val="E0E4E6"/>
              </a:buClr>
              <a:buSzPts val="2150"/>
              <a:buFont typeface="Spline Sans"/>
              <a:buNone/>
            </a:pPr>
            <a:r>
              <a:rPr lang="en-US" sz="2150" b="1">
                <a:solidFill>
                  <a:srgbClr val="E0E4E6"/>
                </a:solidFill>
                <a:latin typeface="Spline Sans"/>
                <a:ea typeface="Spline Sans"/>
                <a:cs typeface="Spline Sans"/>
                <a:sym typeface="Spline Sans"/>
              </a:rPr>
              <a:t>Ticket Preferences</a:t>
            </a:r>
            <a:endParaRPr sz="2150">
              <a:solidFill>
                <a:schemeClr val="dk1"/>
              </a:solidFill>
              <a:latin typeface="Calibri"/>
              <a:ea typeface="Calibri"/>
              <a:cs typeface="Calibri"/>
              <a:sym typeface="Calibri"/>
            </a:endParaRPr>
          </a:p>
        </p:txBody>
      </p:sp>
      <p:sp>
        <p:nvSpPr>
          <p:cNvPr id="109" name="Google Shape;109;p16"/>
          <p:cNvSpPr/>
          <p:nvPr/>
        </p:nvSpPr>
        <p:spPr>
          <a:xfrm>
            <a:off x="8945761" y="3742253"/>
            <a:ext cx="2225159" cy="1185148"/>
          </a:xfrm>
          <a:prstGeom prst="rect">
            <a:avLst/>
          </a:prstGeom>
          <a:noFill/>
          <a:ln>
            <a:noFill/>
          </a:ln>
        </p:spPr>
        <p:txBody>
          <a:bodyPr spcFirstLastPara="1" wrap="square" lIns="0" tIns="0" rIns="0" bIns="0" anchor="t" anchorCtr="0">
            <a:noAutofit/>
          </a:bodyPr>
          <a:lstStyle/>
          <a:p>
            <a:pPr marL="0" marR="0" lvl="0" indent="0" algn="l" rtl="0">
              <a:lnSpc>
                <a:spcPct val="163157"/>
              </a:lnSpc>
              <a:spcBef>
                <a:spcPts val="0"/>
              </a:spcBef>
              <a:spcAft>
                <a:spcPts val="0"/>
              </a:spcAft>
              <a:buClr>
                <a:srgbClr val="E0E4E6"/>
              </a:buClr>
              <a:buSzPts val="1900"/>
              <a:buFont typeface="Barlow"/>
              <a:buNone/>
            </a:pPr>
            <a:r>
              <a:rPr lang="en-US" sz="1900">
                <a:solidFill>
                  <a:srgbClr val="E0E4E6"/>
                </a:solidFill>
                <a:latin typeface="Barlow"/>
                <a:ea typeface="Barlow"/>
                <a:cs typeface="Barlow"/>
                <a:sym typeface="Barlow"/>
              </a:rPr>
              <a:t>Advance tickets are most popular (55.46%)</a:t>
            </a:r>
            <a:endParaRPr sz="1900">
              <a:solidFill>
                <a:schemeClr val="dk1"/>
              </a:solidFill>
              <a:latin typeface="Calibri"/>
              <a:ea typeface="Calibri"/>
              <a:cs typeface="Calibri"/>
              <a:sym typeface="Calibri"/>
            </a:endParaRPr>
          </a:p>
        </p:txBody>
      </p:sp>
      <p:pic>
        <p:nvPicPr>
          <p:cNvPr id="110" name="Google Shape;110;p16" descr="preencoded.png"/>
          <p:cNvPicPr preferRelativeResize="0"/>
          <p:nvPr/>
        </p:nvPicPr>
        <p:blipFill rotWithShape="1">
          <a:blip r:embed="rId5">
            <a:alphaModFix/>
          </a:blip>
          <a:srcRect/>
          <a:stretch/>
        </p:blipFill>
        <p:spPr>
          <a:xfrm>
            <a:off x="11541204" y="2105263"/>
            <a:ext cx="556260" cy="556260"/>
          </a:xfrm>
          <a:prstGeom prst="rect">
            <a:avLst/>
          </a:prstGeom>
          <a:noFill/>
          <a:ln>
            <a:noFill/>
          </a:ln>
        </p:spPr>
      </p:pic>
      <p:sp>
        <p:nvSpPr>
          <p:cNvPr id="111" name="Google Shape;111;p16"/>
          <p:cNvSpPr/>
          <p:nvPr/>
        </p:nvSpPr>
        <p:spPr>
          <a:xfrm>
            <a:off x="11541204" y="2908340"/>
            <a:ext cx="2225040" cy="685800"/>
          </a:xfrm>
          <a:prstGeom prst="rect">
            <a:avLst/>
          </a:prstGeom>
          <a:noFill/>
          <a:ln>
            <a:noFill/>
          </a:ln>
        </p:spPr>
        <p:txBody>
          <a:bodyPr spcFirstLastPara="1" wrap="square" lIns="0" tIns="0" rIns="0" bIns="0" anchor="t" anchorCtr="0">
            <a:noAutofit/>
          </a:bodyPr>
          <a:lstStyle/>
          <a:p>
            <a:pPr marL="0" marR="0" lvl="0" indent="0" algn="l" rtl="0">
              <a:lnSpc>
                <a:spcPct val="125581"/>
              </a:lnSpc>
              <a:spcBef>
                <a:spcPts val="0"/>
              </a:spcBef>
              <a:spcAft>
                <a:spcPts val="0"/>
              </a:spcAft>
              <a:buClr>
                <a:srgbClr val="E0E4E6"/>
              </a:buClr>
              <a:buSzPts val="2150"/>
              <a:buFont typeface="Spline Sans"/>
              <a:buNone/>
            </a:pPr>
            <a:r>
              <a:rPr lang="en-US" sz="2150" b="1">
                <a:solidFill>
                  <a:srgbClr val="E0E4E6"/>
                </a:solidFill>
                <a:latin typeface="Spline Sans"/>
                <a:ea typeface="Spline Sans"/>
                <a:cs typeface="Spline Sans"/>
                <a:sym typeface="Spline Sans"/>
              </a:rPr>
              <a:t>Purchase Behavior</a:t>
            </a:r>
            <a:endParaRPr sz="2150">
              <a:solidFill>
                <a:schemeClr val="dk1"/>
              </a:solidFill>
              <a:latin typeface="Calibri"/>
              <a:ea typeface="Calibri"/>
              <a:cs typeface="Calibri"/>
              <a:sym typeface="Calibri"/>
            </a:endParaRPr>
          </a:p>
        </p:txBody>
      </p:sp>
      <p:sp>
        <p:nvSpPr>
          <p:cNvPr id="112" name="Google Shape;112;p16"/>
          <p:cNvSpPr/>
          <p:nvPr/>
        </p:nvSpPr>
        <p:spPr>
          <a:xfrm>
            <a:off x="11541204" y="3742253"/>
            <a:ext cx="2225040" cy="1185148"/>
          </a:xfrm>
          <a:prstGeom prst="rect">
            <a:avLst/>
          </a:prstGeom>
          <a:noFill/>
          <a:ln>
            <a:noFill/>
          </a:ln>
        </p:spPr>
        <p:txBody>
          <a:bodyPr spcFirstLastPara="1" wrap="square" lIns="0" tIns="0" rIns="0" bIns="0" anchor="t" anchorCtr="0">
            <a:noAutofit/>
          </a:bodyPr>
          <a:lstStyle/>
          <a:p>
            <a:pPr marL="0" marR="0" lvl="0" indent="0" algn="l" rtl="0">
              <a:lnSpc>
                <a:spcPct val="163157"/>
              </a:lnSpc>
              <a:spcBef>
                <a:spcPts val="0"/>
              </a:spcBef>
              <a:spcAft>
                <a:spcPts val="0"/>
              </a:spcAft>
              <a:buClr>
                <a:srgbClr val="E0E4E6"/>
              </a:buClr>
              <a:buSzPts val="1900"/>
              <a:buFont typeface="Barlow"/>
              <a:buNone/>
            </a:pPr>
            <a:r>
              <a:rPr lang="en-US" sz="1900">
                <a:solidFill>
                  <a:srgbClr val="E0E4E6"/>
                </a:solidFill>
                <a:latin typeface="Barlow"/>
                <a:ea typeface="Barlow"/>
                <a:cs typeface="Barlow"/>
                <a:sym typeface="Barlow"/>
              </a:rPr>
              <a:t>Passengers prefer buying tickets in advance</a:t>
            </a:r>
            <a:endParaRPr sz="1900">
              <a:solidFill>
                <a:schemeClr val="dk1"/>
              </a:solidFill>
              <a:latin typeface="Calibri"/>
              <a:ea typeface="Calibri"/>
              <a:cs typeface="Calibri"/>
              <a:sym typeface="Calibri"/>
            </a:endParaRPr>
          </a:p>
        </p:txBody>
      </p:sp>
      <p:sp>
        <p:nvSpPr>
          <p:cNvPr id="113" name="Google Shape;113;p16"/>
          <p:cNvSpPr/>
          <p:nvPr/>
        </p:nvSpPr>
        <p:spPr>
          <a:xfrm>
            <a:off x="6350437" y="5205055"/>
            <a:ext cx="7415927" cy="1975247"/>
          </a:xfrm>
          <a:prstGeom prst="rect">
            <a:avLst/>
          </a:prstGeom>
          <a:noFill/>
          <a:ln>
            <a:noFill/>
          </a:ln>
        </p:spPr>
        <p:txBody>
          <a:bodyPr spcFirstLastPara="1" wrap="square" lIns="0" tIns="0" rIns="0" bIns="0" anchor="t" anchorCtr="0">
            <a:noAutofit/>
          </a:bodyPr>
          <a:lstStyle/>
          <a:p>
            <a:pPr marL="0" marR="0" lvl="0" indent="0" algn="l" rtl="0">
              <a:lnSpc>
                <a:spcPct val="163157"/>
              </a:lnSpc>
              <a:spcBef>
                <a:spcPts val="0"/>
              </a:spcBef>
              <a:spcAft>
                <a:spcPts val="0"/>
              </a:spcAft>
              <a:buClr>
                <a:srgbClr val="E0E4E6"/>
              </a:buClr>
              <a:buSzPts val="1900"/>
              <a:buFont typeface="Barlow"/>
              <a:buNone/>
            </a:pPr>
            <a:r>
              <a:rPr lang="en-US" sz="1900">
                <a:solidFill>
                  <a:srgbClr val="E0E4E6"/>
                </a:solidFill>
                <a:latin typeface="Barlow"/>
                <a:ea typeface="Barlow"/>
                <a:cs typeface="Barlow"/>
                <a:sym typeface="Barlow"/>
              </a:rPr>
              <a:t>Birmingham New Street and Manchester Piccadilly are the most crowded stations. Advance tickets are the most popular, accounting for 55.46% of total passengers. Most passengers prefer buying tickets in advance to secure lower prices, indicating a price-sensitive customer base.</a:t>
            </a:r>
            <a:endParaRPr sz="1900">
              <a:solidFill>
                <a:schemeClr val="dk1"/>
              </a:solidFill>
              <a:latin typeface="Calibri"/>
              <a:ea typeface="Calibri"/>
              <a:cs typeface="Calibri"/>
              <a:sym typeface="Calibri"/>
            </a:endParaRPr>
          </a:p>
        </p:txBody>
      </p:sp>
      <p:pic>
        <p:nvPicPr>
          <p:cNvPr id="114" name="Google Shape;114;p16" descr="A train at a station&#10;&#10;AI-generated content may be incorrect."/>
          <p:cNvPicPr preferRelativeResize="0"/>
          <p:nvPr/>
        </p:nvPicPr>
        <p:blipFill rotWithShape="1">
          <a:blip r:embed="rId6">
            <a:alphaModFix/>
          </a:blip>
          <a:srcRect/>
          <a:stretch/>
        </p:blipFill>
        <p:spPr>
          <a:xfrm>
            <a:off x="390293" y="312234"/>
            <a:ext cx="4884234" cy="741556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p:nvPr/>
        </p:nvSpPr>
        <p:spPr>
          <a:xfrm>
            <a:off x="864037" y="987266"/>
            <a:ext cx="5695236" cy="685800"/>
          </a:xfrm>
          <a:prstGeom prst="rect">
            <a:avLst/>
          </a:prstGeom>
          <a:noFill/>
          <a:ln>
            <a:noFill/>
          </a:ln>
        </p:spPr>
        <p:txBody>
          <a:bodyPr spcFirstLastPara="1" wrap="square" lIns="0" tIns="0" rIns="0" bIns="0" anchor="t" anchorCtr="0">
            <a:noAutofit/>
          </a:bodyPr>
          <a:lstStyle/>
          <a:p>
            <a:pPr marL="0" marR="0" lvl="0" indent="0" algn="l" rtl="0">
              <a:lnSpc>
                <a:spcPct val="125581"/>
              </a:lnSpc>
              <a:spcBef>
                <a:spcPts val="0"/>
              </a:spcBef>
              <a:spcAft>
                <a:spcPts val="0"/>
              </a:spcAft>
              <a:buClr>
                <a:srgbClr val="F0FCFF"/>
              </a:buClr>
              <a:buSzPts val="4300"/>
              <a:buFont typeface="Spline Sans"/>
              <a:buNone/>
            </a:pPr>
            <a:r>
              <a:rPr lang="en-US" sz="4300" b="1">
                <a:solidFill>
                  <a:srgbClr val="F0FCFF"/>
                </a:solidFill>
                <a:latin typeface="Spline Sans"/>
                <a:ea typeface="Spline Sans"/>
                <a:cs typeface="Spline Sans"/>
                <a:sym typeface="Spline Sans"/>
              </a:rPr>
              <a:t>Demographic Insights</a:t>
            </a:r>
            <a:endParaRPr sz="4300">
              <a:solidFill>
                <a:schemeClr val="dk1"/>
              </a:solidFill>
              <a:latin typeface="Calibri"/>
              <a:ea typeface="Calibri"/>
              <a:cs typeface="Calibri"/>
              <a:sym typeface="Calibri"/>
            </a:endParaRPr>
          </a:p>
        </p:txBody>
      </p:sp>
      <p:sp>
        <p:nvSpPr>
          <p:cNvPr id="121" name="Google Shape;121;p17"/>
          <p:cNvSpPr/>
          <p:nvPr/>
        </p:nvSpPr>
        <p:spPr>
          <a:xfrm>
            <a:off x="2271951" y="3332559"/>
            <a:ext cx="2743200" cy="342900"/>
          </a:xfrm>
          <a:prstGeom prst="rect">
            <a:avLst/>
          </a:prstGeom>
          <a:noFill/>
          <a:ln>
            <a:noFill/>
          </a:ln>
        </p:spPr>
        <p:txBody>
          <a:bodyPr spcFirstLastPara="1" wrap="square" lIns="0" tIns="0" rIns="0" bIns="0" anchor="t" anchorCtr="0">
            <a:noAutofit/>
          </a:bodyPr>
          <a:lstStyle/>
          <a:p>
            <a:pPr marL="0" marR="0" lvl="0" indent="0" algn="r" rtl="0">
              <a:lnSpc>
                <a:spcPct val="125581"/>
              </a:lnSpc>
              <a:spcBef>
                <a:spcPts val="0"/>
              </a:spcBef>
              <a:spcAft>
                <a:spcPts val="0"/>
              </a:spcAft>
              <a:buClr>
                <a:srgbClr val="E0E4E6"/>
              </a:buClr>
              <a:buSzPts val="2150"/>
              <a:buFont typeface="Spline Sans"/>
              <a:buNone/>
            </a:pPr>
            <a:r>
              <a:rPr lang="en-US" sz="2150" b="1">
                <a:solidFill>
                  <a:srgbClr val="E0E4E6"/>
                </a:solidFill>
                <a:latin typeface="Spline Sans"/>
                <a:ea typeface="Spline Sans"/>
                <a:cs typeface="Spline Sans"/>
                <a:sym typeface="Spline Sans"/>
              </a:rPr>
              <a:t>Rail Card Usage</a:t>
            </a:r>
            <a:endParaRPr sz="2150">
              <a:solidFill>
                <a:schemeClr val="dk1"/>
              </a:solidFill>
              <a:latin typeface="Calibri"/>
              <a:ea typeface="Calibri"/>
              <a:cs typeface="Calibri"/>
              <a:sym typeface="Calibri"/>
            </a:endParaRPr>
          </a:p>
        </p:txBody>
      </p:sp>
      <p:sp>
        <p:nvSpPr>
          <p:cNvPr id="122" name="Google Shape;122;p17"/>
          <p:cNvSpPr/>
          <p:nvPr/>
        </p:nvSpPr>
        <p:spPr>
          <a:xfrm>
            <a:off x="864037" y="3823573"/>
            <a:ext cx="4151114" cy="790099"/>
          </a:xfrm>
          <a:prstGeom prst="rect">
            <a:avLst/>
          </a:prstGeom>
          <a:noFill/>
          <a:ln>
            <a:noFill/>
          </a:ln>
        </p:spPr>
        <p:txBody>
          <a:bodyPr spcFirstLastPara="1" wrap="square" lIns="0" tIns="0" rIns="0" bIns="0" anchor="t" anchorCtr="0">
            <a:noAutofit/>
          </a:bodyPr>
          <a:lstStyle/>
          <a:p>
            <a:pPr marL="0" marR="0" lvl="0" indent="0" algn="r" rtl="0">
              <a:lnSpc>
                <a:spcPct val="163157"/>
              </a:lnSpc>
              <a:spcBef>
                <a:spcPts val="0"/>
              </a:spcBef>
              <a:spcAft>
                <a:spcPts val="0"/>
              </a:spcAft>
              <a:buClr>
                <a:srgbClr val="E0E4E6"/>
              </a:buClr>
              <a:buSzPts val="1900"/>
              <a:buFont typeface="Barlow"/>
              <a:buNone/>
            </a:pPr>
            <a:r>
              <a:rPr lang="en-US" sz="1900">
                <a:solidFill>
                  <a:srgbClr val="E0E4E6"/>
                </a:solidFill>
                <a:latin typeface="Barlow"/>
                <a:ea typeface="Barlow"/>
                <a:cs typeface="Barlow"/>
                <a:sym typeface="Barlow"/>
              </a:rPr>
              <a:t>20,921 passengers traveled without a rail card.</a:t>
            </a:r>
            <a:endParaRPr sz="1900">
              <a:solidFill>
                <a:schemeClr val="dk1"/>
              </a:solidFill>
              <a:latin typeface="Calibri"/>
              <a:ea typeface="Calibri"/>
              <a:cs typeface="Calibri"/>
              <a:sym typeface="Calibri"/>
            </a:endParaRPr>
          </a:p>
        </p:txBody>
      </p:sp>
      <p:pic>
        <p:nvPicPr>
          <p:cNvPr id="123" name="Google Shape;123;p17" descr="preencoded.png"/>
          <p:cNvPicPr preferRelativeResize="0"/>
          <p:nvPr/>
        </p:nvPicPr>
        <p:blipFill rotWithShape="1">
          <a:blip r:embed="rId3">
            <a:alphaModFix/>
          </a:blip>
          <a:srcRect/>
          <a:stretch/>
        </p:blipFill>
        <p:spPr>
          <a:xfrm>
            <a:off x="5508903" y="2166818"/>
            <a:ext cx="3612594" cy="3612594"/>
          </a:xfrm>
          <a:prstGeom prst="rect">
            <a:avLst/>
          </a:prstGeom>
          <a:noFill/>
          <a:ln>
            <a:noFill/>
          </a:ln>
        </p:spPr>
      </p:pic>
      <p:sp>
        <p:nvSpPr>
          <p:cNvPr id="124" name="Google Shape;124;p17"/>
          <p:cNvSpPr/>
          <p:nvPr/>
        </p:nvSpPr>
        <p:spPr>
          <a:xfrm>
            <a:off x="5267920" y="3664506"/>
            <a:ext cx="617220" cy="617220"/>
          </a:xfrm>
          <a:prstGeom prst="roundRect">
            <a:avLst>
              <a:gd name="adj" fmla="val 1480000"/>
            </a:avLst>
          </a:prstGeom>
          <a:solidFill>
            <a:srgbClr val="0A081B"/>
          </a:solidFill>
          <a:ln w="30475" cap="flat" cmpd="sng">
            <a:solidFill>
              <a:srgbClr val="16FFB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25" name="Google Shape;125;p17" descr="preencoded.png"/>
          <p:cNvPicPr preferRelativeResize="0"/>
          <p:nvPr/>
        </p:nvPicPr>
        <p:blipFill rotWithShape="1">
          <a:blip r:embed="rId4">
            <a:alphaModFix/>
          </a:blip>
          <a:srcRect/>
          <a:stretch/>
        </p:blipFill>
        <p:spPr>
          <a:xfrm>
            <a:off x="5437703" y="3799523"/>
            <a:ext cx="277654" cy="347186"/>
          </a:xfrm>
          <a:prstGeom prst="rect">
            <a:avLst/>
          </a:prstGeom>
          <a:noFill/>
          <a:ln>
            <a:noFill/>
          </a:ln>
        </p:spPr>
      </p:pic>
      <p:sp>
        <p:nvSpPr>
          <p:cNvPr id="126" name="Google Shape;126;p17"/>
          <p:cNvSpPr/>
          <p:nvPr/>
        </p:nvSpPr>
        <p:spPr>
          <a:xfrm>
            <a:off x="9615249" y="3332559"/>
            <a:ext cx="2743200" cy="342900"/>
          </a:xfrm>
          <a:prstGeom prst="rect">
            <a:avLst/>
          </a:prstGeom>
          <a:noFill/>
          <a:ln>
            <a:noFill/>
          </a:ln>
        </p:spPr>
        <p:txBody>
          <a:bodyPr spcFirstLastPara="1" wrap="square" lIns="0" tIns="0" rIns="0" bIns="0" anchor="t" anchorCtr="0">
            <a:noAutofit/>
          </a:bodyPr>
          <a:lstStyle/>
          <a:p>
            <a:pPr marL="0" marR="0" lvl="0" indent="0" algn="l" rtl="0">
              <a:lnSpc>
                <a:spcPct val="125581"/>
              </a:lnSpc>
              <a:spcBef>
                <a:spcPts val="0"/>
              </a:spcBef>
              <a:spcAft>
                <a:spcPts val="0"/>
              </a:spcAft>
              <a:buClr>
                <a:srgbClr val="E0E4E6"/>
              </a:buClr>
              <a:buSzPts val="2150"/>
              <a:buFont typeface="Spline Sans"/>
              <a:buNone/>
            </a:pPr>
            <a:r>
              <a:rPr lang="en-US" sz="2150" b="1">
                <a:solidFill>
                  <a:srgbClr val="E0E4E6"/>
                </a:solidFill>
                <a:latin typeface="Spline Sans"/>
                <a:ea typeface="Spline Sans"/>
                <a:cs typeface="Spline Sans"/>
                <a:sym typeface="Spline Sans"/>
              </a:rPr>
              <a:t>Payment Methods</a:t>
            </a:r>
            <a:endParaRPr sz="2150">
              <a:solidFill>
                <a:schemeClr val="dk1"/>
              </a:solidFill>
              <a:latin typeface="Calibri"/>
              <a:ea typeface="Calibri"/>
              <a:cs typeface="Calibri"/>
              <a:sym typeface="Calibri"/>
            </a:endParaRPr>
          </a:p>
        </p:txBody>
      </p:sp>
      <p:sp>
        <p:nvSpPr>
          <p:cNvPr id="127" name="Google Shape;127;p17"/>
          <p:cNvSpPr/>
          <p:nvPr/>
        </p:nvSpPr>
        <p:spPr>
          <a:xfrm>
            <a:off x="9615249" y="3823573"/>
            <a:ext cx="4151114" cy="790099"/>
          </a:xfrm>
          <a:prstGeom prst="rect">
            <a:avLst/>
          </a:prstGeom>
          <a:noFill/>
          <a:ln>
            <a:noFill/>
          </a:ln>
        </p:spPr>
        <p:txBody>
          <a:bodyPr spcFirstLastPara="1" wrap="square" lIns="0" tIns="0" rIns="0" bIns="0" anchor="t" anchorCtr="0">
            <a:noAutofit/>
          </a:bodyPr>
          <a:lstStyle/>
          <a:p>
            <a:pPr marL="0" marR="0" lvl="0" indent="0" algn="l" rtl="0">
              <a:lnSpc>
                <a:spcPct val="163157"/>
              </a:lnSpc>
              <a:spcBef>
                <a:spcPts val="0"/>
              </a:spcBef>
              <a:spcAft>
                <a:spcPts val="0"/>
              </a:spcAft>
              <a:buClr>
                <a:srgbClr val="E0E4E6"/>
              </a:buClr>
              <a:buSzPts val="1900"/>
              <a:buFont typeface="Barlow"/>
              <a:buNone/>
            </a:pPr>
            <a:r>
              <a:rPr lang="en-US" sz="1900">
                <a:solidFill>
                  <a:srgbClr val="E0E4E6"/>
                </a:solidFill>
                <a:latin typeface="Barlow"/>
                <a:ea typeface="Barlow"/>
                <a:cs typeface="Barlow"/>
                <a:sym typeface="Barlow"/>
              </a:rPr>
              <a:t>Credit card payments accounted for 60.46% of transactions.</a:t>
            </a:r>
            <a:endParaRPr sz="1900">
              <a:solidFill>
                <a:schemeClr val="dk1"/>
              </a:solidFill>
              <a:latin typeface="Calibri"/>
              <a:ea typeface="Calibri"/>
              <a:cs typeface="Calibri"/>
              <a:sym typeface="Calibri"/>
            </a:endParaRPr>
          </a:p>
        </p:txBody>
      </p:sp>
      <p:pic>
        <p:nvPicPr>
          <p:cNvPr id="128" name="Google Shape;128;p17" descr="preencoded.png"/>
          <p:cNvPicPr preferRelativeResize="0"/>
          <p:nvPr/>
        </p:nvPicPr>
        <p:blipFill rotWithShape="1">
          <a:blip r:embed="rId5">
            <a:alphaModFix/>
          </a:blip>
          <a:srcRect/>
          <a:stretch/>
        </p:blipFill>
        <p:spPr>
          <a:xfrm>
            <a:off x="5508903" y="2166818"/>
            <a:ext cx="3612594" cy="3612594"/>
          </a:xfrm>
          <a:prstGeom prst="rect">
            <a:avLst/>
          </a:prstGeom>
          <a:noFill/>
          <a:ln>
            <a:noFill/>
          </a:ln>
        </p:spPr>
      </p:pic>
      <p:sp>
        <p:nvSpPr>
          <p:cNvPr id="129" name="Google Shape;129;p17"/>
          <p:cNvSpPr/>
          <p:nvPr/>
        </p:nvSpPr>
        <p:spPr>
          <a:xfrm>
            <a:off x="8745141" y="3664506"/>
            <a:ext cx="617220" cy="617220"/>
          </a:xfrm>
          <a:prstGeom prst="roundRect">
            <a:avLst>
              <a:gd name="adj" fmla="val 1480000"/>
            </a:avLst>
          </a:prstGeom>
          <a:solidFill>
            <a:srgbClr val="0A081B"/>
          </a:solidFill>
          <a:ln w="30475" cap="flat" cmpd="sng">
            <a:solidFill>
              <a:srgbClr val="29DDD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30" name="Google Shape;130;p17" descr="preencoded.png"/>
          <p:cNvPicPr preferRelativeResize="0"/>
          <p:nvPr/>
        </p:nvPicPr>
        <p:blipFill rotWithShape="1">
          <a:blip r:embed="rId6">
            <a:alphaModFix/>
          </a:blip>
          <a:srcRect/>
          <a:stretch/>
        </p:blipFill>
        <p:spPr>
          <a:xfrm>
            <a:off x="8914924" y="3799523"/>
            <a:ext cx="277654" cy="347186"/>
          </a:xfrm>
          <a:prstGeom prst="rect">
            <a:avLst/>
          </a:prstGeom>
          <a:noFill/>
          <a:ln>
            <a:noFill/>
          </a:ln>
        </p:spPr>
      </p:pic>
      <p:sp>
        <p:nvSpPr>
          <p:cNvPr id="131" name="Google Shape;131;p17"/>
          <p:cNvSpPr/>
          <p:nvPr/>
        </p:nvSpPr>
        <p:spPr>
          <a:xfrm>
            <a:off x="864037" y="6057067"/>
            <a:ext cx="12902327" cy="1185148"/>
          </a:xfrm>
          <a:prstGeom prst="rect">
            <a:avLst/>
          </a:prstGeom>
          <a:noFill/>
          <a:ln>
            <a:noFill/>
          </a:ln>
        </p:spPr>
        <p:txBody>
          <a:bodyPr spcFirstLastPara="1" wrap="square" lIns="0" tIns="0" rIns="0" bIns="0" anchor="t" anchorCtr="0">
            <a:noAutofit/>
          </a:bodyPr>
          <a:lstStyle/>
          <a:p>
            <a:pPr marL="0" marR="0" lvl="0" indent="0" algn="l" rtl="0">
              <a:lnSpc>
                <a:spcPct val="163157"/>
              </a:lnSpc>
              <a:spcBef>
                <a:spcPts val="0"/>
              </a:spcBef>
              <a:spcAft>
                <a:spcPts val="0"/>
              </a:spcAft>
              <a:buClr>
                <a:srgbClr val="E0E4E6"/>
              </a:buClr>
              <a:buSzPts val="1900"/>
              <a:buFont typeface="Barlow"/>
              <a:buNone/>
            </a:pPr>
            <a:r>
              <a:rPr lang="en-US" sz="1900">
                <a:solidFill>
                  <a:srgbClr val="E0E4E6"/>
                </a:solidFill>
                <a:latin typeface="Barlow"/>
                <a:ea typeface="Barlow"/>
                <a:cs typeface="Barlow"/>
                <a:sym typeface="Barlow"/>
              </a:rPr>
              <a:t>20,921 passengers traveled without a rail card, indicating a potential market for rail card promotions. Credit card payments accounted for 60.46% of transactions, highlighting the preference for credit cards among passengers. Understanding these demographics can inform targeted marketing strategies.</a:t>
            </a:r>
            <a:endParaRPr sz="1900">
              <a:solidFill>
                <a:schemeClr val="dk1"/>
              </a:solidFill>
              <a:latin typeface="Calibri"/>
              <a:ea typeface="Calibri"/>
              <a:cs typeface="Calibri"/>
              <a:sym typeface="Calibri"/>
            </a:endParaRPr>
          </a:p>
        </p:txBody>
      </p:sp>
      <p:pic>
        <p:nvPicPr>
          <p:cNvPr id="2" name="Google Shape;48;p11" descr="A logo of a train&#10;&#10;AI-generated content may be incorrect.">
            <a:extLst>
              <a:ext uri="{FF2B5EF4-FFF2-40B4-BE49-F238E27FC236}">
                <a16:creationId xmlns:a16="http://schemas.microsoft.com/office/drawing/2014/main" id="{3A1326B0-48AD-1228-0AF6-DC62EB155FA5}"/>
              </a:ext>
            </a:extLst>
          </p:cNvPr>
          <p:cNvPicPr preferRelativeResize="0"/>
          <p:nvPr/>
        </p:nvPicPr>
        <p:blipFill rotWithShape="1">
          <a:blip r:embed="rId7">
            <a:alphaModFix/>
          </a:blip>
          <a:srcRect/>
          <a:stretch/>
        </p:blipFill>
        <p:spPr>
          <a:xfrm>
            <a:off x="6597730" y="3323505"/>
            <a:ext cx="1426922" cy="1290167"/>
          </a:xfrm>
          <a:prstGeom prst="ellipse">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120BE6E-CC4C-9095-AE53-3C7017CEA562}"/>
              </a:ext>
            </a:extLst>
          </p:cNvPr>
          <p:cNvPicPr>
            <a:picLocks noChangeAspect="1"/>
          </p:cNvPicPr>
          <p:nvPr/>
        </p:nvPicPr>
        <p:blipFill>
          <a:blip r:embed="rId2"/>
          <a:stretch>
            <a:fillRect/>
          </a:stretch>
        </p:blipFill>
        <p:spPr>
          <a:xfrm>
            <a:off x="-59077" y="0"/>
            <a:ext cx="14689477" cy="8229600"/>
          </a:xfrm>
          <a:prstGeom prst="rect">
            <a:avLst/>
          </a:prstGeom>
        </p:spPr>
      </p:pic>
    </p:spTree>
    <p:extLst>
      <p:ext uri="{BB962C8B-B14F-4D97-AF65-F5344CB8AC3E}">
        <p14:creationId xmlns:p14="http://schemas.microsoft.com/office/powerpoint/2010/main" val="31089104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9"/>
          <p:cNvSpPr/>
          <p:nvPr/>
        </p:nvSpPr>
        <p:spPr>
          <a:xfrm>
            <a:off x="864037" y="1514150"/>
            <a:ext cx="5486400" cy="685800"/>
          </a:xfrm>
          <a:prstGeom prst="rect">
            <a:avLst/>
          </a:prstGeom>
          <a:noFill/>
          <a:ln>
            <a:noFill/>
          </a:ln>
        </p:spPr>
        <p:txBody>
          <a:bodyPr spcFirstLastPara="1" wrap="square" lIns="0" tIns="0" rIns="0" bIns="0" anchor="t" anchorCtr="0">
            <a:noAutofit/>
          </a:bodyPr>
          <a:lstStyle/>
          <a:p>
            <a:pPr marL="0" marR="0" lvl="0" indent="0" algn="l" rtl="0">
              <a:lnSpc>
                <a:spcPct val="125581"/>
              </a:lnSpc>
              <a:spcBef>
                <a:spcPts val="0"/>
              </a:spcBef>
              <a:spcAft>
                <a:spcPts val="0"/>
              </a:spcAft>
              <a:buClr>
                <a:srgbClr val="F0FCFF"/>
              </a:buClr>
              <a:buSzPts val="4300"/>
              <a:buFont typeface="Spline Sans"/>
              <a:buNone/>
            </a:pPr>
            <a:r>
              <a:rPr lang="en-US" sz="4300" b="1">
                <a:solidFill>
                  <a:srgbClr val="F0FCFF"/>
                </a:solidFill>
                <a:latin typeface="Spline Sans"/>
                <a:ea typeface="Spline Sans"/>
                <a:cs typeface="Spline Sans"/>
                <a:sym typeface="Spline Sans"/>
              </a:rPr>
              <a:t>Route Analysis</a:t>
            </a:r>
            <a:endParaRPr sz="4300">
              <a:solidFill>
                <a:schemeClr val="dk1"/>
              </a:solidFill>
              <a:latin typeface="Calibri"/>
              <a:ea typeface="Calibri"/>
              <a:cs typeface="Calibri"/>
              <a:sym typeface="Calibri"/>
            </a:endParaRPr>
          </a:p>
        </p:txBody>
      </p:sp>
      <p:sp>
        <p:nvSpPr>
          <p:cNvPr id="143" name="Google Shape;143;p19"/>
          <p:cNvSpPr/>
          <p:nvPr/>
        </p:nvSpPr>
        <p:spPr>
          <a:xfrm>
            <a:off x="864037" y="2721107"/>
            <a:ext cx="2743200" cy="342900"/>
          </a:xfrm>
          <a:prstGeom prst="rect">
            <a:avLst/>
          </a:prstGeom>
          <a:noFill/>
          <a:ln>
            <a:noFill/>
          </a:ln>
        </p:spPr>
        <p:txBody>
          <a:bodyPr spcFirstLastPara="1" wrap="square" lIns="0" tIns="0" rIns="0" bIns="0" anchor="t" anchorCtr="0">
            <a:noAutofit/>
          </a:bodyPr>
          <a:lstStyle/>
          <a:p>
            <a:pPr marL="0" marR="0" lvl="0" indent="0" algn="l" rtl="0">
              <a:lnSpc>
                <a:spcPct val="125581"/>
              </a:lnSpc>
              <a:spcBef>
                <a:spcPts val="0"/>
              </a:spcBef>
              <a:spcAft>
                <a:spcPts val="0"/>
              </a:spcAft>
              <a:buClr>
                <a:srgbClr val="F0FCFF"/>
              </a:buClr>
              <a:buSzPts val="2150"/>
              <a:buFont typeface="Spline Sans"/>
              <a:buNone/>
            </a:pPr>
            <a:r>
              <a:rPr lang="en-US" sz="2150" b="1">
                <a:solidFill>
                  <a:srgbClr val="F0FCFF"/>
                </a:solidFill>
                <a:latin typeface="Spline Sans"/>
                <a:ea typeface="Spline Sans"/>
                <a:cs typeface="Spline Sans"/>
                <a:sym typeface="Spline Sans"/>
              </a:rPr>
              <a:t>Most Popular Route</a:t>
            </a:r>
            <a:endParaRPr sz="2150">
              <a:solidFill>
                <a:schemeClr val="dk1"/>
              </a:solidFill>
              <a:latin typeface="Calibri"/>
              <a:ea typeface="Calibri"/>
              <a:cs typeface="Calibri"/>
              <a:sym typeface="Calibri"/>
            </a:endParaRPr>
          </a:p>
        </p:txBody>
      </p:sp>
      <p:sp>
        <p:nvSpPr>
          <p:cNvPr id="144" name="Google Shape;144;p19"/>
          <p:cNvSpPr/>
          <p:nvPr/>
        </p:nvSpPr>
        <p:spPr>
          <a:xfrm>
            <a:off x="864037" y="3310823"/>
            <a:ext cx="3898821" cy="790099"/>
          </a:xfrm>
          <a:prstGeom prst="rect">
            <a:avLst/>
          </a:prstGeom>
          <a:noFill/>
          <a:ln>
            <a:noFill/>
          </a:ln>
        </p:spPr>
        <p:txBody>
          <a:bodyPr spcFirstLastPara="1" wrap="square" lIns="0" tIns="0" rIns="0" bIns="0" anchor="t" anchorCtr="0">
            <a:noAutofit/>
          </a:bodyPr>
          <a:lstStyle/>
          <a:p>
            <a:pPr marL="0" marR="0" lvl="0" indent="0" algn="l" rtl="0">
              <a:lnSpc>
                <a:spcPct val="163157"/>
              </a:lnSpc>
              <a:spcBef>
                <a:spcPts val="0"/>
              </a:spcBef>
              <a:spcAft>
                <a:spcPts val="0"/>
              </a:spcAft>
              <a:buClr>
                <a:srgbClr val="E0E4E6"/>
              </a:buClr>
              <a:buSzPts val="1900"/>
              <a:buFont typeface="Barlow"/>
              <a:buNone/>
            </a:pPr>
            <a:r>
              <a:rPr lang="en-US" sz="1900">
                <a:solidFill>
                  <a:srgbClr val="E0E4E6"/>
                </a:solidFill>
                <a:latin typeface="Barlow"/>
                <a:ea typeface="Barlow"/>
                <a:cs typeface="Barlow"/>
                <a:sym typeface="Barlow"/>
              </a:rPr>
              <a:t>Manchester Piccadilly → Liverpool Lime Street (4,628 trips)</a:t>
            </a:r>
            <a:endParaRPr sz="1900">
              <a:solidFill>
                <a:schemeClr val="dk1"/>
              </a:solidFill>
              <a:latin typeface="Calibri"/>
              <a:ea typeface="Calibri"/>
              <a:cs typeface="Calibri"/>
              <a:sym typeface="Calibri"/>
            </a:endParaRPr>
          </a:p>
        </p:txBody>
      </p:sp>
      <p:sp>
        <p:nvSpPr>
          <p:cNvPr id="145" name="Google Shape;145;p19"/>
          <p:cNvSpPr/>
          <p:nvPr/>
        </p:nvSpPr>
        <p:spPr>
          <a:xfrm>
            <a:off x="5372695" y="2721107"/>
            <a:ext cx="2968228" cy="342900"/>
          </a:xfrm>
          <a:prstGeom prst="rect">
            <a:avLst/>
          </a:prstGeom>
          <a:noFill/>
          <a:ln>
            <a:noFill/>
          </a:ln>
        </p:spPr>
        <p:txBody>
          <a:bodyPr spcFirstLastPara="1" wrap="square" lIns="0" tIns="0" rIns="0" bIns="0" anchor="t" anchorCtr="0">
            <a:noAutofit/>
          </a:bodyPr>
          <a:lstStyle/>
          <a:p>
            <a:pPr marL="0" marR="0" lvl="0" indent="0" algn="l" rtl="0">
              <a:lnSpc>
                <a:spcPct val="125581"/>
              </a:lnSpc>
              <a:spcBef>
                <a:spcPts val="0"/>
              </a:spcBef>
              <a:spcAft>
                <a:spcPts val="0"/>
              </a:spcAft>
              <a:buClr>
                <a:srgbClr val="F0FCFF"/>
              </a:buClr>
              <a:buSzPts val="2150"/>
              <a:buFont typeface="Spline Sans"/>
              <a:buNone/>
            </a:pPr>
            <a:r>
              <a:rPr lang="en-US" sz="2150" b="1">
                <a:solidFill>
                  <a:srgbClr val="F0FCFF"/>
                </a:solidFill>
                <a:latin typeface="Spline Sans"/>
                <a:ea typeface="Spline Sans"/>
                <a:cs typeface="Spline Sans"/>
                <a:sym typeface="Spline Sans"/>
              </a:rPr>
              <a:t>Highest Revenue Route</a:t>
            </a:r>
            <a:endParaRPr sz="2150">
              <a:solidFill>
                <a:schemeClr val="dk1"/>
              </a:solidFill>
              <a:latin typeface="Calibri"/>
              <a:ea typeface="Calibri"/>
              <a:cs typeface="Calibri"/>
              <a:sym typeface="Calibri"/>
            </a:endParaRPr>
          </a:p>
        </p:txBody>
      </p:sp>
      <p:sp>
        <p:nvSpPr>
          <p:cNvPr id="146" name="Google Shape;146;p19"/>
          <p:cNvSpPr/>
          <p:nvPr/>
        </p:nvSpPr>
        <p:spPr>
          <a:xfrm>
            <a:off x="5372695" y="3310823"/>
            <a:ext cx="3898821" cy="790099"/>
          </a:xfrm>
          <a:prstGeom prst="rect">
            <a:avLst/>
          </a:prstGeom>
          <a:noFill/>
          <a:ln>
            <a:noFill/>
          </a:ln>
        </p:spPr>
        <p:txBody>
          <a:bodyPr spcFirstLastPara="1" wrap="square" lIns="0" tIns="0" rIns="0" bIns="0" anchor="t" anchorCtr="0">
            <a:noAutofit/>
          </a:bodyPr>
          <a:lstStyle/>
          <a:p>
            <a:pPr marL="0" marR="0" lvl="0" indent="0" algn="l" rtl="0">
              <a:lnSpc>
                <a:spcPct val="163157"/>
              </a:lnSpc>
              <a:spcBef>
                <a:spcPts val="0"/>
              </a:spcBef>
              <a:spcAft>
                <a:spcPts val="0"/>
              </a:spcAft>
              <a:buClr>
                <a:srgbClr val="E0E4E6"/>
              </a:buClr>
              <a:buSzPts val="1900"/>
              <a:buFont typeface="Barlow"/>
              <a:buNone/>
            </a:pPr>
            <a:r>
              <a:rPr lang="en-US" sz="1900">
                <a:solidFill>
                  <a:srgbClr val="E0E4E6"/>
                </a:solidFill>
                <a:latin typeface="Barlow"/>
                <a:ea typeface="Barlow"/>
                <a:cs typeface="Barlow"/>
                <a:sym typeface="Barlow"/>
              </a:rPr>
              <a:t>London Kings Cross → York (£183,459)</a:t>
            </a:r>
            <a:endParaRPr sz="1900">
              <a:solidFill>
                <a:schemeClr val="dk1"/>
              </a:solidFill>
              <a:latin typeface="Calibri"/>
              <a:ea typeface="Calibri"/>
              <a:cs typeface="Calibri"/>
              <a:sym typeface="Calibri"/>
            </a:endParaRPr>
          </a:p>
        </p:txBody>
      </p:sp>
      <p:sp>
        <p:nvSpPr>
          <p:cNvPr id="147" name="Google Shape;147;p19"/>
          <p:cNvSpPr/>
          <p:nvPr/>
        </p:nvSpPr>
        <p:spPr>
          <a:xfrm>
            <a:off x="9881354" y="2721107"/>
            <a:ext cx="2902387" cy="342900"/>
          </a:xfrm>
          <a:prstGeom prst="rect">
            <a:avLst/>
          </a:prstGeom>
          <a:noFill/>
          <a:ln>
            <a:noFill/>
          </a:ln>
        </p:spPr>
        <p:txBody>
          <a:bodyPr spcFirstLastPara="1" wrap="square" lIns="0" tIns="0" rIns="0" bIns="0" anchor="t" anchorCtr="0">
            <a:noAutofit/>
          </a:bodyPr>
          <a:lstStyle/>
          <a:p>
            <a:pPr marL="0" marR="0" lvl="0" indent="0" algn="l" rtl="0">
              <a:lnSpc>
                <a:spcPct val="125581"/>
              </a:lnSpc>
              <a:spcBef>
                <a:spcPts val="0"/>
              </a:spcBef>
              <a:spcAft>
                <a:spcPts val="0"/>
              </a:spcAft>
              <a:buClr>
                <a:srgbClr val="F0FCFF"/>
              </a:buClr>
              <a:buSzPts val="2150"/>
              <a:buFont typeface="Spline Sans"/>
              <a:buNone/>
            </a:pPr>
            <a:r>
              <a:rPr lang="en-US" sz="2150" b="1">
                <a:solidFill>
                  <a:srgbClr val="F0FCFF"/>
                </a:solidFill>
                <a:latin typeface="Spline Sans"/>
                <a:ea typeface="Spline Sans"/>
                <a:cs typeface="Spline Sans"/>
                <a:sym typeface="Spline Sans"/>
              </a:rPr>
              <a:t>Lowest Revenue Route</a:t>
            </a:r>
            <a:endParaRPr sz="2150">
              <a:solidFill>
                <a:schemeClr val="dk1"/>
              </a:solidFill>
              <a:latin typeface="Calibri"/>
              <a:ea typeface="Calibri"/>
              <a:cs typeface="Calibri"/>
              <a:sym typeface="Calibri"/>
            </a:endParaRPr>
          </a:p>
        </p:txBody>
      </p:sp>
      <p:sp>
        <p:nvSpPr>
          <p:cNvPr id="148" name="Google Shape;148;p19"/>
          <p:cNvSpPr/>
          <p:nvPr/>
        </p:nvSpPr>
        <p:spPr>
          <a:xfrm>
            <a:off x="9881354" y="3310823"/>
            <a:ext cx="3898821" cy="395049"/>
          </a:xfrm>
          <a:prstGeom prst="rect">
            <a:avLst/>
          </a:prstGeom>
          <a:noFill/>
          <a:ln>
            <a:noFill/>
          </a:ln>
        </p:spPr>
        <p:txBody>
          <a:bodyPr spcFirstLastPara="1" wrap="square" lIns="0" tIns="0" rIns="0" bIns="0" anchor="t" anchorCtr="0">
            <a:noAutofit/>
          </a:bodyPr>
          <a:lstStyle/>
          <a:p>
            <a:pPr marL="0" marR="0" lvl="0" indent="0" algn="l" rtl="0">
              <a:lnSpc>
                <a:spcPct val="163157"/>
              </a:lnSpc>
              <a:spcBef>
                <a:spcPts val="0"/>
              </a:spcBef>
              <a:spcAft>
                <a:spcPts val="0"/>
              </a:spcAft>
              <a:buClr>
                <a:srgbClr val="E0E4E6"/>
              </a:buClr>
              <a:buSzPts val="1900"/>
              <a:buFont typeface="Barlow"/>
              <a:buNone/>
            </a:pPr>
            <a:r>
              <a:rPr lang="en-US" sz="1900">
                <a:solidFill>
                  <a:srgbClr val="E0E4E6"/>
                </a:solidFill>
                <a:latin typeface="Barlow"/>
                <a:ea typeface="Barlow"/>
                <a:cs typeface="Barlow"/>
                <a:sym typeface="Barlow"/>
              </a:rPr>
              <a:t>London Euston → Oxford (£41)</a:t>
            </a:r>
            <a:endParaRPr sz="1900">
              <a:solidFill>
                <a:schemeClr val="dk1"/>
              </a:solidFill>
              <a:latin typeface="Calibri"/>
              <a:ea typeface="Calibri"/>
              <a:cs typeface="Calibri"/>
              <a:sym typeface="Calibri"/>
            </a:endParaRPr>
          </a:p>
        </p:txBody>
      </p:sp>
      <p:sp>
        <p:nvSpPr>
          <p:cNvPr id="149" name="Google Shape;149;p19"/>
          <p:cNvSpPr/>
          <p:nvPr/>
        </p:nvSpPr>
        <p:spPr>
          <a:xfrm>
            <a:off x="877848" y="6111024"/>
            <a:ext cx="12902327" cy="1185148"/>
          </a:xfrm>
          <a:prstGeom prst="rect">
            <a:avLst/>
          </a:prstGeom>
          <a:noFill/>
          <a:ln>
            <a:noFill/>
          </a:ln>
        </p:spPr>
        <p:txBody>
          <a:bodyPr spcFirstLastPara="1" wrap="square" lIns="0" tIns="0" rIns="0" bIns="0" anchor="t" anchorCtr="0">
            <a:noAutofit/>
          </a:bodyPr>
          <a:lstStyle/>
          <a:p>
            <a:pPr marL="0" marR="0" lvl="0" indent="0" algn="l" rtl="0">
              <a:lnSpc>
                <a:spcPct val="163157"/>
              </a:lnSpc>
              <a:spcBef>
                <a:spcPts val="0"/>
              </a:spcBef>
              <a:spcAft>
                <a:spcPts val="0"/>
              </a:spcAft>
              <a:buClr>
                <a:srgbClr val="E0E4E6"/>
              </a:buClr>
              <a:buSzPts val="1900"/>
              <a:buFont typeface="Barlow"/>
              <a:buNone/>
            </a:pPr>
            <a:r>
              <a:rPr lang="en-US" sz="1900">
                <a:solidFill>
                  <a:srgbClr val="E0E4E6"/>
                </a:solidFill>
                <a:latin typeface="Barlow"/>
                <a:ea typeface="Barlow"/>
                <a:cs typeface="Barlow"/>
                <a:sym typeface="Barlow"/>
              </a:rPr>
              <a:t>Manchester Piccadilly to Liverpool Lime Street is the most popular route with 4,628 trips. London Kings Cross to York generates the highest revenue at £183,459. The lowest revenue route is London Euston to Oxford, with a total revenue of only £41. These insights help identify key areas for route optimization.</a:t>
            </a:r>
            <a:endParaRPr sz="1900">
              <a:solidFill>
                <a:schemeClr val="dk1"/>
              </a:solidFill>
              <a:latin typeface="Calibri"/>
              <a:ea typeface="Calibri"/>
              <a:cs typeface="Calibri"/>
              <a:sym typeface="Calibri"/>
            </a:endParaRPr>
          </a:p>
        </p:txBody>
      </p:sp>
      <p:sp>
        <p:nvSpPr>
          <p:cNvPr id="150" name="Google Shape;150;p19"/>
          <p:cNvSpPr/>
          <p:nvPr/>
        </p:nvSpPr>
        <p:spPr>
          <a:xfrm>
            <a:off x="6503498" y="5013850"/>
            <a:ext cx="2902387" cy="342900"/>
          </a:xfrm>
          <a:prstGeom prst="rect">
            <a:avLst/>
          </a:prstGeom>
          <a:noFill/>
          <a:ln>
            <a:noFill/>
          </a:ln>
        </p:spPr>
        <p:txBody>
          <a:bodyPr spcFirstLastPara="1" wrap="square" lIns="0" tIns="0" rIns="0" bIns="0" anchor="t" anchorCtr="0">
            <a:noAutofit/>
          </a:bodyPr>
          <a:lstStyle/>
          <a:p>
            <a:pPr marL="0" marR="0" lvl="0" indent="0" algn="l" rtl="0">
              <a:lnSpc>
                <a:spcPct val="125581"/>
              </a:lnSpc>
              <a:spcBef>
                <a:spcPts val="0"/>
              </a:spcBef>
              <a:spcAft>
                <a:spcPts val="0"/>
              </a:spcAft>
              <a:buClr>
                <a:srgbClr val="F0FCFF"/>
              </a:buClr>
              <a:buSzPts val="2150"/>
              <a:buFont typeface="Spline Sans"/>
              <a:buNone/>
            </a:pPr>
            <a:r>
              <a:rPr lang="en-US" sz="2150" b="1">
                <a:solidFill>
                  <a:srgbClr val="F0FCFF"/>
                </a:solidFill>
                <a:latin typeface="Spline Sans"/>
                <a:ea typeface="Spline Sans"/>
                <a:cs typeface="Spline Sans"/>
                <a:sym typeface="Spline Sans"/>
              </a:rPr>
              <a:t>Peak revenue hours</a:t>
            </a:r>
            <a:endParaRPr sz="2150">
              <a:solidFill>
                <a:schemeClr val="dk1"/>
              </a:solidFill>
              <a:latin typeface="Calibri"/>
              <a:ea typeface="Calibri"/>
              <a:cs typeface="Calibri"/>
              <a:sym typeface="Calibri"/>
            </a:endParaRPr>
          </a:p>
        </p:txBody>
      </p:sp>
      <p:sp>
        <p:nvSpPr>
          <p:cNvPr id="151" name="Google Shape;151;p19"/>
          <p:cNvSpPr/>
          <p:nvPr/>
        </p:nvSpPr>
        <p:spPr>
          <a:xfrm>
            <a:off x="6955972" y="4324139"/>
            <a:ext cx="1311578" cy="766364"/>
          </a:xfrm>
          <a:prstGeom prst="rect">
            <a:avLst/>
          </a:prstGeom>
          <a:noFill/>
          <a:ln>
            <a:noFill/>
          </a:ln>
        </p:spPr>
        <p:txBody>
          <a:bodyPr spcFirstLastPara="1" wrap="square" lIns="91425" tIns="45700" rIns="91425" bIns="45700" anchor="t" anchorCtr="0">
            <a:noAutofit/>
          </a:bodyPr>
          <a:lstStyle/>
          <a:p>
            <a:pPr marL="0" marR="0" lvl="0" indent="0" algn="ctr" rtl="0">
              <a:lnSpc>
                <a:spcPct val="140000"/>
              </a:lnSpc>
              <a:spcBef>
                <a:spcPts val="0"/>
              </a:spcBef>
              <a:spcAft>
                <a:spcPts val="0"/>
              </a:spcAft>
              <a:buNone/>
            </a:pPr>
            <a:r>
              <a:rPr lang="en-US" sz="4000" b="1">
                <a:solidFill>
                  <a:srgbClr val="37A7E7"/>
                </a:solidFill>
                <a:latin typeface="Spline Sans"/>
                <a:ea typeface="Spline Sans"/>
                <a:cs typeface="Spline Sans"/>
                <a:sym typeface="Spline Sans"/>
              </a:rPr>
              <a:t>6AM</a:t>
            </a:r>
            <a:endParaRPr sz="4000">
              <a:solidFill>
                <a:schemeClr val="dk1"/>
              </a:solidFill>
              <a:latin typeface="Calibri"/>
              <a:ea typeface="Calibri"/>
              <a:cs typeface="Calibri"/>
              <a:sym typeface="Calibri"/>
            </a:endParaRPr>
          </a:p>
        </p:txBody>
      </p:sp>
      <p:sp>
        <p:nvSpPr>
          <p:cNvPr id="152" name="Google Shape;152;p19"/>
          <p:cNvSpPr/>
          <p:nvPr/>
        </p:nvSpPr>
        <p:spPr>
          <a:xfrm>
            <a:off x="6803066" y="5356750"/>
            <a:ext cx="2303249" cy="312363"/>
          </a:xfrm>
          <a:prstGeom prst="rect">
            <a:avLst/>
          </a:prstGeom>
          <a:noFill/>
          <a:ln>
            <a:noFill/>
          </a:ln>
        </p:spPr>
        <p:txBody>
          <a:bodyPr spcFirstLastPara="1" wrap="square" lIns="0" tIns="0" rIns="0" bIns="0" anchor="t" anchorCtr="0">
            <a:noAutofit/>
          </a:bodyPr>
          <a:lstStyle/>
          <a:p>
            <a:pPr marL="0" marR="0" lvl="0" indent="0" algn="l" rtl="0">
              <a:lnSpc>
                <a:spcPct val="163157"/>
              </a:lnSpc>
              <a:spcBef>
                <a:spcPts val="0"/>
              </a:spcBef>
              <a:spcAft>
                <a:spcPts val="0"/>
              </a:spcAft>
              <a:buClr>
                <a:srgbClr val="E0E4E6"/>
              </a:buClr>
              <a:buSzPts val="1900"/>
              <a:buFont typeface="Barlow"/>
              <a:buNone/>
            </a:pPr>
            <a:r>
              <a:rPr lang="en-US" sz="1900">
                <a:solidFill>
                  <a:srgbClr val="E0E4E6"/>
                </a:solidFill>
                <a:latin typeface="Barlow"/>
                <a:ea typeface="Barlow"/>
                <a:cs typeface="Barlow"/>
                <a:sym typeface="Barlow"/>
              </a:rPr>
              <a:t>(1911 trips ) 110712£</a:t>
            </a:r>
            <a:endParaRPr sz="19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960D38-570C-2ED8-3123-B8D52806F9F2}"/>
              </a:ext>
            </a:extLst>
          </p:cNvPr>
          <p:cNvPicPr>
            <a:picLocks noChangeAspect="1"/>
          </p:cNvPicPr>
          <p:nvPr/>
        </p:nvPicPr>
        <p:blipFill>
          <a:blip r:embed="rId2"/>
          <a:stretch>
            <a:fillRect/>
          </a:stretch>
        </p:blipFill>
        <p:spPr>
          <a:xfrm>
            <a:off x="0" y="-36044"/>
            <a:ext cx="14630400" cy="8265644"/>
          </a:xfrm>
          <a:prstGeom prst="rect">
            <a:avLst/>
          </a:prstGeom>
        </p:spPr>
      </p:pic>
    </p:spTree>
    <p:extLst>
      <p:ext uri="{BB962C8B-B14F-4D97-AF65-F5344CB8AC3E}">
        <p14:creationId xmlns:p14="http://schemas.microsoft.com/office/powerpoint/2010/main" val="29839787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pic>
        <p:nvPicPr>
          <p:cNvPr id="158" name="Google Shape;158;p20" descr="preencoded.png"/>
          <p:cNvPicPr preferRelativeResize="0"/>
          <p:nvPr/>
        </p:nvPicPr>
        <p:blipFill rotWithShape="1">
          <a:blip r:embed="rId3">
            <a:alphaModFix/>
          </a:blip>
          <a:srcRect/>
          <a:stretch/>
        </p:blipFill>
        <p:spPr>
          <a:xfrm>
            <a:off x="9144000" y="0"/>
            <a:ext cx="5486400" cy="8229600"/>
          </a:xfrm>
          <a:prstGeom prst="rect">
            <a:avLst/>
          </a:prstGeom>
          <a:noFill/>
          <a:ln>
            <a:noFill/>
          </a:ln>
        </p:spPr>
      </p:pic>
      <p:sp>
        <p:nvSpPr>
          <p:cNvPr id="159" name="Google Shape;159;p20"/>
          <p:cNvSpPr/>
          <p:nvPr/>
        </p:nvSpPr>
        <p:spPr>
          <a:xfrm>
            <a:off x="729258" y="608409"/>
            <a:ext cx="7367826" cy="578763"/>
          </a:xfrm>
          <a:prstGeom prst="rect">
            <a:avLst/>
          </a:prstGeom>
          <a:noFill/>
          <a:ln>
            <a:noFill/>
          </a:ln>
        </p:spPr>
        <p:txBody>
          <a:bodyPr spcFirstLastPara="1" wrap="square" lIns="0" tIns="0" rIns="0" bIns="0" anchor="t" anchorCtr="0">
            <a:noAutofit/>
          </a:bodyPr>
          <a:lstStyle/>
          <a:p>
            <a:pPr marL="0" marR="0" lvl="0" indent="0" algn="l" rtl="0">
              <a:lnSpc>
                <a:spcPct val="126388"/>
              </a:lnSpc>
              <a:spcBef>
                <a:spcPts val="0"/>
              </a:spcBef>
              <a:spcAft>
                <a:spcPts val="0"/>
              </a:spcAft>
              <a:buClr>
                <a:srgbClr val="F0FCFF"/>
              </a:buClr>
              <a:buSzPts val="3600"/>
              <a:buFont typeface="Spline Sans"/>
              <a:buNone/>
            </a:pPr>
            <a:r>
              <a:rPr lang="en-US" sz="3600" b="1">
                <a:solidFill>
                  <a:srgbClr val="F0FCFF"/>
                </a:solidFill>
                <a:latin typeface="Spline Sans"/>
                <a:ea typeface="Spline Sans"/>
                <a:cs typeface="Spline Sans"/>
                <a:sym typeface="Spline Sans"/>
              </a:rPr>
              <a:t>Key Findings &amp; Recommendations</a:t>
            </a:r>
            <a:endParaRPr sz="3600">
              <a:solidFill>
                <a:schemeClr val="dk1"/>
              </a:solidFill>
              <a:latin typeface="Calibri"/>
              <a:ea typeface="Calibri"/>
              <a:cs typeface="Calibri"/>
              <a:sym typeface="Calibri"/>
            </a:endParaRPr>
          </a:p>
        </p:txBody>
      </p:sp>
      <p:sp>
        <p:nvSpPr>
          <p:cNvPr id="160" name="Google Shape;160;p20"/>
          <p:cNvSpPr/>
          <p:nvPr/>
        </p:nvSpPr>
        <p:spPr>
          <a:xfrm>
            <a:off x="729258" y="1734026"/>
            <a:ext cx="468749" cy="468749"/>
          </a:xfrm>
          <a:prstGeom prst="roundRect">
            <a:avLst>
              <a:gd name="adj" fmla="val 66678"/>
            </a:avLst>
          </a:prstGeom>
          <a:solidFill>
            <a:srgbClr val="0A081B"/>
          </a:solidFill>
          <a:ln w="22850" cap="flat" cmpd="sng">
            <a:solidFill>
              <a:srgbClr val="16FFB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1" name="Google Shape;161;p20"/>
          <p:cNvSpPr/>
          <p:nvPr/>
        </p:nvSpPr>
        <p:spPr>
          <a:xfrm>
            <a:off x="824686" y="1794748"/>
            <a:ext cx="277773" cy="347186"/>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E0E4E6"/>
              </a:buClr>
              <a:buSzPts val="2150"/>
              <a:buFont typeface="Spline Sans"/>
              <a:buNone/>
            </a:pPr>
            <a:r>
              <a:rPr lang="en-US" sz="2150" b="1">
                <a:solidFill>
                  <a:srgbClr val="E0E4E6"/>
                </a:solidFill>
                <a:latin typeface="Spline Sans"/>
                <a:ea typeface="Spline Sans"/>
                <a:cs typeface="Spline Sans"/>
                <a:sym typeface="Spline Sans"/>
              </a:rPr>
              <a:t>1</a:t>
            </a:r>
            <a:endParaRPr sz="2150">
              <a:solidFill>
                <a:schemeClr val="dk1"/>
              </a:solidFill>
              <a:latin typeface="Calibri"/>
              <a:ea typeface="Calibri"/>
              <a:cs typeface="Calibri"/>
              <a:sym typeface="Calibri"/>
            </a:endParaRPr>
          </a:p>
        </p:txBody>
      </p:sp>
      <p:sp>
        <p:nvSpPr>
          <p:cNvPr id="162" name="Google Shape;162;p20"/>
          <p:cNvSpPr/>
          <p:nvPr/>
        </p:nvSpPr>
        <p:spPr>
          <a:xfrm>
            <a:off x="1406366" y="1734026"/>
            <a:ext cx="3048595" cy="289441"/>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E0E4E6"/>
              </a:buClr>
              <a:buSzPts val="1800"/>
              <a:buFont typeface="Spline Sans"/>
              <a:buNone/>
            </a:pPr>
            <a:r>
              <a:rPr lang="en-US" sz="1800" b="1">
                <a:solidFill>
                  <a:srgbClr val="E0E4E6"/>
                </a:solidFill>
                <a:latin typeface="Spline Sans"/>
                <a:ea typeface="Spline Sans"/>
                <a:cs typeface="Spline Sans"/>
                <a:sym typeface="Spline Sans"/>
              </a:rPr>
              <a:t>Improve Delay Management</a:t>
            </a:r>
            <a:endParaRPr sz="1800">
              <a:solidFill>
                <a:schemeClr val="dk1"/>
              </a:solidFill>
              <a:latin typeface="Calibri"/>
              <a:ea typeface="Calibri"/>
              <a:cs typeface="Calibri"/>
              <a:sym typeface="Calibri"/>
            </a:endParaRPr>
          </a:p>
        </p:txBody>
      </p:sp>
      <p:sp>
        <p:nvSpPr>
          <p:cNvPr id="163" name="Google Shape;163;p20"/>
          <p:cNvSpPr/>
          <p:nvPr/>
        </p:nvSpPr>
        <p:spPr>
          <a:xfrm>
            <a:off x="1406366" y="2148483"/>
            <a:ext cx="7008376" cy="333375"/>
          </a:xfrm>
          <a:prstGeom prst="rect">
            <a:avLst/>
          </a:prstGeom>
          <a:noFill/>
          <a:ln>
            <a:noFill/>
          </a:ln>
        </p:spPr>
        <p:txBody>
          <a:bodyPr spcFirstLastPara="1" wrap="square" lIns="0" tIns="0" rIns="0" bIns="0" anchor="t" anchorCtr="0">
            <a:noAutofit/>
          </a:bodyPr>
          <a:lstStyle/>
          <a:p>
            <a:pPr marL="0" marR="0" lvl="0" indent="0" algn="l" rtl="0">
              <a:lnSpc>
                <a:spcPct val="162500"/>
              </a:lnSpc>
              <a:spcBef>
                <a:spcPts val="0"/>
              </a:spcBef>
              <a:spcAft>
                <a:spcPts val="0"/>
              </a:spcAft>
              <a:buClr>
                <a:srgbClr val="E0E4E6"/>
              </a:buClr>
              <a:buSzPts val="1600"/>
              <a:buFont typeface="Barlow"/>
              <a:buNone/>
            </a:pPr>
            <a:r>
              <a:rPr lang="en-US" sz="1600">
                <a:solidFill>
                  <a:srgbClr val="E0E4E6"/>
                </a:solidFill>
                <a:latin typeface="Barlow"/>
                <a:ea typeface="Barlow"/>
                <a:cs typeface="Barlow"/>
                <a:sym typeface="Barlow"/>
              </a:rPr>
              <a:t>Invest in infrastructure and contingency planning.</a:t>
            </a:r>
            <a:endParaRPr sz="1600">
              <a:solidFill>
                <a:schemeClr val="dk1"/>
              </a:solidFill>
              <a:latin typeface="Calibri"/>
              <a:ea typeface="Calibri"/>
              <a:cs typeface="Calibri"/>
              <a:sym typeface="Calibri"/>
            </a:endParaRPr>
          </a:p>
        </p:txBody>
      </p:sp>
      <p:sp>
        <p:nvSpPr>
          <p:cNvPr id="164" name="Google Shape;164;p20"/>
          <p:cNvSpPr/>
          <p:nvPr/>
        </p:nvSpPr>
        <p:spPr>
          <a:xfrm>
            <a:off x="729258" y="2924532"/>
            <a:ext cx="468749" cy="468749"/>
          </a:xfrm>
          <a:prstGeom prst="roundRect">
            <a:avLst>
              <a:gd name="adj" fmla="val 66678"/>
            </a:avLst>
          </a:prstGeom>
          <a:solidFill>
            <a:srgbClr val="0A081B"/>
          </a:solidFill>
          <a:ln w="22850" cap="flat" cmpd="sng">
            <a:solidFill>
              <a:srgbClr val="29DDD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5" name="Google Shape;165;p20"/>
          <p:cNvSpPr/>
          <p:nvPr/>
        </p:nvSpPr>
        <p:spPr>
          <a:xfrm>
            <a:off x="824686" y="2985254"/>
            <a:ext cx="277773" cy="347186"/>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E0E4E6"/>
              </a:buClr>
              <a:buSzPts val="2150"/>
              <a:buFont typeface="Spline Sans"/>
              <a:buNone/>
            </a:pPr>
            <a:r>
              <a:rPr lang="en-US" sz="2150" b="1">
                <a:solidFill>
                  <a:srgbClr val="E0E4E6"/>
                </a:solidFill>
                <a:latin typeface="Spline Sans"/>
                <a:ea typeface="Spline Sans"/>
                <a:cs typeface="Spline Sans"/>
                <a:sym typeface="Spline Sans"/>
              </a:rPr>
              <a:t>2</a:t>
            </a:r>
            <a:endParaRPr sz="2150">
              <a:solidFill>
                <a:schemeClr val="dk1"/>
              </a:solidFill>
              <a:latin typeface="Calibri"/>
              <a:ea typeface="Calibri"/>
              <a:cs typeface="Calibri"/>
              <a:sym typeface="Calibri"/>
            </a:endParaRPr>
          </a:p>
        </p:txBody>
      </p:sp>
      <p:sp>
        <p:nvSpPr>
          <p:cNvPr id="166" name="Google Shape;166;p20"/>
          <p:cNvSpPr/>
          <p:nvPr/>
        </p:nvSpPr>
        <p:spPr>
          <a:xfrm>
            <a:off x="1406366" y="2924532"/>
            <a:ext cx="3287673" cy="289441"/>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E0E4E6"/>
              </a:buClr>
              <a:buSzPts val="1800"/>
              <a:buFont typeface="Spline Sans"/>
              <a:buNone/>
            </a:pPr>
            <a:r>
              <a:rPr lang="en-US" sz="1800" b="1">
                <a:solidFill>
                  <a:srgbClr val="E0E4E6"/>
                </a:solidFill>
                <a:latin typeface="Spline Sans"/>
                <a:ea typeface="Spline Sans"/>
                <a:cs typeface="Spline Sans"/>
                <a:sym typeface="Spline Sans"/>
              </a:rPr>
              <a:t>Optimize Low-Revenue Routes</a:t>
            </a:r>
            <a:endParaRPr sz="1800">
              <a:solidFill>
                <a:schemeClr val="dk1"/>
              </a:solidFill>
              <a:latin typeface="Calibri"/>
              <a:ea typeface="Calibri"/>
              <a:cs typeface="Calibri"/>
              <a:sym typeface="Calibri"/>
            </a:endParaRPr>
          </a:p>
        </p:txBody>
      </p:sp>
      <p:sp>
        <p:nvSpPr>
          <p:cNvPr id="167" name="Google Shape;167;p20"/>
          <p:cNvSpPr/>
          <p:nvPr/>
        </p:nvSpPr>
        <p:spPr>
          <a:xfrm>
            <a:off x="1406366" y="3338989"/>
            <a:ext cx="7008376" cy="333375"/>
          </a:xfrm>
          <a:prstGeom prst="rect">
            <a:avLst/>
          </a:prstGeom>
          <a:noFill/>
          <a:ln>
            <a:noFill/>
          </a:ln>
        </p:spPr>
        <p:txBody>
          <a:bodyPr spcFirstLastPara="1" wrap="square" lIns="0" tIns="0" rIns="0" bIns="0" anchor="t" anchorCtr="0">
            <a:noAutofit/>
          </a:bodyPr>
          <a:lstStyle/>
          <a:p>
            <a:pPr marL="0" marR="0" lvl="0" indent="0" algn="l" rtl="0">
              <a:lnSpc>
                <a:spcPct val="162500"/>
              </a:lnSpc>
              <a:spcBef>
                <a:spcPts val="0"/>
              </a:spcBef>
              <a:spcAft>
                <a:spcPts val="0"/>
              </a:spcAft>
              <a:buClr>
                <a:srgbClr val="E0E4E6"/>
              </a:buClr>
              <a:buSzPts val="1600"/>
              <a:buFont typeface="Barlow"/>
              <a:buNone/>
            </a:pPr>
            <a:r>
              <a:rPr lang="en-US" sz="1600">
                <a:solidFill>
                  <a:srgbClr val="E0E4E6"/>
                </a:solidFill>
                <a:latin typeface="Barlow"/>
                <a:ea typeface="Barlow"/>
                <a:cs typeface="Barlow"/>
                <a:sym typeface="Barlow"/>
              </a:rPr>
              <a:t>Adjust pricing or reduce frequency.</a:t>
            </a:r>
            <a:endParaRPr sz="1600">
              <a:solidFill>
                <a:schemeClr val="dk1"/>
              </a:solidFill>
              <a:latin typeface="Calibri"/>
              <a:ea typeface="Calibri"/>
              <a:cs typeface="Calibri"/>
              <a:sym typeface="Calibri"/>
            </a:endParaRPr>
          </a:p>
        </p:txBody>
      </p:sp>
      <p:sp>
        <p:nvSpPr>
          <p:cNvPr id="168" name="Google Shape;168;p20"/>
          <p:cNvSpPr/>
          <p:nvPr/>
        </p:nvSpPr>
        <p:spPr>
          <a:xfrm>
            <a:off x="729258" y="4115038"/>
            <a:ext cx="468749" cy="468749"/>
          </a:xfrm>
          <a:prstGeom prst="roundRect">
            <a:avLst>
              <a:gd name="adj" fmla="val 66678"/>
            </a:avLst>
          </a:prstGeom>
          <a:solidFill>
            <a:srgbClr val="0A081B"/>
          </a:solidFill>
          <a:ln w="22850" cap="flat" cmpd="sng">
            <a:solidFill>
              <a:srgbClr val="37A7E7"/>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9" name="Google Shape;169;p20"/>
          <p:cNvSpPr/>
          <p:nvPr/>
        </p:nvSpPr>
        <p:spPr>
          <a:xfrm>
            <a:off x="824686" y="4175760"/>
            <a:ext cx="277773" cy="347186"/>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E0E4E6"/>
              </a:buClr>
              <a:buSzPts val="2150"/>
              <a:buFont typeface="Spline Sans"/>
              <a:buNone/>
            </a:pPr>
            <a:r>
              <a:rPr lang="en-US" sz="2150" b="1">
                <a:solidFill>
                  <a:srgbClr val="E0E4E6"/>
                </a:solidFill>
                <a:latin typeface="Spline Sans"/>
                <a:ea typeface="Spline Sans"/>
                <a:cs typeface="Spline Sans"/>
                <a:sym typeface="Spline Sans"/>
              </a:rPr>
              <a:t>3</a:t>
            </a:r>
            <a:endParaRPr sz="2150">
              <a:solidFill>
                <a:schemeClr val="dk1"/>
              </a:solidFill>
              <a:latin typeface="Calibri"/>
              <a:ea typeface="Calibri"/>
              <a:cs typeface="Calibri"/>
              <a:sym typeface="Calibri"/>
            </a:endParaRPr>
          </a:p>
        </p:txBody>
      </p:sp>
      <p:sp>
        <p:nvSpPr>
          <p:cNvPr id="170" name="Google Shape;170;p20"/>
          <p:cNvSpPr/>
          <p:nvPr/>
        </p:nvSpPr>
        <p:spPr>
          <a:xfrm>
            <a:off x="1406366" y="4115038"/>
            <a:ext cx="2898934" cy="289441"/>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E0E4E6"/>
              </a:buClr>
              <a:buSzPts val="1800"/>
              <a:buFont typeface="Spline Sans"/>
              <a:buNone/>
            </a:pPr>
            <a:r>
              <a:rPr lang="en-US" sz="1800" b="1">
                <a:solidFill>
                  <a:srgbClr val="E0E4E6"/>
                </a:solidFill>
                <a:latin typeface="Spline Sans"/>
                <a:ea typeface="Spline Sans"/>
                <a:cs typeface="Spline Sans"/>
                <a:sym typeface="Spline Sans"/>
              </a:rPr>
              <a:t>Enhance Peak Hour Pricing</a:t>
            </a:r>
            <a:endParaRPr sz="1800">
              <a:solidFill>
                <a:schemeClr val="dk1"/>
              </a:solidFill>
              <a:latin typeface="Calibri"/>
              <a:ea typeface="Calibri"/>
              <a:cs typeface="Calibri"/>
              <a:sym typeface="Calibri"/>
            </a:endParaRPr>
          </a:p>
        </p:txBody>
      </p:sp>
      <p:sp>
        <p:nvSpPr>
          <p:cNvPr id="171" name="Google Shape;171;p20"/>
          <p:cNvSpPr/>
          <p:nvPr/>
        </p:nvSpPr>
        <p:spPr>
          <a:xfrm>
            <a:off x="1406366" y="4529495"/>
            <a:ext cx="7008376" cy="333375"/>
          </a:xfrm>
          <a:prstGeom prst="rect">
            <a:avLst/>
          </a:prstGeom>
          <a:noFill/>
          <a:ln>
            <a:noFill/>
          </a:ln>
        </p:spPr>
        <p:txBody>
          <a:bodyPr spcFirstLastPara="1" wrap="square" lIns="0" tIns="0" rIns="0" bIns="0" anchor="t" anchorCtr="0">
            <a:noAutofit/>
          </a:bodyPr>
          <a:lstStyle/>
          <a:p>
            <a:pPr marL="0" marR="0" lvl="0" indent="0" algn="l" rtl="0">
              <a:lnSpc>
                <a:spcPct val="162500"/>
              </a:lnSpc>
              <a:spcBef>
                <a:spcPts val="0"/>
              </a:spcBef>
              <a:spcAft>
                <a:spcPts val="0"/>
              </a:spcAft>
              <a:buClr>
                <a:srgbClr val="E0E4E6"/>
              </a:buClr>
              <a:buSzPts val="1600"/>
              <a:buFont typeface="Barlow"/>
              <a:buNone/>
            </a:pPr>
            <a:r>
              <a:rPr lang="en-US" sz="1600">
                <a:solidFill>
                  <a:srgbClr val="E0E4E6"/>
                </a:solidFill>
                <a:latin typeface="Barlow"/>
                <a:ea typeface="Barlow"/>
                <a:cs typeface="Barlow"/>
                <a:sym typeface="Barlow"/>
              </a:rPr>
              <a:t>Implement dynamic pricing models.</a:t>
            </a:r>
            <a:endParaRPr sz="1600">
              <a:solidFill>
                <a:schemeClr val="dk1"/>
              </a:solidFill>
              <a:latin typeface="Calibri"/>
              <a:ea typeface="Calibri"/>
              <a:cs typeface="Calibri"/>
              <a:sym typeface="Calibri"/>
            </a:endParaRPr>
          </a:p>
        </p:txBody>
      </p:sp>
      <p:sp>
        <p:nvSpPr>
          <p:cNvPr id="172" name="Google Shape;172;p20"/>
          <p:cNvSpPr/>
          <p:nvPr/>
        </p:nvSpPr>
        <p:spPr>
          <a:xfrm>
            <a:off x="729258" y="5305544"/>
            <a:ext cx="468749" cy="468749"/>
          </a:xfrm>
          <a:prstGeom prst="roundRect">
            <a:avLst>
              <a:gd name="adj" fmla="val 66678"/>
            </a:avLst>
          </a:prstGeom>
          <a:solidFill>
            <a:srgbClr val="0A081B"/>
          </a:solidFill>
          <a:ln w="22850" cap="flat" cmpd="sng">
            <a:solidFill>
              <a:srgbClr val="09123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3" name="Google Shape;173;p20"/>
          <p:cNvSpPr/>
          <p:nvPr/>
        </p:nvSpPr>
        <p:spPr>
          <a:xfrm>
            <a:off x="824686" y="5366266"/>
            <a:ext cx="277773" cy="347186"/>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E0E4E6"/>
              </a:buClr>
              <a:buSzPts val="2150"/>
              <a:buFont typeface="Spline Sans"/>
              <a:buNone/>
            </a:pPr>
            <a:r>
              <a:rPr lang="en-US" sz="2150" b="1">
                <a:solidFill>
                  <a:srgbClr val="E0E4E6"/>
                </a:solidFill>
                <a:latin typeface="Spline Sans"/>
                <a:ea typeface="Spline Sans"/>
                <a:cs typeface="Spline Sans"/>
                <a:sym typeface="Spline Sans"/>
              </a:rPr>
              <a:t>4</a:t>
            </a:r>
            <a:endParaRPr sz="2150">
              <a:solidFill>
                <a:schemeClr val="dk1"/>
              </a:solidFill>
              <a:latin typeface="Calibri"/>
              <a:ea typeface="Calibri"/>
              <a:cs typeface="Calibri"/>
              <a:sym typeface="Calibri"/>
            </a:endParaRPr>
          </a:p>
        </p:txBody>
      </p:sp>
      <p:sp>
        <p:nvSpPr>
          <p:cNvPr id="174" name="Google Shape;174;p20"/>
          <p:cNvSpPr/>
          <p:nvPr/>
        </p:nvSpPr>
        <p:spPr>
          <a:xfrm>
            <a:off x="1406366" y="5305544"/>
            <a:ext cx="2315170" cy="289441"/>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E0E4E6"/>
              </a:buClr>
              <a:buSzPts val="1800"/>
              <a:buFont typeface="Spline Sans"/>
              <a:buNone/>
            </a:pPr>
            <a:r>
              <a:rPr lang="en-US" sz="1800" b="1">
                <a:solidFill>
                  <a:srgbClr val="E0E4E6"/>
                </a:solidFill>
                <a:latin typeface="Spline Sans"/>
                <a:ea typeface="Spline Sans"/>
                <a:cs typeface="Spline Sans"/>
                <a:sym typeface="Spline Sans"/>
              </a:rPr>
              <a:t>Boost Online Sales</a:t>
            </a:r>
            <a:endParaRPr sz="1800">
              <a:solidFill>
                <a:schemeClr val="dk1"/>
              </a:solidFill>
              <a:latin typeface="Calibri"/>
              <a:ea typeface="Calibri"/>
              <a:cs typeface="Calibri"/>
              <a:sym typeface="Calibri"/>
            </a:endParaRPr>
          </a:p>
        </p:txBody>
      </p:sp>
      <p:sp>
        <p:nvSpPr>
          <p:cNvPr id="175" name="Google Shape;175;p20"/>
          <p:cNvSpPr/>
          <p:nvPr/>
        </p:nvSpPr>
        <p:spPr>
          <a:xfrm>
            <a:off x="1406366" y="5720001"/>
            <a:ext cx="7008376" cy="333375"/>
          </a:xfrm>
          <a:prstGeom prst="rect">
            <a:avLst/>
          </a:prstGeom>
          <a:noFill/>
          <a:ln>
            <a:noFill/>
          </a:ln>
        </p:spPr>
        <p:txBody>
          <a:bodyPr spcFirstLastPara="1" wrap="square" lIns="0" tIns="0" rIns="0" bIns="0" anchor="t" anchorCtr="0">
            <a:noAutofit/>
          </a:bodyPr>
          <a:lstStyle/>
          <a:p>
            <a:pPr marL="0" marR="0" lvl="0" indent="0" algn="l" rtl="0">
              <a:lnSpc>
                <a:spcPct val="162500"/>
              </a:lnSpc>
              <a:spcBef>
                <a:spcPts val="0"/>
              </a:spcBef>
              <a:spcAft>
                <a:spcPts val="0"/>
              </a:spcAft>
              <a:buClr>
                <a:srgbClr val="E0E4E6"/>
              </a:buClr>
              <a:buSzPts val="1600"/>
              <a:buFont typeface="Barlow"/>
              <a:buNone/>
            </a:pPr>
            <a:r>
              <a:rPr lang="en-US" sz="1600">
                <a:solidFill>
                  <a:srgbClr val="E0E4E6"/>
                </a:solidFill>
                <a:latin typeface="Barlow"/>
                <a:ea typeface="Barlow"/>
                <a:cs typeface="Barlow"/>
                <a:sym typeface="Barlow"/>
              </a:rPr>
              <a:t>Through digital marketing and promotions.</a:t>
            </a:r>
            <a:endParaRPr sz="1600">
              <a:solidFill>
                <a:schemeClr val="dk1"/>
              </a:solidFill>
              <a:latin typeface="Calibri"/>
              <a:ea typeface="Calibri"/>
              <a:cs typeface="Calibri"/>
              <a:sym typeface="Calibri"/>
            </a:endParaRPr>
          </a:p>
        </p:txBody>
      </p:sp>
      <p:sp>
        <p:nvSpPr>
          <p:cNvPr id="176" name="Google Shape;176;p20"/>
          <p:cNvSpPr/>
          <p:nvPr/>
        </p:nvSpPr>
        <p:spPr>
          <a:xfrm>
            <a:off x="729258" y="6287691"/>
            <a:ext cx="7685484" cy="1333500"/>
          </a:xfrm>
          <a:prstGeom prst="rect">
            <a:avLst/>
          </a:prstGeom>
          <a:noFill/>
          <a:ln>
            <a:noFill/>
          </a:ln>
        </p:spPr>
        <p:txBody>
          <a:bodyPr spcFirstLastPara="1" wrap="square" lIns="0" tIns="0" rIns="0" bIns="0" anchor="t" anchorCtr="0">
            <a:noAutofit/>
          </a:bodyPr>
          <a:lstStyle/>
          <a:p>
            <a:pPr marL="0" marR="0" lvl="0" indent="0" algn="l" rtl="0">
              <a:lnSpc>
                <a:spcPct val="162500"/>
              </a:lnSpc>
              <a:spcBef>
                <a:spcPts val="0"/>
              </a:spcBef>
              <a:spcAft>
                <a:spcPts val="0"/>
              </a:spcAft>
              <a:buClr>
                <a:srgbClr val="E0E4E6"/>
              </a:buClr>
              <a:buSzPts val="1600"/>
              <a:buFont typeface="Barlow"/>
              <a:buNone/>
            </a:pPr>
            <a:r>
              <a:rPr lang="en-US" sz="1600">
                <a:solidFill>
                  <a:srgbClr val="E0E4E6"/>
                </a:solidFill>
                <a:latin typeface="Barlow"/>
                <a:ea typeface="Barlow"/>
                <a:cs typeface="Barlow"/>
                <a:sym typeface="Barlow"/>
              </a:rPr>
              <a:t>Key recommendations include improving delay management through infrastructure investments, optimizing low-revenue routes by adjusting pricing, enhancing peak hour pricing with dynamic models, and boosting online ticket sales through digital marketing. These strategies aim to enhance service and increase revenue.</a:t>
            </a:r>
            <a:endParaRPr sz="16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pic>
        <p:nvPicPr>
          <p:cNvPr id="3" name="Picture 2">
            <a:extLst>
              <a:ext uri="{FF2B5EF4-FFF2-40B4-BE49-F238E27FC236}">
                <a16:creationId xmlns:a16="http://schemas.microsoft.com/office/drawing/2014/main" id="{ADEB64E9-9B20-5BE4-7ACB-AA63CA3B3D3D}"/>
              </a:ext>
            </a:extLst>
          </p:cNvPr>
          <p:cNvPicPr>
            <a:picLocks noChangeAspect="1"/>
          </p:cNvPicPr>
          <p:nvPr/>
        </p:nvPicPr>
        <p:blipFill>
          <a:blip r:embed="rId3"/>
          <a:stretch>
            <a:fillRect/>
          </a:stretch>
        </p:blipFill>
        <p:spPr>
          <a:xfrm>
            <a:off x="0" y="0"/>
            <a:ext cx="14630400" cy="826346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pic>
        <p:nvPicPr>
          <p:cNvPr id="187" name="Google Shape;187;p22" descr="preencoded.png"/>
          <p:cNvPicPr preferRelativeResize="0"/>
          <p:nvPr/>
        </p:nvPicPr>
        <p:blipFill rotWithShape="1">
          <a:blip r:embed="rId3">
            <a:alphaModFix/>
          </a:blip>
          <a:srcRect/>
          <a:stretch/>
        </p:blipFill>
        <p:spPr>
          <a:xfrm>
            <a:off x="9144000" y="0"/>
            <a:ext cx="5486400" cy="8229600"/>
          </a:xfrm>
          <a:prstGeom prst="rect">
            <a:avLst/>
          </a:prstGeom>
          <a:noFill/>
          <a:ln>
            <a:noFill/>
          </a:ln>
        </p:spPr>
      </p:pic>
      <p:sp>
        <p:nvSpPr>
          <p:cNvPr id="188" name="Google Shape;188;p22"/>
          <p:cNvSpPr/>
          <p:nvPr/>
        </p:nvSpPr>
        <p:spPr>
          <a:xfrm>
            <a:off x="864037" y="884634"/>
            <a:ext cx="5486400" cy="685800"/>
          </a:xfrm>
          <a:prstGeom prst="rect">
            <a:avLst/>
          </a:prstGeom>
          <a:noFill/>
          <a:ln>
            <a:noFill/>
          </a:ln>
        </p:spPr>
        <p:txBody>
          <a:bodyPr spcFirstLastPara="1" wrap="square" lIns="0" tIns="0" rIns="0" bIns="0" anchor="t" anchorCtr="0">
            <a:noAutofit/>
          </a:bodyPr>
          <a:lstStyle/>
          <a:p>
            <a:pPr marL="0" marR="0" lvl="0" indent="0" algn="l" rtl="0">
              <a:lnSpc>
                <a:spcPct val="125581"/>
              </a:lnSpc>
              <a:spcBef>
                <a:spcPts val="0"/>
              </a:spcBef>
              <a:spcAft>
                <a:spcPts val="0"/>
              </a:spcAft>
              <a:buClr>
                <a:srgbClr val="F0FCFF"/>
              </a:buClr>
              <a:buSzPts val="4300"/>
              <a:buFont typeface="Spline Sans"/>
              <a:buNone/>
            </a:pPr>
            <a:r>
              <a:rPr lang="en-US" sz="4300" b="1" dirty="0">
                <a:solidFill>
                  <a:srgbClr val="F0FCFF"/>
                </a:solidFill>
                <a:latin typeface="Spline Sans"/>
                <a:ea typeface="Spline Sans"/>
                <a:cs typeface="Spline Sans"/>
                <a:sym typeface="Spline Sans"/>
              </a:rPr>
              <a:t>Conclusion</a:t>
            </a:r>
            <a:endParaRPr sz="4300" dirty="0">
              <a:solidFill>
                <a:schemeClr val="dk1"/>
              </a:solidFill>
              <a:latin typeface="Calibri"/>
              <a:ea typeface="Calibri"/>
              <a:cs typeface="Calibri"/>
              <a:sym typeface="Calibri"/>
            </a:endParaRPr>
          </a:p>
        </p:txBody>
      </p:sp>
      <p:sp>
        <p:nvSpPr>
          <p:cNvPr id="189" name="Google Shape;189;p22"/>
          <p:cNvSpPr/>
          <p:nvPr/>
        </p:nvSpPr>
        <p:spPr>
          <a:xfrm>
            <a:off x="864037" y="2139553"/>
            <a:ext cx="7415927" cy="5632847"/>
          </a:xfrm>
          <a:prstGeom prst="rect">
            <a:avLst/>
          </a:prstGeom>
          <a:noFill/>
          <a:ln>
            <a:noFill/>
          </a:ln>
        </p:spPr>
        <p:txBody>
          <a:bodyPr spcFirstLastPara="1" wrap="square" lIns="0" tIns="0" rIns="0" bIns="0" anchor="t" anchorCtr="0">
            <a:noAutofit/>
          </a:bodyPr>
          <a:lstStyle/>
          <a:p>
            <a:pPr marL="0" marR="0" lvl="0" indent="0" algn="l" rtl="0">
              <a:lnSpc>
                <a:spcPct val="163157"/>
              </a:lnSpc>
              <a:spcBef>
                <a:spcPts val="0"/>
              </a:spcBef>
              <a:spcAft>
                <a:spcPts val="0"/>
              </a:spcAft>
              <a:buClr>
                <a:srgbClr val="E0E4E6"/>
              </a:buClr>
              <a:buSzPts val="1900"/>
              <a:buFont typeface="Barlow"/>
              <a:buNone/>
            </a:pPr>
            <a:r>
              <a:rPr lang="en-US" sz="2800" dirty="0">
                <a:solidFill>
                  <a:srgbClr val="E0E4E6"/>
                </a:solidFill>
                <a:latin typeface="Barlow"/>
                <a:ea typeface="Barlow"/>
                <a:cs typeface="Barlow"/>
                <a:sym typeface="Barlow"/>
              </a:rPr>
              <a:t>Our analysis provides valuable insights into train punctuality, revenue trends, customer preferences, and route profitability.</a:t>
            </a:r>
          </a:p>
          <a:p>
            <a:pPr marL="0" marR="0" lvl="0" indent="0" algn="l" rtl="0">
              <a:lnSpc>
                <a:spcPct val="163157"/>
              </a:lnSpc>
              <a:spcBef>
                <a:spcPts val="0"/>
              </a:spcBef>
              <a:spcAft>
                <a:spcPts val="0"/>
              </a:spcAft>
              <a:buClr>
                <a:srgbClr val="E0E4E6"/>
              </a:buClr>
              <a:buSzPts val="1900"/>
              <a:buFont typeface="Barlow"/>
              <a:buNone/>
            </a:pPr>
            <a:r>
              <a:rPr lang="en-US" sz="2800" dirty="0">
                <a:solidFill>
                  <a:srgbClr val="E0E4E6"/>
                </a:solidFill>
                <a:latin typeface="Barlow"/>
                <a:ea typeface="Barlow"/>
                <a:cs typeface="Barlow"/>
                <a:sym typeface="Barlow"/>
              </a:rPr>
              <a:t>By leveraging these findings, UK rail operators can enhance service efficiency, optimize pricing strategies, and improve passenger satisfaction. These improvements will lead to a better overall experience.</a:t>
            </a:r>
            <a:endParaRPr sz="2800" dirty="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30486-428B-754A-1D7E-65423315E9BC}"/>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990AD26A-F4F3-619C-9F73-4CB51D22B40E}"/>
              </a:ext>
            </a:extLst>
          </p:cNvPr>
          <p:cNvSpPr txBox="1"/>
          <p:nvPr/>
        </p:nvSpPr>
        <p:spPr>
          <a:xfrm>
            <a:off x="3848279" y="5205821"/>
            <a:ext cx="6933841" cy="740203"/>
          </a:xfrm>
          <a:prstGeom prst="rect">
            <a:avLst/>
          </a:prstGeom>
          <a:noFill/>
        </p:spPr>
        <p:txBody>
          <a:bodyPr wrap="square">
            <a:spAutoFit/>
          </a:bodyPr>
          <a:lstStyle/>
          <a:p>
            <a:pPr marL="0" marR="0">
              <a:lnSpc>
                <a:spcPct val="107000"/>
              </a:lnSpc>
              <a:spcAft>
                <a:spcPts val="800"/>
              </a:spcAft>
              <a:buNone/>
            </a:pPr>
            <a:r>
              <a:rPr lang="en-US" sz="4000" dirty="0">
                <a:solidFill>
                  <a:schemeClr val="tx1"/>
                </a:solidFill>
                <a:effectLst/>
                <a:latin typeface="MV Boli" panose="02000500030200090000" pitchFamily="2" charset="0"/>
                <a:ea typeface="Aptos" panose="020B0004020202020204" pitchFamily="34" charset="0"/>
                <a:cs typeface="MV Boli" panose="02000500030200090000" pitchFamily="2" charset="0"/>
              </a:rPr>
              <a:t>📢 We’re happy to discuss!</a:t>
            </a:r>
            <a:endParaRPr lang="en-US" sz="3200" dirty="0">
              <a:solidFill>
                <a:schemeClr val="tx1"/>
              </a:solidFill>
              <a:effectLst/>
              <a:latin typeface="Arial" panose="020B0604020202020204" pitchFamily="34" charset="0"/>
              <a:ea typeface="Arial" panose="020B0604020202020204" pitchFamily="34" charset="0"/>
            </a:endParaRPr>
          </a:p>
        </p:txBody>
      </p:sp>
      <p:sp>
        <p:nvSpPr>
          <p:cNvPr id="17" name="TextBox 16">
            <a:extLst>
              <a:ext uri="{FF2B5EF4-FFF2-40B4-BE49-F238E27FC236}">
                <a16:creationId xmlns:a16="http://schemas.microsoft.com/office/drawing/2014/main" id="{2AD82A11-A6C8-9F8D-0AD6-C8DC8E6C722F}"/>
              </a:ext>
            </a:extLst>
          </p:cNvPr>
          <p:cNvSpPr txBox="1"/>
          <p:nvPr/>
        </p:nvSpPr>
        <p:spPr>
          <a:xfrm>
            <a:off x="5117473" y="3984813"/>
            <a:ext cx="4600575" cy="943463"/>
          </a:xfrm>
          <a:prstGeom prst="rect">
            <a:avLst/>
          </a:prstGeom>
          <a:noFill/>
        </p:spPr>
        <p:txBody>
          <a:bodyPr wrap="square">
            <a:spAutoFit/>
          </a:bodyPr>
          <a:lstStyle/>
          <a:p>
            <a:pPr marL="0" marR="0" algn="ctr">
              <a:lnSpc>
                <a:spcPct val="107000"/>
              </a:lnSpc>
              <a:spcAft>
                <a:spcPts val="800"/>
              </a:spcAft>
              <a:buNone/>
            </a:pPr>
            <a:r>
              <a:rPr lang="en-US" sz="5400" dirty="0">
                <a:solidFill>
                  <a:schemeClr val="accent6"/>
                </a:solidFill>
                <a:latin typeface="Aptos" panose="020B0004020202020204" pitchFamily="34" charset="0"/>
                <a:ea typeface="Arial" panose="020B0604020202020204" pitchFamily="34" charset="0"/>
              </a:rPr>
              <a:t>Q &amp; A</a:t>
            </a:r>
            <a:endParaRPr lang="en-US" sz="4800" dirty="0">
              <a:solidFill>
                <a:schemeClr val="accent6"/>
              </a:solidFill>
              <a:effectLst/>
              <a:latin typeface="Arial" panose="020B0604020202020204" pitchFamily="34" charset="0"/>
              <a:ea typeface="Arial" panose="020B0604020202020204" pitchFamily="34" charset="0"/>
            </a:endParaRPr>
          </a:p>
        </p:txBody>
      </p:sp>
      <p:pic>
        <p:nvPicPr>
          <p:cNvPr id="11" name="Picture 10" descr="A logo with graphics and text&#10;&#10;AI-generated content may be incorrect.">
            <a:extLst>
              <a:ext uri="{FF2B5EF4-FFF2-40B4-BE49-F238E27FC236}">
                <a16:creationId xmlns:a16="http://schemas.microsoft.com/office/drawing/2014/main" id="{E8ECC628-53BB-9EEB-EF95-8F2EB9D62A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04496" y="653586"/>
            <a:ext cx="2304641" cy="2143605"/>
          </a:xfrm>
          <a:prstGeom prst="rect">
            <a:avLst/>
          </a:prstGeom>
        </p:spPr>
      </p:pic>
      <p:pic>
        <p:nvPicPr>
          <p:cNvPr id="12" name="Picture 11" descr="A logo with a train and mountains&#10;&#10;AI-generated content may be incorrect.">
            <a:extLst>
              <a:ext uri="{FF2B5EF4-FFF2-40B4-BE49-F238E27FC236}">
                <a16:creationId xmlns:a16="http://schemas.microsoft.com/office/drawing/2014/main" id="{CFCFE0B4-ED96-7B88-D771-7E5A2D09FEFF}"/>
              </a:ext>
            </a:extLst>
          </p:cNvPr>
          <p:cNvPicPr>
            <a:picLocks noChangeAspect="1"/>
          </p:cNvPicPr>
          <p:nvPr/>
        </p:nvPicPr>
        <p:blipFill>
          <a:blip r:embed="rId3"/>
          <a:stretch>
            <a:fillRect/>
          </a:stretch>
        </p:blipFill>
        <p:spPr>
          <a:xfrm>
            <a:off x="955130" y="652715"/>
            <a:ext cx="2475897" cy="2144476"/>
          </a:xfrm>
          <a:prstGeom prst="rect">
            <a:avLst/>
          </a:prstGeom>
        </p:spPr>
      </p:pic>
      <p:sp>
        <p:nvSpPr>
          <p:cNvPr id="2" name="TextBox 1">
            <a:extLst>
              <a:ext uri="{FF2B5EF4-FFF2-40B4-BE49-F238E27FC236}">
                <a16:creationId xmlns:a16="http://schemas.microsoft.com/office/drawing/2014/main" id="{52F2A928-1AEB-BE8F-EBF0-1CC81046F66C}"/>
              </a:ext>
            </a:extLst>
          </p:cNvPr>
          <p:cNvSpPr txBox="1"/>
          <p:nvPr/>
        </p:nvSpPr>
        <p:spPr>
          <a:xfrm>
            <a:off x="5364729" y="1176020"/>
            <a:ext cx="3900940" cy="867097"/>
          </a:xfrm>
          <a:prstGeom prst="rect">
            <a:avLst/>
          </a:prstGeom>
          <a:noFill/>
        </p:spPr>
        <p:txBody>
          <a:bodyPr wrap="square">
            <a:spAutoFit/>
          </a:bodyPr>
          <a:lstStyle>
            <a:defPPr>
              <a:defRPr lang="en-US"/>
            </a:defPPr>
            <a:lvl1pPr marL="0" algn="l" defTabSz="548640" rtl="0" eaLnBrk="1" latinLnBrk="0" hangingPunct="1">
              <a:defRPr sz="2160" kern="1200">
                <a:solidFill>
                  <a:schemeClr val="tx1"/>
                </a:solidFill>
                <a:latin typeface="+mn-lt"/>
                <a:ea typeface="+mn-ea"/>
                <a:cs typeface="+mn-cs"/>
              </a:defRPr>
            </a:lvl1pPr>
            <a:lvl2pPr marL="548640" algn="l" defTabSz="548640" rtl="0" eaLnBrk="1" latinLnBrk="0" hangingPunct="1">
              <a:defRPr sz="2160" kern="1200">
                <a:solidFill>
                  <a:schemeClr val="tx1"/>
                </a:solidFill>
                <a:latin typeface="+mn-lt"/>
                <a:ea typeface="+mn-ea"/>
                <a:cs typeface="+mn-cs"/>
              </a:defRPr>
            </a:lvl2pPr>
            <a:lvl3pPr marL="1097280" algn="l" defTabSz="548640" rtl="0" eaLnBrk="1" latinLnBrk="0" hangingPunct="1">
              <a:defRPr sz="2160" kern="1200">
                <a:solidFill>
                  <a:schemeClr val="tx1"/>
                </a:solidFill>
                <a:latin typeface="+mn-lt"/>
                <a:ea typeface="+mn-ea"/>
                <a:cs typeface="+mn-cs"/>
              </a:defRPr>
            </a:lvl3pPr>
            <a:lvl4pPr marL="1645920" algn="l" defTabSz="548640" rtl="0" eaLnBrk="1" latinLnBrk="0" hangingPunct="1">
              <a:defRPr sz="2160" kern="1200">
                <a:solidFill>
                  <a:schemeClr val="tx1"/>
                </a:solidFill>
                <a:latin typeface="+mn-lt"/>
                <a:ea typeface="+mn-ea"/>
                <a:cs typeface="+mn-cs"/>
              </a:defRPr>
            </a:lvl4pPr>
            <a:lvl5pPr marL="2194560" algn="l" defTabSz="548640" rtl="0" eaLnBrk="1" latinLnBrk="0" hangingPunct="1">
              <a:defRPr sz="2160" kern="1200">
                <a:solidFill>
                  <a:schemeClr val="tx1"/>
                </a:solidFill>
                <a:latin typeface="+mn-lt"/>
                <a:ea typeface="+mn-ea"/>
                <a:cs typeface="+mn-cs"/>
              </a:defRPr>
            </a:lvl5pPr>
            <a:lvl6pPr marL="2743200" algn="l" defTabSz="548640" rtl="0" eaLnBrk="1" latinLnBrk="0" hangingPunct="1">
              <a:defRPr sz="2160" kern="1200">
                <a:solidFill>
                  <a:schemeClr val="tx1"/>
                </a:solidFill>
                <a:latin typeface="+mn-lt"/>
                <a:ea typeface="+mn-ea"/>
                <a:cs typeface="+mn-cs"/>
              </a:defRPr>
            </a:lvl6pPr>
            <a:lvl7pPr marL="3291840" algn="l" defTabSz="548640" rtl="0" eaLnBrk="1" latinLnBrk="0" hangingPunct="1">
              <a:defRPr sz="2160" kern="1200">
                <a:solidFill>
                  <a:schemeClr val="tx1"/>
                </a:solidFill>
                <a:latin typeface="+mn-lt"/>
                <a:ea typeface="+mn-ea"/>
                <a:cs typeface="+mn-cs"/>
              </a:defRPr>
            </a:lvl7pPr>
            <a:lvl8pPr marL="3840480" algn="l" defTabSz="548640" rtl="0" eaLnBrk="1" latinLnBrk="0" hangingPunct="1">
              <a:defRPr sz="2160" kern="1200">
                <a:solidFill>
                  <a:schemeClr val="tx1"/>
                </a:solidFill>
                <a:latin typeface="+mn-lt"/>
                <a:ea typeface="+mn-ea"/>
                <a:cs typeface="+mn-cs"/>
              </a:defRPr>
            </a:lvl8pPr>
            <a:lvl9pPr marL="4389120" algn="l" defTabSz="548640" rtl="0" eaLnBrk="1" latinLnBrk="0" hangingPunct="1">
              <a:defRPr sz="2160" kern="1200">
                <a:solidFill>
                  <a:schemeClr val="tx1"/>
                </a:solidFill>
                <a:latin typeface="+mn-lt"/>
                <a:ea typeface="+mn-ea"/>
                <a:cs typeface="+mn-cs"/>
              </a:defRPr>
            </a:lvl9pPr>
          </a:lstStyle>
          <a:p>
            <a:pPr marL="0" marR="0" lvl="0" indent="0" algn="ctr" rtl="0">
              <a:lnSpc>
                <a:spcPct val="125581"/>
              </a:lnSpc>
              <a:spcBef>
                <a:spcPts val="0"/>
              </a:spcBef>
              <a:spcAft>
                <a:spcPts val="0"/>
              </a:spcAft>
              <a:buClr>
                <a:srgbClr val="F0FCFF"/>
              </a:buClr>
              <a:buSzPts val="4300"/>
              <a:buFont typeface="Spline Sans"/>
              <a:buNone/>
            </a:pPr>
            <a:r>
              <a:rPr lang="en-US" sz="4400" b="1" i="0" u="none" strike="noStrike" cap="none" dirty="0">
                <a:solidFill>
                  <a:srgbClr val="F0FCFF"/>
                </a:solidFill>
                <a:latin typeface="ADLaM Display" panose="020F0502020204030204" pitchFamily="2" charset="0"/>
                <a:ea typeface="ADLaM Display" panose="020F0502020204030204" pitchFamily="2" charset="0"/>
                <a:cs typeface="ADLaM Display" panose="020F0502020204030204" pitchFamily="2" charset="0"/>
                <a:sym typeface="Spline Sans"/>
              </a:rPr>
              <a:t>Project Idea 6</a:t>
            </a:r>
          </a:p>
        </p:txBody>
      </p:sp>
      <p:sp>
        <p:nvSpPr>
          <p:cNvPr id="3" name="TextBox 2">
            <a:extLst>
              <a:ext uri="{FF2B5EF4-FFF2-40B4-BE49-F238E27FC236}">
                <a16:creationId xmlns:a16="http://schemas.microsoft.com/office/drawing/2014/main" id="{1606D61C-E1D6-9916-4D8E-D697D2554690}"/>
              </a:ext>
            </a:extLst>
          </p:cNvPr>
          <p:cNvSpPr txBox="1"/>
          <p:nvPr/>
        </p:nvSpPr>
        <p:spPr>
          <a:xfrm>
            <a:off x="3626597" y="2223765"/>
            <a:ext cx="7582329" cy="1146852"/>
          </a:xfrm>
          <a:prstGeom prst="rect">
            <a:avLst/>
          </a:prstGeom>
          <a:noFill/>
        </p:spPr>
        <p:txBody>
          <a:bodyPr wrap="square">
            <a:spAutoFit/>
          </a:bodyPr>
          <a:lstStyle/>
          <a:p>
            <a:pPr marL="0" marR="0" lvl="0" indent="0" algn="ctr" rtl="0">
              <a:lnSpc>
                <a:spcPct val="125581"/>
              </a:lnSpc>
              <a:spcBef>
                <a:spcPts val="0"/>
              </a:spcBef>
              <a:spcAft>
                <a:spcPts val="0"/>
              </a:spcAft>
              <a:buClr>
                <a:srgbClr val="F0FCFF"/>
              </a:buClr>
              <a:buSzPts val="4300"/>
              <a:buFont typeface="Spline Sans"/>
              <a:buNone/>
            </a:pPr>
            <a:r>
              <a:rPr lang="en-US" sz="6000" b="1" i="0" u="none" strike="noStrike" cap="none" spc="600" dirty="0">
                <a:solidFill>
                  <a:srgbClr val="F0FCFF"/>
                </a:solidFill>
                <a:latin typeface="Bookman Old Style" panose="02050604050505020204" pitchFamily="18" charset="0"/>
                <a:ea typeface="Spline Sans"/>
                <a:cs typeface="Spline Sans"/>
                <a:sym typeface="Spline Sans"/>
              </a:rPr>
              <a:t>UK Train Rides</a:t>
            </a:r>
          </a:p>
        </p:txBody>
      </p:sp>
    </p:spTree>
    <p:extLst>
      <p:ext uri="{BB962C8B-B14F-4D97-AF65-F5344CB8AC3E}">
        <p14:creationId xmlns:p14="http://schemas.microsoft.com/office/powerpoint/2010/main" val="41225723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222E8-80EF-2371-6881-00191651B1EE}"/>
            </a:ext>
          </a:extLst>
        </p:cNvPr>
        <p:cNvGrpSpPr/>
        <p:nvPr/>
      </p:nvGrpSpPr>
      <p:grpSpPr>
        <a:xfrm>
          <a:off x="0" y="0"/>
          <a:ext cx="0" cy="0"/>
          <a:chOff x="0" y="0"/>
          <a:chExt cx="0" cy="0"/>
        </a:xfrm>
      </p:grpSpPr>
      <p:sp>
        <p:nvSpPr>
          <p:cNvPr id="24" name="Rectangle: Rounded Corners 23">
            <a:extLst>
              <a:ext uri="{FF2B5EF4-FFF2-40B4-BE49-F238E27FC236}">
                <a16:creationId xmlns:a16="http://schemas.microsoft.com/office/drawing/2014/main" id="{ED4C3B2D-5C74-63D6-0B68-2A7F1675FFE9}"/>
              </a:ext>
            </a:extLst>
          </p:cNvPr>
          <p:cNvSpPr/>
          <p:nvPr/>
        </p:nvSpPr>
        <p:spPr>
          <a:xfrm>
            <a:off x="7524748" y="4913198"/>
            <a:ext cx="2761979" cy="1440748"/>
          </a:xfrm>
          <a:prstGeom prst="roundRect">
            <a:avLst>
              <a:gd name="adj" fmla="val 50000"/>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3600" b="1" dirty="0"/>
              <a:t>Kareman Mohamed</a:t>
            </a:r>
          </a:p>
        </p:txBody>
      </p:sp>
      <p:sp>
        <p:nvSpPr>
          <p:cNvPr id="23" name="Rectangle: Rounded Corners 22">
            <a:extLst>
              <a:ext uri="{FF2B5EF4-FFF2-40B4-BE49-F238E27FC236}">
                <a16:creationId xmlns:a16="http://schemas.microsoft.com/office/drawing/2014/main" id="{C2CFC76A-FB59-A6ED-AF2A-9C3870B308E1}"/>
              </a:ext>
            </a:extLst>
          </p:cNvPr>
          <p:cNvSpPr/>
          <p:nvPr/>
        </p:nvSpPr>
        <p:spPr>
          <a:xfrm>
            <a:off x="4093896" y="4913198"/>
            <a:ext cx="2761979" cy="1440748"/>
          </a:xfrm>
          <a:prstGeom prst="roundRect">
            <a:avLst>
              <a:gd name="adj" fmla="val 50000"/>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3600" b="1" dirty="0"/>
              <a:t>Fatma Alzahraa </a:t>
            </a:r>
          </a:p>
        </p:txBody>
      </p:sp>
      <p:sp>
        <p:nvSpPr>
          <p:cNvPr id="22" name="Rectangle: Rounded Corners 21">
            <a:extLst>
              <a:ext uri="{FF2B5EF4-FFF2-40B4-BE49-F238E27FC236}">
                <a16:creationId xmlns:a16="http://schemas.microsoft.com/office/drawing/2014/main" id="{320C3F39-4C8A-804E-9C64-15F9324667C1}"/>
              </a:ext>
            </a:extLst>
          </p:cNvPr>
          <p:cNvSpPr/>
          <p:nvPr/>
        </p:nvSpPr>
        <p:spPr>
          <a:xfrm>
            <a:off x="10999159" y="4913198"/>
            <a:ext cx="2761979" cy="1440748"/>
          </a:xfrm>
          <a:prstGeom prst="roundRect">
            <a:avLst>
              <a:gd name="adj" fmla="val 50000"/>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3200" b="1" dirty="0"/>
              <a:t>Heba Tallah Talaat </a:t>
            </a:r>
          </a:p>
        </p:txBody>
      </p:sp>
      <p:sp>
        <p:nvSpPr>
          <p:cNvPr id="15" name="TextBox 14">
            <a:extLst>
              <a:ext uri="{FF2B5EF4-FFF2-40B4-BE49-F238E27FC236}">
                <a16:creationId xmlns:a16="http://schemas.microsoft.com/office/drawing/2014/main" id="{AABD3149-4016-9B71-7D07-D731ED6EE255}"/>
              </a:ext>
            </a:extLst>
          </p:cNvPr>
          <p:cNvSpPr txBox="1"/>
          <p:nvPr/>
        </p:nvSpPr>
        <p:spPr>
          <a:xfrm>
            <a:off x="5861670" y="2164224"/>
            <a:ext cx="3625230" cy="750975"/>
          </a:xfrm>
          <a:prstGeom prst="rect">
            <a:avLst/>
          </a:prstGeom>
          <a:noFill/>
        </p:spPr>
        <p:txBody>
          <a:bodyPr wrap="square">
            <a:spAutoFit/>
          </a:bodyPr>
          <a:lstStyle/>
          <a:p>
            <a:pPr marL="0" marR="0">
              <a:lnSpc>
                <a:spcPct val="107000"/>
              </a:lnSpc>
              <a:spcAft>
                <a:spcPts val="800"/>
              </a:spcAft>
              <a:buNone/>
            </a:pPr>
            <a:r>
              <a:rPr lang="en-US" sz="4000" dirty="0">
                <a:solidFill>
                  <a:schemeClr val="tx1"/>
                </a:solidFill>
                <a:effectLst/>
                <a:latin typeface="MV Boli" panose="02000500030200090000" pitchFamily="2" charset="0"/>
                <a:ea typeface="Arial" panose="020B0604020202020204" pitchFamily="34" charset="0"/>
                <a:cs typeface="MV Boli" panose="02000500030200090000" pitchFamily="2" charset="0"/>
              </a:rPr>
              <a:t>Elite Team</a:t>
            </a:r>
          </a:p>
        </p:txBody>
      </p:sp>
      <p:pic>
        <p:nvPicPr>
          <p:cNvPr id="7" name="Picture 6" descr="1745359888449">
            <a:extLst>
              <a:ext uri="{FF2B5EF4-FFF2-40B4-BE49-F238E27FC236}">
                <a16:creationId xmlns:a16="http://schemas.microsoft.com/office/drawing/2014/main" id="{A42C9647-CB6D-23E1-7C42-B4356BEC4546}"/>
              </a:ext>
            </a:extLst>
          </p:cNvPr>
          <p:cNvPicPr>
            <a:picLocks noGrp="1" noChangeAspect="1"/>
          </p:cNvPicPr>
          <p:nvPr isPhoto="1"/>
        </p:nvPicPr>
        <p:blipFill>
          <a:blip r:embed="rId2">
            <a:extLst>
              <a:ext uri="{28A0092B-C50C-407E-A947-70E740481C1C}">
                <a14:useLocalDpi xmlns:a14="http://schemas.microsoft.com/office/drawing/2010/main" val="0"/>
              </a:ext>
            </a:extLst>
          </a:blip>
          <a:srcRect r="6" b="6"/>
          <a:stretch>
            <a:fillRect/>
          </a:stretch>
        </p:blipFill>
        <p:spPr>
          <a:xfrm>
            <a:off x="11413567" y="3171053"/>
            <a:ext cx="1887493" cy="1887493"/>
          </a:xfrm>
          <a:custGeom>
            <a:avLst/>
            <a:gdLst/>
            <a:ahLst/>
            <a:cxnLst/>
            <a:rect l="l" t="t" r="r" b="b"/>
            <a:pathLst>
              <a:path w="2849586" h="2849586">
                <a:moveTo>
                  <a:pt x="1424793" y="0"/>
                </a:moveTo>
                <a:cubicBezTo>
                  <a:pt x="2211684" y="0"/>
                  <a:pt x="2849586" y="637902"/>
                  <a:pt x="2849586" y="1424793"/>
                </a:cubicBezTo>
                <a:cubicBezTo>
                  <a:pt x="2849586" y="2211684"/>
                  <a:pt x="2211684" y="2849586"/>
                  <a:pt x="1424793" y="2849586"/>
                </a:cubicBezTo>
                <a:cubicBezTo>
                  <a:pt x="637902" y="2849586"/>
                  <a:pt x="0" y="2211684"/>
                  <a:pt x="0" y="1424793"/>
                </a:cubicBezTo>
                <a:cubicBezTo>
                  <a:pt x="0" y="637902"/>
                  <a:pt x="637902" y="0"/>
                  <a:pt x="1424793" y="0"/>
                </a:cubicBezTo>
                <a:close/>
              </a:path>
            </a:pathLst>
          </a:custGeom>
        </p:spPr>
      </p:pic>
      <p:pic>
        <p:nvPicPr>
          <p:cNvPr id="8" name="Picture 7" descr="A person wearing a pink jacket and glasses&#10;&#10;AI-generated content may be incorrect.">
            <a:extLst>
              <a:ext uri="{FF2B5EF4-FFF2-40B4-BE49-F238E27FC236}">
                <a16:creationId xmlns:a16="http://schemas.microsoft.com/office/drawing/2014/main" id="{115B40B6-449B-A50F-B69E-C8D08FDA67D3}"/>
              </a:ext>
            </a:extLst>
          </p:cNvPr>
          <p:cNvPicPr>
            <a:picLocks noGrp="1" noChangeAspect="1"/>
          </p:cNvPicPr>
          <p:nvPr isPhoto="1"/>
        </p:nvPicPr>
        <p:blipFill>
          <a:blip r:embed="rId3"/>
          <a:srcRect b="10000"/>
          <a:stretch>
            <a:fillRect/>
          </a:stretch>
        </p:blipFill>
        <p:spPr>
          <a:xfrm>
            <a:off x="4437352" y="3171053"/>
            <a:ext cx="1887493" cy="1887493"/>
          </a:xfrm>
          <a:custGeom>
            <a:avLst/>
            <a:gdLst/>
            <a:ahLst/>
            <a:cxnLst/>
            <a:rect l="l" t="t" r="r" b="b"/>
            <a:pathLst>
              <a:path w="2849586" h="2849586">
                <a:moveTo>
                  <a:pt x="1424793" y="0"/>
                </a:moveTo>
                <a:cubicBezTo>
                  <a:pt x="2211684" y="0"/>
                  <a:pt x="2849586" y="637902"/>
                  <a:pt x="2849586" y="1424793"/>
                </a:cubicBezTo>
                <a:cubicBezTo>
                  <a:pt x="2849586" y="2211684"/>
                  <a:pt x="2211684" y="2849586"/>
                  <a:pt x="1424793" y="2849586"/>
                </a:cubicBezTo>
                <a:cubicBezTo>
                  <a:pt x="637902" y="2849586"/>
                  <a:pt x="0" y="2211684"/>
                  <a:pt x="0" y="1424793"/>
                </a:cubicBezTo>
                <a:cubicBezTo>
                  <a:pt x="0" y="637902"/>
                  <a:pt x="637902" y="0"/>
                  <a:pt x="1424793" y="0"/>
                </a:cubicBezTo>
                <a:close/>
              </a:path>
            </a:pathLst>
          </a:custGeom>
        </p:spPr>
      </p:pic>
      <p:sp>
        <p:nvSpPr>
          <p:cNvPr id="13" name="Rectangle: Rounded Corners 12">
            <a:extLst>
              <a:ext uri="{FF2B5EF4-FFF2-40B4-BE49-F238E27FC236}">
                <a16:creationId xmlns:a16="http://schemas.microsoft.com/office/drawing/2014/main" id="{B7DB2363-B785-D5E5-7736-4F0AFD46295C}"/>
              </a:ext>
            </a:extLst>
          </p:cNvPr>
          <p:cNvSpPr/>
          <p:nvPr/>
        </p:nvSpPr>
        <p:spPr>
          <a:xfrm>
            <a:off x="663044" y="4913198"/>
            <a:ext cx="2761979" cy="1440748"/>
          </a:xfrm>
          <a:prstGeom prst="roundRect">
            <a:avLst>
              <a:gd name="adj" fmla="val 50000"/>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3600" b="1" dirty="0"/>
              <a:t>Ahmed Hussein</a:t>
            </a:r>
          </a:p>
        </p:txBody>
      </p:sp>
      <p:pic>
        <p:nvPicPr>
          <p:cNvPr id="9" name="Picture 8" descr="1738272503951">
            <a:extLst>
              <a:ext uri="{FF2B5EF4-FFF2-40B4-BE49-F238E27FC236}">
                <a16:creationId xmlns:a16="http://schemas.microsoft.com/office/drawing/2014/main" id="{1BE93493-AF08-6C15-0621-BC7C8F91D4B9}"/>
              </a:ext>
            </a:extLst>
          </p:cNvPr>
          <p:cNvPicPr>
            <a:picLocks noGrp="1" noChangeAspect="1"/>
          </p:cNvPicPr>
          <p:nvPr isPhoto="1"/>
        </p:nvPicPr>
        <p:blipFill>
          <a:blip r:embed="rId4">
            <a:extLst>
              <a:ext uri="{28A0092B-C50C-407E-A947-70E740481C1C}">
                <a14:useLocalDpi xmlns:a14="http://schemas.microsoft.com/office/drawing/2010/main" val="0"/>
              </a:ext>
            </a:extLst>
          </a:blip>
          <a:srcRect r="6" b="6"/>
          <a:stretch>
            <a:fillRect/>
          </a:stretch>
        </p:blipFill>
        <p:spPr>
          <a:xfrm>
            <a:off x="7925460" y="3171053"/>
            <a:ext cx="1887492" cy="1887493"/>
          </a:xfrm>
          <a:custGeom>
            <a:avLst/>
            <a:gdLst/>
            <a:ahLst/>
            <a:cxnLst/>
            <a:rect l="l" t="t" r="r" b="b"/>
            <a:pathLst>
              <a:path w="2849586" h="2849586">
                <a:moveTo>
                  <a:pt x="1424793" y="0"/>
                </a:moveTo>
                <a:cubicBezTo>
                  <a:pt x="2211684" y="0"/>
                  <a:pt x="2849586" y="637902"/>
                  <a:pt x="2849586" y="1424793"/>
                </a:cubicBezTo>
                <a:cubicBezTo>
                  <a:pt x="2849586" y="2211684"/>
                  <a:pt x="2211684" y="2849586"/>
                  <a:pt x="1424793" y="2849586"/>
                </a:cubicBezTo>
                <a:cubicBezTo>
                  <a:pt x="637902" y="2849586"/>
                  <a:pt x="0" y="2211684"/>
                  <a:pt x="0" y="1424793"/>
                </a:cubicBezTo>
                <a:cubicBezTo>
                  <a:pt x="0" y="637902"/>
                  <a:pt x="637902" y="0"/>
                  <a:pt x="1424793" y="0"/>
                </a:cubicBezTo>
                <a:close/>
              </a:path>
            </a:pathLst>
          </a:custGeom>
        </p:spPr>
      </p:pic>
      <p:pic>
        <p:nvPicPr>
          <p:cNvPr id="10" name="Picture 9" descr="1688306462681">
            <a:extLst>
              <a:ext uri="{FF2B5EF4-FFF2-40B4-BE49-F238E27FC236}">
                <a16:creationId xmlns:a16="http://schemas.microsoft.com/office/drawing/2014/main" id="{84205997-5EFD-7B9A-A918-4AA1BF14280F}"/>
              </a:ext>
            </a:extLst>
          </p:cNvPr>
          <p:cNvPicPr>
            <a:picLocks noGrp="1" noChangeAspect="1"/>
          </p:cNvPicPr>
          <p:nvPr isPhoto="1"/>
        </p:nvPicPr>
        <p:blipFill>
          <a:blip r:embed="rId5">
            <a:extLst>
              <a:ext uri="{28A0092B-C50C-407E-A947-70E740481C1C}">
                <a14:useLocalDpi xmlns:a14="http://schemas.microsoft.com/office/drawing/2010/main" val="0"/>
              </a:ext>
            </a:extLst>
          </a:blip>
          <a:srcRect r="6" b="6"/>
          <a:stretch>
            <a:fillRect/>
          </a:stretch>
        </p:blipFill>
        <p:spPr>
          <a:xfrm>
            <a:off x="1118220" y="3171053"/>
            <a:ext cx="1887493" cy="1887493"/>
          </a:xfrm>
          <a:custGeom>
            <a:avLst/>
            <a:gdLst/>
            <a:ahLst/>
            <a:cxnLst/>
            <a:rect l="l" t="t" r="r" b="b"/>
            <a:pathLst>
              <a:path w="2849586" h="2849586">
                <a:moveTo>
                  <a:pt x="1424793" y="0"/>
                </a:moveTo>
                <a:cubicBezTo>
                  <a:pt x="2211684" y="0"/>
                  <a:pt x="2849586" y="637902"/>
                  <a:pt x="2849586" y="1424793"/>
                </a:cubicBezTo>
                <a:cubicBezTo>
                  <a:pt x="2849586" y="2211684"/>
                  <a:pt x="2211684" y="2849586"/>
                  <a:pt x="1424793" y="2849586"/>
                </a:cubicBezTo>
                <a:cubicBezTo>
                  <a:pt x="637902" y="2849586"/>
                  <a:pt x="0" y="2211684"/>
                  <a:pt x="0" y="1424793"/>
                </a:cubicBezTo>
                <a:cubicBezTo>
                  <a:pt x="0" y="637902"/>
                  <a:pt x="637902" y="0"/>
                  <a:pt x="1424793" y="0"/>
                </a:cubicBezTo>
                <a:close/>
              </a:path>
            </a:pathLst>
          </a:custGeom>
        </p:spPr>
      </p:pic>
      <p:sp>
        <p:nvSpPr>
          <p:cNvPr id="25" name="TextBox 24">
            <a:extLst>
              <a:ext uri="{FF2B5EF4-FFF2-40B4-BE49-F238E27FC236}">
                <a16:creationId xmlns:a16="http://schemas.microsoft.com/office/drawing/2014/main" id="{9EE4B946-9307-3300-9507-B17E088AE6DD}"/>
              </a:ext>
            </a:extLst>
          </p:cNvPr>
          <p:cNvSpPr txBox="1"/>
          <p:nvPr/>
        </p:nvSpPr>
        <p:spPr>
          <a:xfrm>
            <a:off x="4208196" y="590958"/>
            <a:ext cx="6095999" cy="1077218"/>
          </a:xfrm>
          <a:prstGeom prst="rect">
            <a:avLst/>
          </a:prstGeom>
          <a:noFill/>
        </p:spPr>
        <p:txBody>
          <a:bodyPr wrap="square">
            <a:spAutoFit/>
          </a:bodyPr>
          <a:lstStyle/>
          <a:p>
            <a:pPr algn="ctr"/>
            <a:r>
              <a:rPr lang="en-US" sz="3200" dirty="0">
                <a:solidFill>
                  <a:schemeClr val="accent6"/>
                </a:solidFill>
              </a:rPr>
              <a:t>Google Data Analyst Specialist</a:t>
            </a:r>
            <a:br>
              <a:rPr lang="en-US" sz="3200" dirty="0">
                <a:solidFill>
                  <a:schemeClr val="accent6"/>
                </a:solidFill>
              </a:rPr>
            </a:br>
            <a:r>
              <a:rPr lang="en-US" sz="3200" dirty="0">
                <a:solidFill>
                  <a:schemeClr val="accent6"/>
                </a:solidFill>
              </a:rPr>
              <a:t>CLS ONL2_DAT1_G2</a:t>
            </a:r>
          </a:p>
        </p:txBody>
      </p:sp>
      <p:pic>
        <p:nvPicPr>
          <p:cNvPr id="2" name="Picture 1" descr="A logo with graphics and text&#10;&#10;AI-generated content may be incorrect.">
            <a:extLst>
              <a:ext uri="{FF2B5EF4-FFF2-40B4-BE49-F238E27FC236}">
                <a16:creationId xmlns:a16="http://schemas.microsoft.com/office/drawing/2014/main" id="{0472DCF5-ADA3-B015-D1DD-9906C542BAA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404496" y="653586"/>
            <a:ext cx="2304641" cy="2143605"/>
          </a:xfrm>
          <a:prstGeom prst="rect">
            <a:avLst/>
          </a:prstGeom>
        </p:spPr>
      </p:pic>
      <p:pic>
        <p:nvPicPr>
          <p:cNvPr id="3" name="Picture 2" descr="A logo with a train and mountains&#10;&#10;AI-generated content may be incorrect.">
            <a:extLst>
              <a:ext uri="{FF2B5EF4-FFF2-40B4-BE49-F238E27FC236}">
                <a16:creationId xmlns:a16="http://schemas.microsoft.com/office/drawing/2014/main" id="{5C9359EF-A0EF-5BD1-F8A1-977D9E16D97D}"/>
              </a:ext>
            </a:extLst>
          </p:cNvPr>
          <p:cNvPicPr>
            <a:picLocks noChangeAspect="1"/>
          </p:cNvPicPr>
          <p:nvPr/>
        </p:nvPicPr>
        <p:blipFill>
          <a:blip r:embed="rId7"/>
          <a:stretch>
            <a:fillRect/>
          </a:stretch>
        </p:blipFill>
        <p:spPr>
          <a:xfrm>
            <a:off x="955130" y="652715"/>
            <a:ext cx="2475897" cy="2144476"/>
          </a:xfrm>
          <a:prstGeom prst="rect">
            <a:avLst/>
          </a:prstGeom>
        </p:spPr>
      </p:pic>
    </p:spTree>
    <p:extLst>
      <p:ext uri="{BB962C8B-B14F-4D97-AF65-F5344CB8AC3E}">
        <p14:creationId xmlns:p14="http://schemas.microsoft.com/office/powerpoint/2010/main" val="33779185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096BC-60AC-867C-ADB3-A03C96E1C0D1}"/>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23F98140-1381-EA4A-D85C-140805CBD5B9}"/>
              </a:ext>
            </a:extLst>
          </p:cNvPr>
          <p:cNvSpPr txBox="1"/>
          <p:nvPr/>
        </p:nvSpPr>
        <p:spPr>
          <a:xfrm>
            <a:off x="6362788" y="4114800"/>
            <a:ext cx="1904822" cy="740203"/>
          </a:xfrm>
          <a:prstGeom prst="rect">
            <a:avLst/>
          </a:prstGeom>
          <a:noFill/>
        </p:spPr>
        <p:txBody>
          <a:bodyPr wrap="square">
            <a:spAutoFit/>
          </a:bodyPr>
          <a:lstStyle/>
          <a:p>
            <a:pPr marL="0" marR="0">
              <a:lnSpc>
                <a:spcPct val="107000"/>
              </a:lnSpc>
              <a:spcAft>
                <a:spcPts val="800"/>
              </a:spcAft>
              <a:buNone/>
            </a:pPr>
            <a:r>
              <a:rPr lang="en-US" sz="4000" dirty="0">
                <a:solidFill>
                  <a:schemeClr val="tx1"/>
                </a:solidFill>
                <a:latin typeface="MV Boli" panose="02000500030200090000" pitchFamily="2" charset="0"/>
                <a:ea typeface="Arial" panose="020B0604020202020204" pitchFamily="34" charset="0"/>
                <a:cs typeface="MV Boli" panose="02000500030200090000" pitchFamily="2" charset="0"/>
              </a:rPr>
              <a:t>Thanks</a:t>
            </a:r>
            <a:endParaRPr lang="en-US" sz="3200" dirty="0">
              <a:solidFill>
                <a:schemeClr val="tx1"/>
              </a:solidFill>
              <a:effectLst/>
              <a:latin typeface="Arial" panose="020B0604020202020204" pitchFamily="34" charset="0"/>
              <a:ea typeface="Arial" panose="020B0604020202020204" pitchFamily="34" charset="0"/>
            </a:endParaRPr>
          </a:p>
        </p:txBody>
      </p:sp>
      <p:pic>
        <p:nvPicPr>
          <p:cNvPr id="11" name="Picture 10" descr="A logo with graphics and text&#10;&#10;AI-generated content may be incorrect.">
            <a:extLst>
              <a:ext uri="{FF2B5EF4-FFF2-40B4-BE49-F238E27FC236}">
                <a16:creationId xmlns:a16="http://schemas.microsoft.com/office/drawing/2014/main" id="{FBE5D9F0-0BD1-F15F-DE2C-20E92058D3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04496" y="653586"/>
            <a:ext cx="2304641" cy="2143605"/>
          </a:xfrm>
          <a:prstGeom prst="rect">
            <a:avLst/>
          </a:prstGeom>
        </p:spPr>
      </p:pic>
      <p:pic>
        <p:nvPicPr>
          <p:cNvPr id="12" name="Picture 11" descr="A logo with a train and mountains&#10;&#10;AI-generated content may be incorrect.">
            <a:extLst>
              <a:ext uri="{FF2B5EF4-FFF2-40B4-BE49-F238E27FC236}">
                <a16:creationId xmlns:a16="http://schemas.microsoft.com/office/drawing/2014/main" id="{6BF1CE17-C82F-C50F-F296-01AEEAFAF5F1}"/>
              </a:ext>
            </a:extLst>
          </p:cNvPr>
          <p:cNvPicPr>
            <a:picLocks noChangeAspect="1"/>
          </p:cNvPicPr>
          <p:nvPr/>
        </p:nvPicPr>
        <p:blipFill>
          <a:blip r:embed="rId3"/>
          <a:stretch>
            <a:fillRect/>
          </a:stretch>
        </p:blipFill>
        <p:spPr>
          <a:xfrm>
            <a:off x="955130" y="652715"/>
            <a:ext cx="2475897" cy="2144476"/>
          </a:xfrm>
          <a:prstGeom prst="rect">
            <a:avLst/>
          </a:prstGeom>
        </p:spPr>
      </p:pic>
      <p:sp>
        <p:nvSpPr>
          <p:cNvPr id="2" name="TextBox 1">
            <a:extLst>
              <a:ext uri="{FF2B5EF4-FFF2-40B4-BE49-F238E27FC236}">
                <a16:creationId xmlns:a16="http://schemas.microsoft.com/office/drawing/2014/main" id="{19300553-55CE-AC3D-C1D0-7C984393C9DC}"/>
              </a:ext>
            </a:extLst>
          </p:cNvPr>
          <p:cNvSpPr txBox="1"/>
          <p:nvPr/>
        </p:nvSpPr>
        <p:spPr>
          <a:xfrm>
            <a:off x="4267199" y="2095908"/>
            <a:ext cx="6095999" cy="1077218"/>
          </a:xfrm>
          <a:prstGeom prst="rect">
            <a:avLst/>
          </a:prstGeom>
          <a:noFill/>
        </p:spPr>
        <p:txBody>
          <a:bodyPr wrap="square">
            <a:spAutoFit/>
          </a:bodyPr>
          <a:lstStyle/>
          <a:p>
            <a:pPr algn="ctr"/>
            <a:r>
              <a:rPr lang="en-US" sz="3200" dirty="0">
                <a:solidFill>
                  <a:schemeClr val="accent6"/>
                </a:solidFill>
              </a:rPr>
              <a:t>Google Data Analyst Specialist</a:t>
            </a:r>
            <a:br>
              <a:rPr lang="en-US" sz="3200" dirty="0">
                <a:solidFill>
                  <a:schemeClr val="accent6"/>
                </a:solidFill>
              </a:rPr>
            </a:br>
            <a:r>
              <a:rPr lang="en-US" sz="3200" dirty="0">
                <a:solidFill>
                  <a:schemeClr val="accent6"/>
                </a:solidFill>
              </a:rPr>
              <a:t>CLS ONL2_DAT1_G2</a:t>
            </a:r>
          </a:p>
        </p:txBody>
      </p:sp>
    </p:spTree>
    <p:extLst>
      <p:ext uri="{BB962C8B-B14F-4D97-AF65-F5344CB8AC3E}">
        <p14:creationId xmlns:p14="http://schemas.microsoft.com/office/powerpoint/2010/main" val="1071670135"/>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elestial">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3.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415</TotalTime>
  <Words>746</Words>
  <Application>Microsoft Office PowerPoint</Application>
  <PresentationFormat>Custom</PresentationFormat>
  <Paragraphs>109</Paragraphs>
  <Slides>20</Slides>
  <Notes>11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20</vt:i4>
      </vt:variant>
    </vt:vector>
  </HeadingPairs>
  <TitlesOfParts>
    <vt:vector size="31" baseType="lpstr">
      <vt:lpstr>Calibri Light</vt:lpstr>
      <vt:lpstr>ADLaM Display</vt:lpstr>
      <vt:lpstr>Arial</vt:lpstr>
      <vt:lpstr>MV Boli</vt:lpstr>
      <vt:lpstr>Spline Sans</vt:lpstr>
      <vt:lpstr>Bookman Old Style</vt:lpstr>
      <vt:lpstr>Calibri</vt:lpstr>
      <vt:lpstr>Aptos</vt:lpstr>
      <vt:lpstr>Barlow</vt:lpstr>
      <vt:lpstr>Office Theme</vt:lpstr>
      <vt:lpstr>Celestial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D.mohamed</dc:creator>
  <cp:lastModifiedBy>ahmed hussein ali mustafa</cp:lastModifiedBy>
  <cp:revision>28</cp:revision>
  <dcterms:modified xsi:type="dcterms:W3CDTF">2025-05-26T04:53:25Z</dcterms:modified>
</cp:coreProperties>
</file>