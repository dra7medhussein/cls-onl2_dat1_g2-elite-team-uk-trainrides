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8229600" cx="14630400"/>
  <p:notesSz cx="8229600" cy="14630400"/>
  <p:embeddedFontLst>
    <p:embeddedFont>
      <p:font typeface="Spline Sans"/>
      <p:bold r:id="rId17"/>
    </p:embeddedFont>
    <p:embeddedFont>
      <p:font typeface="Barlow"/>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Barlow-italic.fntdata"/><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font" Target="fonts/Barlow-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SplineSans-bold.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Barlow-bold.fntdata"/><Relationship Id="rId6" Type="http://schemas.openxmlformats.org/officeDocument/2006/relationships/slide" Target="slides/slide2.xml"/><Relationship Id="rId18" Type="http://schemas.openxmlformats.org/officeDocument/2006/relationships/font" Target="fonts/Barlow-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2" name="Google Shape;42;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3" name="Google Shape;53;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6" name="Google Shape;7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5: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1" name="Google Shape;101;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8" name="Google Shape;118;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0" name="Google Shape;14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56" name="Google Shape;15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txBox="1"/>
          <p:nvPr>
            <p:ph idx="1" type="body"/>
          </p:nvPr>
        </p:nvSpPr>
        <p:spPr>
          <a:xfrm>
            <a:off x="822950" y="6949425"/>
            <a:ext cx="6583675" cy="6583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notes"/>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5" name="Google Shape;18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6" name="Shape 6"/>
        <p:cNvGrpSpPr/>
        <p:nvPr/>
      </p:nvGrpSpPr>
      <p:grpSpPr>
        <a:xfrm>
          <a:off x="0" y="0"/>
          <a:ext cx="0" cy="0"/>
          <a:chOff x="0" y="0"/>
          <a:chExt cx="0" cy="0"/>
        </a:xfrm>
      </p:grpSpPr>
      <p:pic>
        <p:nvPicPr>
          <p:cNvPr descr="preencoded.png" id="7" name="Google Shape;7;p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8" name="Google Shape;8;p2"/>
          <p:cNvSpPr/>
          <p:nvPr/>
        </p:nvSpPr>
        <p:spPr>
          <a:xfrm>
            <a:off x="0" y="0"/>
            <a:ext cx="14630400" cy="8229600"/>
          </a:xfrm>
          <a:prstGeom prst="rect">
            <a:avLst/>
          </a:prstGeom>
          <a:solidFill>
            <a:srgbClr val="0A081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 name="Google Shape;9;p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0" name="Shape 10"/>
        <p:cNvGrpSpPr/>
        <p:nvPr/>
      </p:nvGrpSpPr>
      <p:grpSpPr>
        <a:xfrm>
          <a:off x="0" y="0"/>
          <a:ext cx="0" cy="0"/>
          <a:chOff x="0" y="0"/>
          <a:chExt cx="0" cy="0"/>
        </a:xfrm>
      </p:grpSpPr>
      <p:pic>
        <p:nvPicPr>
          <p:cNvPr descr="preencoded.png" id="11" name="Google Shape;11;p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3"/>
          <p:cNvSpPr/>
          <p:nvPr/>
        </p:nvSpPr>
        <p:spPr>
          <a:xfrm>
            <a:off x="0" y="0"/>
            <a:ext cx="14630400" cy="8229600"/>
          </a:xfrm>
          <a:prstGeom prst="rect">
            <a:avLst/>
          </a:prstGeom>
          <a:solidFill>
            <a:srgbClr val="0A081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4" name="Shape 14"/>
        <p:cNvGrpSpPr/>
        <p:nvPr/>
      </p:nvGrpSpPr>
      <p:grpSpPr>
        <a:xfrm>
          <a:off x="0" y="0"/>
          <a:ext cx="0" cy="0"/>
          <a:chOff x="0" y="0"/>
          <a:chExt cx="0" cy="0"/>
        </a:xfrm>
      </p:grpSpPr>
      <p:pic>
        <p:nvPicPr>
          <p:cNvPr descr="preencoded.png" id="15" name="Google Shape;15;p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4"/>
          <p:cNvSpPr/>
          <p:nvPr/>
        </p:nvSpPr>
        <p:spPr>
          <a:xfrm>
            <a:off x="0" y="0"/>
            <a:ext cx="14630400" cy="8229600"/>
          </a:xfrm>
          <a:prstGeom prst="rect">
            <a:avLst/>
          </a:prstGeom>
          <a:solidFill>
            <a:srgbClr val="0A081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8" name="Shape 18"/>
        <p:cNvGrpSpPr/>
        <p:nvPr/>
      </p:nvGrpSpPr>
      <p:grpSpPr>
        <a:xfrm>
          <a:off x="0" y="0"/>
          <a:ext cx="0" cy="0"/>
          <a:chOff x="0" y="0"/>
          <a:chExt cx="0" cy="0"/>
        </a:xfrm>
      </p:grpSpPr>
      <p:pic>
        <p:nvPicPr>
          <p:cNvPr descr="preencoded.png" id="19" name="Google Shape;19;p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5"/>
          <p:cNvSpPr/>
          <p:nvPr/>
        </p:nvSpPr>
        <p:spPr>
          <a:xfrm>
            <a:off x="0" y="0"/>
            <a:ext cx="14630400" cy="8229600"/>
          </a:xfrm>
          <a:prstGeom prst="rect">
            <a:avLst/>
          </a:prstGeom>
          <a:solidFill>
            <a:srgbClr val="0A081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2" name="Shape 22"/>
        <p:cNvGrpSpPr/>
        <p:nvPr/>
      </p:nvGrpSpPr>
      <p:grpSpPr>
        <a:xfrm>
          <a:off x="0" y="0"/>
          <a:ext cx="0" cy="0"/>
          <a:chOff x="0" y="0"/>
          <a:chExt cx="0" cy="0"/>
        </a:xfrm>
      </p:grpSpPr>
      <p:pic>
        <p:nvPicPr>
          <p:cNvPr descr="preencoded.png" id="23" name="Google Shape;23;p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6"/>
          <p:cNvSpPr/>
          <p:nvPr/>
        </p:nvSpPr>
        <p:spPr>
          <a:xfrm>
            <a:off x="0" y="0"/>
            <a:ext cx="14630400" cy="8229600"/>
          </a:xfrm>
          <a:prstGeom prst="rect">
            <a:avLst/>
          </a:prstGeom>
          <a:solidFill>
            <a:srgbClr val="0A081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7"/>
          <p:cNvSpPr/>
          <p:nvPr/>
        </p:nvSpPr>
        <p:spPr>
          <a:xfrm>
            <a:off x="0" y="0"/>
            <a:ext cx="14630400" cy="8229600"/>
          </a:xfrm>
          <a:prstGeom prst="rect">
            <a:avLst/>
          </a:prstGeom>
          <a:solidFill>
            <a:srgbClr val="0A081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0" name="Shape 30"/>
        <p:cNvGrpSpPr/>
        <p:nvPr/>
      </p:nvGrpSpPr>
      <p:grpSpPr>
        <a:xfrm>
          <a:off x="0" y="0"/>
          <a:ext cx="0" cy="0"/>
          <a:chOff x="0" y="0"/>
          <a:chExt cx="0" cy="0"/>
        </a:xfrm>
      </p:grpSpPr>
      <p:pic>
        <p:nvPicPr>
          <p:cNvPr descr="preencoded.png" id="31" name="Google Shape;31;p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8"/>
          <p:cNvSpPr/>
          <p:nvPr/>
        </p:nvSpPr>
        <p:spPr>
          <a:xfrm>
            <a:off x="0" y="0"/>
            <a:ext cx="14630400" cy="8229600"/>
          </a:xfrm>
          <a:prstGeom prst="rect">
            <a:avLst/>
          </a:prstGeom>
          <a:solidFill>
            <a:srgbClr val="0A081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4" name="Shape 34"/>
        <p:cNvGrpSpPr/>
        <p:nvPr/>
      </p:nvGrpSpPr>
      <p:grpSpPr>
        <a:xfrm>
          <a:off x="0" y="0"/>
          <a:ext cx="0" cy="0"/>
          <a:chOff x="0" y="0"/>
          <a:chExt cx="0" cy="0"/>
        </a:xfrm>
      </p:grpSpPr>
      <p:pic>
        <p:nvPicPr>
          <p:cNvPr descr="preencoded.png" id="35" name="Google Shape;35;p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9"/>
          <p:cNvSpPr/>
          <p:nvPr/>
        </p:nvSpPr>
        <p:spPr>
          <a:xfrm>
            <a:off x="0" y="0"/>
            <a:ext cx="14630400" cy="8229600"/>
          </a:xfrm>
          <a:prstGeom prst="rect">
            <a:avLst/>
          </a:prstGeom>
          <a:solidFill>
            <a:srgbClr val="0A081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9">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8" name="Shape 3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4.jpg"/><Relationship Id="rId5" Type="http://schemas.openxmlformats.org/officeDocument/2006/relationships/image" Target="../media/image2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image" Target="../media/image9.png"/><Relationship Id="rId6"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pic>
        <p:nvPicPr>
          <p:cNvPr descr="preencoded.png" id="44" name="Google Shape;44;p1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45" name="Google Shape;45;p11"/>
          <p:cNvSpPr/>
          <p:nvPr/>
        </p:nvSpPr>
        <p:spPr>
          <a:xfrm>
            <a:off x="864037" y="1901428"/>
            <a:ext cx="7415927" cy="1371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i="0" lang="en-US" sz="4300" u="none" cap="none" strike="noStrike">
                <a:solidFill>
                  <a:srgbClr val="F0FCFF"/>
                </a:solidFill>
                <a:latin typeface="Spline Sans"/>
                <a:ea typeface="Spline Sans"/>
                <a:cs typeface="Spline Sans"/>
                <a:sym typeface="Spline Sans"/>
              </a:rPr>
              <a:t>UK Train Rides Analysis Summary Report</a:t>
            </a:r>
            <a:endParaRPr b="0" i="0" sz="4300" u="none" cap="none" strike="noStrike">
              <a:solidFill>
                <a:schemeClr val="dk1"/>
              </a:solidFill>
              <a:latin typeface="Calibri"/>
              <a:ea typeface="Calibri"/>
              <a:cs typeface="Calibri"/>
              <a:sym typeface="Calibri"/>
            </a:endParaRPr>
          </a:p>
        </p:txBody>
      </p:sp>
      <p:sp>
        <p:nvSpPr>
          <p:cNvPr id="46" name="Google Shape;46;p11"/>
          <p:cNvSpPr/>
          <p:nvPr/>
        </p:nvSpPr>
        <p:spPr>
          <a:xfrm>
            <a:off x="864037" y="3643313"/>
            <a:ext cx="7415927" cy="1975247"/>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b="0" i="0" lang="en-US" sz="1900" u="none" cap="none" strike="noStrike">
                <a:solidFill>
                  <a:srgbClr val="E0E4E6"/>
                </a:solidFill>
                <a:latin typeface="Barlow"/>
                <a:ea typeface="Barlow"/>
                <a:cs typeface="Barlow"/>
                <a:sym typeface="Barlow"/>
              </a:rPr>
              <a:t>The UK railway network is vital for transportation. Our analysis of train ticket data from January to April 2024 focuses on operational efficiency, financial performance, customer behavior, and route analysis. The goal is to uncover insights that can optimize pricing, enhance customer experience, and improve operations.</a:t>
            </a:r>
            <a:endParaRPr b="0" i="0" sz="1900" u="none" cap="none" strike="noStrike">
              <a:solidFill>
                <a:schemeClr val="dk1"/>
              </a:solidFill>
              <a:latin typeface="Calibri"/>
              <a:ea typeface="Calibri"/>
              <a:cs typeface="Calibri"/>
              <a:sym typeface="Calibri"/>
            </a:endParaRPr>
          </a:p>
        </p:txBody>
      </p:sp>
      <p:sp>
        <p:nvSpPr>
          <p:cNvPr id="47" name="Google Shape;47;p11"/>
          <p:cNvSpPr/>
          <p:nvPr/>
        </p:nvSpPr>
        <p:spPr>
          <a:xfrm>
            <a:off x="1382316" y="5896213"/>
            <a:ext cx="2369225" cy="431959"/>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E0E4E6"/>
              </a:buClr>
              <a:buSzPts val="2400"/>
              <a:buFont typeface="Barlow"/>
              <a:buNone/>
            </a:pPr>
            <a:r>
              <a:rPr b="1" i="0" lang="en-US" sz="2400" u="none" cap="none" strike="noStrike">
                <a:solidFill>
                  <a:srgbClr val="E0E4E6"/>
                </a:solidFill>
                <a:latin typeface="Barlow"/>
                <a:ea typeface="Barlow"/>
                <a:cs typeface="Barlow"/>
                <a:sym typeface="Barlow"/>
              </a:rPr>
              <a:t>by </a:t>
            </a:r>
            <a:r>
              <a:rPr b="1" i="0" lang="en-US" sz="2400" u="none" cap="none" strike="noStrike">
                <a:solidFill>
                  <a:srgbClr val="E0E4E6"/>
                </a:solidFill>
                <a:latin typeface="Arial"/>
                <a:ea typeface="Arial"/>
                <a:cs typeface="Arial"/>
                <a:sym typeface="Arial"/>
              </a:rPr>
              <a:t>Elite Team</a:t>
            </a:r>
            <a:endParaRPr b="0" i="0" sz="2400" u="none" cap="none" strike="noStrike">
              <a:solidFill>
                <a:schemeClr val="dk1"/>
              </a:solidFill>
              <a:latin typeface="Arial"/>
              <a:ea typeface="Arial"/>
              <a:cs typeface="Arial"/>
              <a:sym typeface="Arial"/>
            </a:endParaRPr>
          </a:p>
        </p:txBody>
      </p:sp>
      <p:pic>
        <p:nvPicPr>
          <p:cNvPr descr="A logo of a train&#10;&#10;AI-generated content may be incorrect." id="48" name="Google Shape;48;p11"/>
          <p:cNvPicPr preferRelativeResize="0"/>
          <p:nvPr/>
        </p:nvPicPr>
        <p:blipFill rotWithShape="1">
          <a:blip r:embed="rId4">
            <a:alphaModFix/>
          </a:blip>
          <a:srcRect b="0" l="0" r="0" t="0"/>
          <a:stretch/>
        </p:blipFill>
        <p:spPr>
          <a:xfrm>
            <a:off x="7136781" y="1876778"/>
            <a:ext cx="1426922" cy="1290167"/>
          </a:xfrm>
          <a:prstGeom prst="ellipse">
            <a:avLst/>
          </a:prstGeom>
          <a:noFill/>
          <a:ln>
            <a:noFill/>
          </a:ln>
        </p:spPr>
      </p:pic>
      <p:pic>
        <p:nvPicPr>
          <p:cNvPr descr="A logo with text and graphics&#10;&#10;AI-generated content may be incorrect." id="49" name="Google Shape;49;p11"/>
          <p:cNvPicPr preferRelativeResize="0"/>
          <p:nvPr/>
        </p:nvPicPr>
        <p:blipFill rotWithShape="1">
          <a:blip r:embed="rId5">
            <a:alphaModFix/>
          </a:blip>
          <a:srcRect b="0" l="0" r="0" t="0"/>
          <a:stretch/>
        </p:blipFill>
        <p:spPr>
          <a:xfrm>
            <a:off x="461043" y="5769710"/>
            <a:ext cx="805987" cy="684964"/>
          </a:xfrm>
          <a:prstGeom prst="roundRect">
            <a:avLst>
              <a:gd fmla="val 16667" name="adj"/>
            </a:avLst>
          </a:prstGeom>
          <a:noFill/>
          <a:ln>
            <a:noFill/>
          </a:ln>
          <a:effectLst>
            <a:outerShdw blurRad="76200" rotWithShape="0" algn="tl" dir="7800000" dist="3810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2"/>
          <p:cNvSpPr/>
          <p:nvPr/>
        </p:nvSpPr>
        <p:spPr>
          <a:xfrm>
            <a:off x="864037" y="1233607"/>
            <a:ext cx="5756910"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lang="en-US" sz="4300">
                <a:solidFill>
                  <a:srgbClr val="F0FCFF"/>
                </a:solidFill>
                <a:latin typeface="Spline Sans"/>
                <a:ea typeface="Spline Sans"/>
                <a:cs typeface="Spline Sans"/>
                <a:sym typeface="Spline Sans"/>
              </a:rPr>
              <a:t>Operational Efficiency</a:t>
            </a:r>
            <a:endParaRPr sz="4300">
              <a:solidFill>
                <a:schemeClr val="dk1"/>
              </a:solidFill>
              <a:latin typeface="Calibri"/>
              <a:ea typeface="Calibri"/>
              <a:cs typeface="Calibri"/>
              <a:sym typeface="Calibri"/>
            </a:endParaRPr>
          </a:p>
        </p:txBody>
      </p:sp>
      <p:sp>
        <p:nvSpPr>
          <p:cNvPr id="56" name="Google Shape;56;p12"/>
          <p:cNvSpPr/>
          <p:nvPr/>
        </p:nvSpPr>
        <p:spPr>
          <a:xfrm>
            <a:off x="864037" y="2536508"/>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2150"/>
              <a:buFont typeface="Spline Sans"/>
              <a:buNone/>
            </a:pPr>
            <a:r>
              <a:rPr b="1" lang="en-US" sz="2150">
                <a:solidFill>
                  <a:srgbClr val="F0FCFF"/>
                </a:solidFill>
                <a:latin typeface="Spline Sans"/>
                <a:ea typeface="Spline Sans"/>
                <a:cs typeface="Spline Sans"/>
                <a:sym typeface="Spline Sans"/>
              </a:rPr>
              <a:t>Key Findings</a:t>
            </a:r>
            <a:endParaRPr sz="2150">
              <a:solidFill>
                <a:schemeClr val="dk1"/>
              </a:solidFill>
              <a:latin typeface="Calibri"/>
              <a:ea typeface="Calibri"/>
              <a:cs typeface="Calibri"/>
              <a:sym typeface="Calibri"/>
            </a:endParaRPr>
          </a:p>
        </p:txBody>
      </p:sp>
      <p:sp>
        <p:nvSpPr>
          <p:cNvPr id="57" name="Google Shape;57;p12"/>
          <p:cNvSpPr/>
          <p:nvPr/>
        </p:nvSpPr>
        <p:spPr>
          <a:xfrm>
            <a:off x="864037" y="3126224"/>
            <a:ext cx="6150054" cy="395049"/>
          </a:xfrm>
          <a:prstGeom prst="rect">
            <a:avLst/>
          </a:prstGeom>
          <a:noFill/>
          <a:ln>
            <a:noFill/>
          </a:ln>
        </p:spPr>
        <p:txBody>
          <a:bodyPr anchorCtr="0" anchor="t" bIns="0" lIns="0" spcFirstLastPara="1" rIns="0" wrap="square" tIns="0">
            <a:noAutofit/>
          </a:bodyPr>
          <a:lstStyle/>
          <a:p>
            <a:pPr indent="-342900" lvl="0" marL="342900" marR="0" rtl="0" algn="l">
              <a:lnSpc>
                <a:spcPct val="163157"/>
              </a:lnSpc>
              <a:spcBef>
                <a:spcPts val="0"/>
              </a:spcBef>
              <a:spcAft>
                <a:spcPts val="0"/>
              </a:spcAft>
              <a:buClr>
                <a:srgbClr val="E0E4E6"/>
              </a:buClr>
              <a:buSzPts val="1900"/>
              <a:buFont typeface="Barlow"/>
              <a:buChar char="•"/>
            </a:pPr>
            <a:r>
              <a:rPr lang="en-US" sz="1900">
                <a:solidFill>
                  <a:srgbClr val="E0E4E6"/>
                </a:solidFill>
                <a:latin typeface="Barlow"/>
                <a:ea typeface="Barlow"/>
                <a:cs typeface="Barlow"/>
                <a:sym typeface="Barlow"/>
              </a:rPr>
              <a:t>Total Journeys: 31,653</a:t>
            </a:r>
            <a:endParaRPr sz="1900">
              <a:solidFill>
                <a:schemeClr val="dk1"/>
              </a:solidFill>
              <a:latin typeface="Calibri"/>
              <a:ea typeface="Calibri"/>
              <a:cs typeface="Calibri"/>
              <a:sym typeface="Calibri"/>
            </a:endParaRPr>
          </a:p>
        </p:txBody>
      </p:sp>
      <p:sp>
        <p:nvSpPr>
          <p:cNvPr id="58" name="Google Shape;58;p12"/>
          <p:cNvSpPr/>
          <p:nvPr/>
        </p:nvSpPr>
        <p:spPr>
          <a:xfrm>
            <a:off x="864037" y="3607594"/>
            <a:ext cx="6150054" cy="395049"/>
          </a:xfrm>
          <a:prstGeom prst="rect">
            <a:avLst/>
          </a:prstGeom>
          <a:noFill/>
          <a:ln>
            <a:noFill/>
          </a:ln>
        </p:spPr>
        <p:txBody>
          <a:bodyPr anchorCtr="0" anchor="t" bIns="0" lIns="0" spcFirstLastPara="1" rIns="0" wrap="square" tIns="0">
            <a:noAutofit/>
          </a:bodyPr>
          <a:lstStyle/>
          <a:p>
            <a:pPr indent="-342900" lvl="0" marL="342900" marR="0" rtl="0" algn="l">
              <a:lnSpc>
                <a:spcPct val="163157"/>
              </a:lnSpc>
              <a:spcBef>
                <a:spcPts val="0"/>
              </a:spcBef>
              <a:spcAft>
                <a:spcPts val="0"/>
              </a:spcAft>
              <a:buClr>
                <a:srgbClr val="E0E4E6"/>
              </a:buClr>
              <a:buSzPts val="1900"/>
              <a:buFont typeface="Barlow"/>
              <a:buChar char="•"/>
            </a:pPr>
            <a:r>
              <a:rPr lang="en-US" sz="1900">
                <a:solidFill>
                  <a:srgbClr val="E0E4E6"/>
                </a:solidFill>
                <a:latin typeface="Barlow"/>
                <a:ea typeface="Barlow"/>
                <a:cs typeface="Barlow"/>
                <a:sym typeface="Barlow"/>
              </a:rPr>
              <a:t>On-Time Journeys: 27,481 (86.82%)</a:t>
            </a:r>
            <a:endParaRPr sz="1900">
              <a:solidFill>
                <a:schemeClr val="dk1"/>
              </a:solidFill>
              <a:latin typeface="Calibri"/>
              <a:ea typeface="Calibri"/>
              <a:cs typeface="Calibri"/>
              <a:sym typeface="Calibri"/>
            </a:endParaRPr>
          </a:p>
        </p:txBody>
      </p:sp>
      <p:sp>
        <p:nvSpPr>
          <p:cNvPr id="59" name="Google Shape;59;p12"/>
          <p:cNvSpPr/>
          <p:nvPr/>
        </p:nvSpPr>
        <p:spPr>
          <a:xfrm>
            <a:off x="864037" y="4088963"/>
            <a:ext cx="6150054" cy="395049"/>
          </a:xfrm>
          <a:prstGeom prst="rect">
            <a:avLst/>
          </a:prstGeom>
          <a:noFill/>
          <a:ln>
            <a:noFill/>
          </a:ln>
        </p:spPr>
        <p:txBody>
          <a:bodyPr anchorCtr="0" anchor="t" bIns="0" lIns="0" spcFirstLastPara="1" rIns="0" wrap="square" tIns="0">
            <a:noAutofit/>
          </a:bodyPr>
          <a:lstStyle/>
          <a:p>
            <a:pPr indent="-342900" lvl="0" marL="342900" marR="0" rtl="0" algn="l">
              <a:lnSpc>
                <a:spcPct val="163157"/>
              </a:lnSpc>
              <a:spcBef>
                <a:spcPts val="0"/>
              </a:spcBef>
              <a:spcAft>
                <a:spcPts val="0"/>
              </a:spcAft>
              <a:buClr>
                <a:srgbClr val="E0E4E6"/>
              </a:buClr>
              <a:buSzPts val="1900"/>
              <a:buFont typeface="Barlow"/>
              <a:buChar char="•"/>
            </a:pPr>
            <a:r>
              <a:rPr lang="en-US" sz="1900">
                <a:solidFill>
                  <a:srgbClr val="E0E4E6"/>
                </a:solidFill>
                <a:latin typeface="Barlow"/>
                <a:ea typeface="Barlow"/>
                <a:cs typeface="Barlow"/>
                <a:sym typeface="Barlow"/>
              </a:rPr>
              <a:t>Delayed Journeys: 2,292 (7.24%)</a:t>
            </a:r>
            <a:endParaRPr sz="1900">
              <a:solidFill>
                <a:schemeClr val="dk1"/>
              </a:solidFill>
              <a:latin typeface="Calibri"/>
              <a:ea typeface="Calibri"/>
              <a:cs typeface="Calibri"/>
              <a:sym typeface="Calibri"/>
            </a:endParaRPr>
          </a:p>
        </p:txBody>
      </p:sp>
      <p:sp>
        <p:nvSpPr>
          <p:cNvPr id="60" name="Google Shape;60;p12"/>
          <p:cNvSpPr/>
          <p:nvPr/>
        </p:nvSpPr>
        <p:spPr>
          <a:xfrm>
            <a:off x="864037" y="4570333"/>
            <a:ext cx="6150054" cy="395049"/>
          </a:xfrm>
          <a:prstGeom prst="rect">
            <a:avLst/>
          </a:prstGeom>
          <a:noFill/>
          <a:ln>
            <a:noFill/>
          </a:ln>
        </p:spPr>
        <p:txBody>
          <a:bodyPr anchorCtr="0" anchor="t" bIns="0" lIns="0" spcFirstLastPara="1" rIns="0" wrap="square" tIns="0">
            <a:noAutofit/>
          </a:bodyPr>
          <a:lstStyle/>
          <a:p>
            <a:pPr indent="-342900" lvl="0" marL="342900" marR="0" rtl="0" algn="l">
              <a:lnSpc>
                <a:spcPct val="163157"/>
              </a:lnSpc>
              <a:spcBef>
                <a:spcPts val="0"/>
              </a:spcBef>
              <a:spcAft>
                <a:spcPts val="0"/>
              </a:spcAft>
              <a:buClr>
                <a:srgbClr val="E0E4E6"/>
              </a:buClr>
              <a:buSzPts val="1900"/>
              <a:buFont typeface="Barlow"/>
              <a:buChar char="•"/>
            </a:pPr>
            <a:r>
              <a:rPr lang="en-US" sz="1900">
                <a:solidFill>
                  <a:srgbClr val="E0E4E6"/>
                </a:solidFill>
                <a:latin typeface="Barlow"/>
                <a:ea typeface="Barlow"/>
                <a:cs typeface="Barlow"/>
                <a:sym typeface="Barlow"/>
              </a:rPr>
              <a:t>Cancelled Journeys: 1,880 (5.94%)</a:t>
            </a:r>
            <a:endParaRPr sz="1900">
              <a:solidFill>
                <a:schemeClr val="dk1"/>
              </a:solidFill>
              <a:latin typeface="Calibri"/>
              <a:ea typeface="Calibri"/>
              <a:cs typeface="Calibri"/>
              <a:sym typeface="Calibri"/>
            </a:endParaRPr>
          </a:p>
        </p:txBody>
      </p:sp>
      <p:sp>
        <p:nvSpPr>
          <p:cNvPr id="61" name="Google Shape;61;p12"/>
          <p:cNvSpPr/>
          <p:nvPr/>
        </p:nvSpPr>
        <p:spPr>
          <a:xfrm>
            <a:off x="7623929" y="2536508"/>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2150"/>
              <a:buFont typeface="Spline Sans"/>
              <a:buNone/>
            </a:pPr>
            <a:r>
              <a:rPr b="1" lang="en-US" sz="2150">
                <a:solidFill>
                  <a:srgbClr val="F0FCFF"/>
                </a:solidFill>
                <a:latin typeface="Spline Sans"/>
                <a:ea typeface="Spline Sans"/>
                <a:cs typeface="Spline Sans"/>
                <a:sym typeface="Spline Sans"/>
              </a:rPr>
              <a:t>Delay Causes</a:t>
            </a:r>
            <a:endParaRPr sz="2150">
              <a:solidFill>
                <a:schemeClr val="dk1"/>
              </a:solidFill>
              <a:latin typeface="Calibri"/>
              <a:ea typeface="Calibri"/>
              <a:cs typeface="Calibri"/>
              <a:sym typeface="Calibri"/>
            </a:endParaRPr>
          </a:p>
        </p:txBody>
      </p:sp>
      <p:sp>
        <p:nvSpPr>
          <p:cNvPr id="62" name="Google Shape;62;p12"/>
          <p:cNvSpPr/>
          <p:nvPr/>
        </p:nvSpPr>
        <p:spPr>
          <a:xfrm>
            <a:off x="7623929" y="3126224"/>
            <a:ext cx="6150054" cy="395049"/>
          </a:xfrm>
          <a:prstGeom prst="rect">
            <a:avLst/>
          </a:prstGeom>
          <a:noFill/>
          <a:ln>
            <a:noFill/>
          </a:ln>
        </p:spPr>
        <p:txBody>
          <a:bodyPr anchorCtr="0" anchor="t" bIns="0" lIns="0" spcFirstLastPara="1" rIns="0" wrap="square" tIns="0">
            <a:noAutofit/>
          </a:bodyPr>
          <a:lstStyle/>
          <a:p>
            <a:pPr indent="-342900" lvl="0" marL="342900" marR="0" rtl="0" algn="l">
              <a:lnSpc>
                <a:spcPct val="163157"/>
              </a:lnSpc>
              <a:spcBef>
                <a:spcPts val="0"/>
              </a:spcBef>
              <a:spcAft>
                <a:spcPts val="0"/>
              </a:spcAft>
              <a:buClr>
                <a:srgbClr val="E0E4E6"/>
              </a:buClr>
              <a:buSzPts val="1900"/>
              <a:buFont typeface="Barlow"/>
              <a:buChar char="•"/>
            </a:pPr>
            <a:r>
              <a:rPr lang="en-US" sz="1900">
                <a:solidFill>
                  <a:srgbClr val="E0E4E6"/>
                </a:solidFill>
                <a:latin typeface="Barlow"/>
                <a:ea typeface="Barlow"/>
                <a:cs typeface="Barlow"/>
                <a:sym typeface="Barlow"/>
              </a:rPr>
              <a:t>Weather Conditions: 927 delayed</a:t>
            </a:r>
            <a:endParaRPr sz="1900">
              <a:solidFill>
                <a:schemeClr val="dk1"/>
              </a:solidFill>
              <a:latin typeface="Calibri"/>
              <a:ea typeface="Calibri"/>
              <a:cs typeface="Calibri"/>
              <a:sym typeface="Calibri"/>
            </a:endParaRPr>
          </a:p>
        </p:txBody>
      </p:sp>
      <p:sp>
        <p:nvSpPr>
          <p:cNvPr id="63" name="Google Shape;63;p12"/>
          <p:cNvSpPr/>
          <p:nvPr/>
        </p:nvSpPr>
        <p:spPr>
          <a:xfrm>
            <a:off x="7623929" y="3607594"/>
            <a:ext cx="6150054" cy="395049"/>
          </a:xfrm>
          <a:prstGeom prst="rect">
            <a:avLst/>
          </a:prstGeom>
          <a:noFill/>
          <a:ln>
            <a:noFill/>
          </a:ln>
        </p:spPr>
        <p:txBody>
          <a:bodyPr anchorCtr="0" anchor="t" bIns="0" lIns="0" spcFirstLastPara="1" rIns="0" wrap="square" tIns="0">
            <a:noAutofit/>
          </a:bodyPr>
          <a:lstStyle/>
          <a:p>
            <a:pPr indent="-342900" lvl="0" marL="342900" marR="0" rtl="0" algn="l">
              <a:lnSpc>
                <a:spcPct val="163157"/>
              </a:lnSpc>
              <a:spcBef>
                <a:spcPts val="0"/>
              </a:spcBef>
              <a:spcAft>
                <a:spcPts val="0"/>
              </a:spcAft>
              <a:buClr>
                <a:srgbClr val="E0E4E6"/>
              </a:buClr>
              <a:buSzPts val="1900"/>
              <a:buFont typeface="Barlow"/>
              <a:buChar char="•"/>
            </a:pPr>
            <a:r>
              <a:rPr lang="en-US" sz="1900">
                <a:solidFill>
                  <a:srgbClr val="E0E4E6"/>
                </a:solidFill>
                <a:latin typeface="Barlow"/>
                <a:ea typeface="Barlow"/>
                <a:cs typeface="Barlow"/>
                <a:sym typeface="Barlow"/>
              </a:rPr>
              <a:t>Technical Issues: 472 delayed</a:t>
            </a:r>
            <a:endParaRPr sz="1900">
              <a:solidFill>
                <a:schemeClr val="dk1"/>
              </a:solidFill>
              <a:latin typeface="Calibri"/>
              <a:ea typeface="Calibri"/>
              <a:cs typeface="Calibri"/>
              <a:sym typeface="Calibri"/>
            </a:endParaRPr>
          </a:p>
        </p:txBody>
      </p:sp>
      <p:sp>
        <p:nvSpPr>
          <p:cNvPr id="64" name="Google Shape;64;p12"/>
          <p:cNvSpPr/>
          <p:nvPr/>
        </p:nvSpPr>
        <p:spPr>
          <a:xfrm>
            <a:off x="7623929" y="4088963"/>
            <a:ext cx="6150054" cy="395049"/>
          </a:xfrm>
          <a:prstGeom prst="rect">
            <a:avLst/>
          </a:prstGeom>
          <a:noFill/>
          <a:ln>
            <a:noFill/>
          </a:ln>
        </p:spPr>
        <p:txBody>
          <a:bodyPr anchorCtr="0" anchor="t" bIns="0" lIns="0" spcFirstLastPara="1" rIns="0" wrap="square" tIns="0">
            <a:noAutofit/>
          </a:bodyPr>
          <a:lstStyle/>
          <a:p>
            <a:pPr indent="-342900" lvl="0" marL="342900" marR="0" rtl="0" algn="l">
              <a:lnSpc>
                <a:spcPct val="163157"/>
              </a:lnSpc>
              <a:spcBef>
                <a:spcPts val="0"/>
              </a:spcBef>
              <a:spcAft>
                <a:spcPts val="0"/>
              </a:spcAft>
              <a:buClr>
                <a:srgbClr val="E0E4E6"/>
              </a:buClr>
              <a:buSzPts val="1900"/>
              <a:buFont typeface="Barlow"/>
              <a:buChar char="•"/>
            </a:pPr>
            <a:r>
              <a:rPr lang="en-US" sz="1900">
                <a:solidFill>
                  <a:srgbClr val="E0E4E6"/>
                </a:solidFill>
                <a:latin typeface="Barlow"/>
                <a:ea typeface="Barlow"/>
                <a:cs typeface="Barlow"/>
                <a:sym typeface="Barlow"/>
              </a:rPr>
              <a:t>Signal Failure: 451 delayed</a:t>
            </a:r>
            <a:endParaRPr sz="1900">
              <a:solidFill>
                <a:schemeClr val="dk1"/>
              </a:solidFill>
              <a:latin typeface="Calibri"/>
              <a:ea typeface="Calibri"/>
              <a:cs typeface="Calibri"/>
              <a:sym typeface="Calibri"/>
            </a:endParaRPr>
          </a:p>
        </p:txBody>
      </p:sp>
      <p:sp>
        <p:nvSpPr>
          <p:cNvPr id="65" name="Google Shape;65;p12"/>
          <p:cNvSpPr/>
          <p:nvPr/>
        </p:nvSpPr>
        <p:spPr>
          <a:xfrm>
            <a:off x="7623929" y="4570333"/>
            <a:ext cx="6150054" cy="395049"/>
          </a:xfrm>
          <a:prstGeom prst="rect">
            <a:avLst/>
          </a:prstGeom>
          <a:noFill/>
          <a:ln>
            <a:noFill/>
          </a:ln>
        </p:spPr>
        <p:txBody>
          <a:bodyPr anchorCtr="0" anchor="t" bIns="0" lIns="0" spcFirstLastPara="1" rIns="0" wrap="square" tIns="0">
            <a:noAutofit/>
          </a:bodyPr>
          <a:lstStyle/>
          <a:p>
            <a:pPr indent="-342900" lvl="0" marL="342900" marR="0" rtl="0" algn="l">
              <a:lnSpc>
                <a:spcPct val="163157"/>
              </a:lnSpc>
              <a:spcBef>
                <a:spcPts val="0"/>
              </a:spcBef>
              <a:spcAft>
                <a:spcPts val="0"/>
              </a:spcAft>
              <a:buClr>
                <a:srgbClr val="E0E4E6"/>
              </a:buClr>
              <a:buSzPts val="1900"/>
              <a:buFont typeface="Barlow"/>
              <a:buChar char="•"/>
            </a:pPr>
            <a:r>
              <a:rPr lang="en-US" sz="1900">
                <a:solidFill>
                  <a:srgbClr val="E0E4E6"/>
                </a:solidFill>
                <a:latin typeface="Barlow"/>
                <a:ea typeface="Barlow"/>
                <a:cs typeface="Barlow"/>
                <a:sym typeface="Barlow"/>
              </a:rPr>
              <a:t>Staffing Issues: 355 delayed</a:t>
            </a:r>
            <a:endParaRPr sz="1900">
              <a:solidFill>
                <a:schemeClr val="dk1"/>
              </a:solidFill>
              <a:latin typeface="Calibri"/>
              <a:ea typeface="Calibri"/>
              <a:cs typeface="Calibri"/>
              <a:sym typeface="Calibri"/>
            </a:endParaRPr>
          </a:p>
        </p:txBody>
      </p:sp>
      <p:sp>
        <p:nvSpPr>
          <p:cNvPr id="66" name="Google Shape;66;p12"/>
          <p:cNvSpPr/>
          <p:nvPr/>
        </p:nvSpPr>
        <p:spPr>
          <a:xfrm>
            <a:off x="7623929" y="5051703"/>
            <a:ext cx="6150054" cy="395049"/>
          </a:xfrm>
          <a:prstGeom prst="rect">
            <a:avLst/>
          </a:prstGeom>
          <a:noFill/>
          <a:ln>
            <a:noFill/>
          </a:ln>
        </p:spPr>
        <p:txBody>
          <a:bodyPr anchorCtr="0" anchor="t" bIns="0" lIns="0" spcFirstLastPara="1" rIns="0" wrap="square" tIns="0">
            <a:noAutofit/>
          </a:bodyPr>
          <a:lstStyle/>
          <a:p>
            <a:pPr indent="-342900" lvl="0" marL="342900" marR="0" rtl="0" algn="l">
              <a:lnSpc>
                <a:spcPct val="163157"/>
              </a:lnSpc>
              <a:spcBef>
                <a:spcPts val="0"/>
              </a:spcBef>
              <a:spcAft>
                <a:spcPts val="0"/>
              </a:spcAft>
              <a:buClr>
                <a:srgbClr val="E0E4E6"/>
              </a:buClr>
              <a:buSzPts val="1900"/>
              <a:buFont typeface="Barlow"/>
              <a:buChar char="•"/>
            </a:pPr>
            <a:r>
              <a:rPr lang="en-US" sz="1900">
                <a:solidFill>
                  <a:srgbClr val="E0E4E6"/>
                </a:solidFill>
                <a:latin typeface="Barlow"/>
                <a:ea typeface="Barlow"/>
                <a:cs typeface="Barlow"/>
                <a:sym typeface="Barlow"/>
              </a:rPr>
              <a:t>Traffic Congestion: 87 delayed</a:t>
            </a:r>
            <a:endParaRPr sz="1900">
              <a:solidFill>
                <a:schemeClr val="dk1"/>
              </a:solidFill>
              <a:latin typeface="Calibri"/>
              <a:ea typeface="Calibri"/>
              <a:cs typeface="Calibri"/>
              <a:sym typeface="Calibri"/>
            </a:endParaRPr>
          </a:p>
        </p:txBody>
      </p:sp>
      <p:sp>
        <p:nvSpPr>
          <p:cNvPr id="67" name="Google Shape;67;p12"/>
          <p:cNvSpPr/>
          <p:nvPr/>
        </p:nvSpPr>
        <p:spPr>
          <a:xfrm>
            <a:off x="864037" y="5810726"/>
            <a:ext cx="12902327" cy="118514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Analysis of UK railway operations reveals key insights into journey punctuality, delays, and cancellations. The objective is to identify areas for improvement and enhance service reliability and passenger satisfaction. Weather, technical, and staffing issues are major contributors to delays.</a:t>
            </a:r>
            <a:endParaRPr sz="1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descr="A screenshot of a computer&#10;&#10;AI-generated content may be incorrect." id="72" name="Google Shape;72;p13"/>
          <p:cNvPicPr preferRelativeResize="0"/>
          <p:nvPr/>
        </p:nvPicPr>
        <p:blipFill rotWithShape="1">
          <a:blip r:embed="rId3">
            <a:alphaModFix/>
          </a:blip>
          <a:srcRect b="0" l="0" r="0" t="0"/>
          <a:stretch/>
        </p:blipFill>
        <p:spPr>
          <a:xfrm>
            <a:off x="144966" y="122663"/>
            <a:ext cx="14206654" cy="769434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descr="preencoded.png" id="78" name="Google Shape;78;p14"/>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79" name="Google Shape;79;p14"/>
          <p:cNvSpPr/>
          <p:nvPr/>
        </p:nvSpPr>
        <p:spPr>
          <a:xfrm>
            <a:off x="6245304" y="636984"/>
            <a:ext cx="4819055" cy="602456"/>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F0FCFF"/>
              </a:buClr>
              <a:buSzPts val="3750"/>
              <a:buFont typeface="Spline Sans"/>
              <a:buNone/>
            </a:pPr>
            <a:r>
              <a:rPr b="1" lang="en-US" sz="3750">
                <a:solidFill>
                  <a:srgbClr val="F0FCFF"/>
                </a:solidFill>
                <a:latin typeface="Spline Sans"/>
                <a:ea typeface="Spline Sans"/>
                <a:cs typeface="Spline Sans"/>
                <a:sym typeface="Spline Sans"/>
              </a:rPr>
              <a:t>Financial Analysis</a:t>
            </a:r>
            <a:endParaRPr sz="3750">
              <a:solidFill>
                <a:schemeClr val="dk1"/>
              </a:solidFill>
              <a:latin typeface="Calibri"/>
              <a:ea typeface="Calibri"/>
              <a:cs typeface="Calibri"/>
              <a:sym typeface="Calibri"/>
            </a:endParaRPr>
          </a:p>
        </p:txBody>
      </p:sp>
      <p:sp>
        <p:nvSpPr>
          <p:cNvPr id="80" name="Google Shape;80;p14"/>
          <p:cNvSpPr/>
          <p:nvPr/>
        </p:nvSpPr>
        <p:spPr>
          <a:xfrm>
            <a:off x="6245304" y="1673066"/>
            <a:ext cx="3650456" cy="71556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6FFBB"/>
              </a:buClr>
              <a:buSzPts val="5600"/>
              <a:buFont typeface="Spline Sans"/>
              <a:buNone/>
            </a:pPr>
            <a:r>
              <a:rPr b="1" lang="en-US" sz="5600">
                <a:solidFill>
                  <a:srgbClr val="16FFBB"/>
                </a:solidFill>
                <a:latin typeface="Spline Sans"/>
                <a:ea typeface="Spline Sans"/>
                <a:cs typeface="Spline Sans"/>
                <a:sym typeface="Spline Sans"/>
              </a:rPr>
              <a:t>£703K</a:t>
            </a:r>
            <a:endParaRPr sz="5600">
              <a:solidFill>
                <a:schemeClr val="dk1"/>
              </a:solidFill>
              <a:latin typeface="Calibri"/>
              <a:ea typeface="Calibri"/>
              <a:cs typeface="Calibri"/>
              <a:sym typeface="Calibri"/>
            </a:endParaRPr>
          </a:p>
        </p:txBody>
      </p:sp>
      <p:sp>
        <p:nvSpPr>
          <p:cNvPr id="81" name="Google Shape;81;p14"/>
          <p:cNvSpPr/>
          <p:nvPr/>
        </p:nvSpPr>
        <p:spPr>
          <a:xfrm>
            <a:off x="6865739" y="2659618"/>
            <a:ext cx="2409468" cy="301228"/>
          </a:xfrm>
          <a:prstGeom prst="rect">
            <a:avLst/>
          </a:prstGeom>
          <a:noFill/>
          <a:ln>
            <a:noFill/>
          </a:ln>
        </p:spPr>
        <p:txBody>
          <a:bodyPr anchorCtr="0" anchor="t" bIns="0" lIns="0" spcFirstLastPara="1" rIns="0" wrap="square" tIns="0">
            <a:noAutofit/>
          </a:bodyPr>
          <a:lstStyle/>
          <a:p>
            <a:pPr indent="0" lvl="0" marL="0" marR="0" rtl="0" algn="ctr">
              <a:lnSpc>
                <a:spcPct val="127027"/>
              </a:lnSpc>
              <a:spcBef>
                <a:spcPts val="0"/>
              </a:spcBef>
              <a:spcAft>
                <a:spcPts val="0"/>
              </a:spcAft>
              <a:buClr>
                <a:srgbClr val="E0E4E6"/>
              </a:buClr>
              <a:buSzPts val="1850"/>
              <a:buFont typeface="Spline Sans"/>
              <a:buNone/>
            </a:pPr>
            <a:r>
              <a:rPr b="1" lang="en-US" sz="1850">
                <a:solidFill>
                  <a:srgbClr val="E0E4E6"/>
                </a:solidFill>
                <a:latin typeface="Spline Sans"/>
                <a:ea typeface="Spline Sans"/>
                <a:cs typeface="Spline Sans"/>
                <a:sym typeface="Spline Sans"/>
              </a:rPr>
              <a:t>Total Revenue</a:t>
            </a:r>
            <a:endParaRPr sz="1850">
              <a:solidFill>
                <a:schemeClr val="dk1"/>
              </a:solidFill>
              <a:latin typeface="Calibri"/>
              <a:ea typeface="Calibri"/>
              <a:cs typeface="Calibri"/>
              <a:sym typeface="Calibri"/>
            </a:endParaRPr>
          </a:p>
        </p:txBody>
      </p:sp>
      <p:sp>
        <p:nvSpPr>
          <p:cNvPr id="82" name="Google Shape;82;p14"/>
          <p:cNvSpPr/>
          <p:nvPr/>
        </p:nvSpPr>
        <p:spPr>
          <a:xfrm>
            <a:off x="6245304" y="3090863"/>
            <a:ext cx="3650456" cy="346829"/>
          </a:xfrm>
          <a:prstGeom prst="rect">
            <a:avLst/>
          </a:prstGeom>
          <a:noFill/>
          <a:ln>
            <a:noFill/>
          </a:ln>
        </p:spPr>
        <p:txBody>
          <a:bodyPr anchorCtr="0" anchor="t" bIns="0" lIns="0" spcFirstLastPara="1" rIns="0" wrap="square" tIns="0">
            <a:noAutofit/>
          </a:bodyPr>
          <a:lstStyle/>
          <a:p>
            <a:pPr indent="0" lvl="0" marL="0" marR="0" rtl="0" algn="ctr">
              <a:lnSpc>
                <a:spcPct val="158823"/>
              </a:lnSpc>
              <a:spcBef>
                <a:spcPts val="0"/>
              </a:spcBef>
              <a:spcAft>
                <a:spcPts val="0"/>
              </a:spcAft>
              <a:buClr>
                <a:srgbClr val="E0E4E6"/>
              </a:buClr>
              <a:buSzPts val="1700"/>
              <a:buFont typeface="Barlow"/>
              <a:buNone/>
            </a:pPr>
            <a:r>
              <a:rPr lang="en-US" sz="1700">
                <a:solidFill>
                  <a:srgbClr val="E0E4E6"/>
                </a:solidFill>
                <a:latin typeface="Barlow"/>
                <a:ea typeface="Barlow"/>
                <a:cs typeface="Barlow"/>
                <a:sym typeface="Barlow"/>
              </a:rPr>
              <a:t>Generated from ticket sales</a:t>
            </a:r>
            <a:endParaRPr sz="1700">
              <a:solidFill>
                <a:schemeClr val="dk1"/>
              </a:solidFill>
              <a:latin typeface="Calibri"/>
              <a:ea typeface="Calibri"/>
              <a:cs typeface="Calibri"/>
              <a:sym typeface="Calibri"/>
            </a:endParaRPr>
          </a:p>
        </p:txBody>
      </p:sp>
      <p:sp>
        <p:nvSpPr>
          <p:cNvPr id="83" name="Google Shape;83;p14"/>
          <p:cNvSpPr/>
          <p:nvPr/>
        </p:nvSpPr>
        <p:spPr>
          <a:xfrm>
            <a:off x="10221039" y="1673066"/>
            <a:ext cx="3650456" cy="71556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9DDDA"/>
              </a:buClr>
              <a:buSzPts val="5600"/>
              <a:buFont typeface="Spline Sans"/>
              <a:buNone/>
            </a:pPr>
            <a:r>
              <a:rPr b="1" lang="en-US" sz="5600">
                <a:solidFill>
                  <a:srgbClr val="29DDDA"/>
                </a:solidFill>
                <a:latin typeface="Spline Sans"/>
                <a:ea typeface="Spline Sans"/>
                <a:cs typeface="Spline Sans"/>
                <a:sym typeface="Spline Sans"/>
              </a:rPr>
              <a:t>82.5%</a:t>
            </a:r>
            <a:endParaRPr sz="5600">
              <a:solidFill>
                <a:schemeClr val="dk1"/>
              </a:solidFill>
              <a:latin typeface="Calibri"/>
              <a:ea typeface="Calibri"/>
              <a:cs typeface="Calibri"/>
              <a:sym typeface="Calibri"/>
            </a:endParaRPr>
          </a:p>
        </p:txBody>
      </p:sp>
      <p:sp>
        <p:nvSpPr>
          <p:cNvPr id="84" name="Google Shape;84;p14"/>
          <p:cNvSpPr/>
          <p:nvPr/>
        </p:nvSpPr>
        <p:spPr>
          <a:xfrm>
            <a:off x="10841474" y="2659618"/>
            <a:ext cx="2409468" cy="301228"/>
          </a:xfrm>
          <a:prstGeom prst="rect">
            <a:avLst/>
          </a:prstGeom>
          <a:noFill/>
          <a:ln>
            <a:noFill/>
          </a:ln>
        </p:spPr>
        <p:txBody>
          <a:bodyPr anchorCtr="0" anchor="t" bIns="0" lIns="0" spcFirstLastPara="1" rIns="0" wrap="square" tIns="0">
            <a:noAutofit/>
          </a:bodyPr>
          <a:lstStyle/>
          <a:p>
            <a:pPr indent="0" lvl="0" marL="0" marR="0" rtl="0" algn="ctr">
              <a:lnSpc>
                <a:spcPct val="127027"/>
              </a:lnSpc>
              <a:spcBef>
                <a:spcPts val="0"/>
              </a:spcBef>
              <a:spcAft>
                <a:spcPts val="0"/>
              </a:spcAft>
              <a:buClr>
                <a:srgbClr val="E0E4E6"/>
              </a:buClr>
              <a:buSzPts val="1850"/>
              <a:buFont typeface="Spline Sans"/>
              <a:buNone/>
            </a:pPr>
            <a:r>
              <a:rPr b="1" lang="en-US" sz="1850">
                <a:solidFill>
                  <a:srgbClr val="E0E4E6"/>
                </a:solidFill>
                <a:latin typeface="Spline Sans"/>
                <a:ea typeface="Spline Sans"/>
                <a:cs typeface="Spline Sans"/>
                <a:sym typeface="Spline Sans"/>
              </a:rPr>
              <a:t>Standard Class</a:t>
            </a:r>
            <a:endParaRPr sz="1850">
              <a:solidFill>
                <a:schemeClr val="dk1"/>
              </a:solidFill>
              <a:latin typeface="Calibri"/>
              <a:ea typeface="Calibri"/>
              <a:cs typeface="Calibri"/>
              <a:sym typeface="Calibri"/>
            </a:endParaRPr>
          </a:p>
        </p:txBody>
      </p:sp>
      <p:sp>
        <p:nvSpPr>
          <p:cNvPr id="85" name="Google Shape;85;p14"/>
          <p:cNvSpPr/>
          <p:nvPr/>
        </p:nvSpPr>
        <p:spPr>
          <a:xfrm>
            <a:off x="10221039" y="3090863"/>
            <a:ext cx="3650456" cy="346829"/>
          </a:xfrm>
          <a:prstGeom prst="rect">
            <a:avLst/>
          </a:prstGeom>
          <a:noFill/>
          <a:ln>
            <a:noFill/>
          </a:ln>
        </p:spPr>
        <p:txBody>
          <a:bodyPr anchorCtr="0" anchor="t" bIns="0" lIns="0" spcFirstLastPara="1" rIns="0" wrap="square" tIns="0">
            <a:noAutofit/>
          </a:bodyPr>
          <a:lstStyle/>
          <a:p>
            <a:pPr indent="0" lvl="0" marL="0" marR="0" rtl="0" algn="ctr">
              <a:lnSpc>
                <a:spcPct val="158823"/>
              </a:lnSpc>
              <a:spcBef>
                <a:spcPts val="0"/>
              </a:spcBef>
              <a:spcAft>
                <a:spcPts val="0"/>
              </a:spcAft>
              <a:buClr>
                <a:srgbClr val="E0E4E6"/>
              </a:buClr>
              <a:buSzPts val="1700"/>
              <a:buFont typeface="Barlow"/>
              <a:buNone/>
            </a:pPr>
            <a:r>
              <a:rPr lang="en-US" sz="1700">
                <a:solidFill>
                  <a:srgbClr val="E0E4E6"/>
                </a:solidFill>
                <a:latin typeface="Barlow"/>
                <a:ea typeface="Barlow"/>
                <a:cs typeface="Barlow"/>
                <a:sym typeface="Barlow"/>
              </a:rPr>
              <a:t>Percentage of total passenger count</a:t>
            </a:r>
            <a:endParaRPr sz="1700">
              <a:solidFill>
                <a:schemeClr val="dk1"/>
              </a:solidFill>
              <a:latin typeface="Calibri"/>
              <a:ea typeface="Calibri"/>
              <a:cs typeface="Calibri"/>
              <a:sym typeface="Calibri"/>
            </a:endParaRPr>
          </a:p>
        </p:txBody>
      </p:sp>
      <p:sp>
        <p:nvSpPr>
          <p:cNvPr id="86" name="Google Shape;86;p14"/>
          <p:cNvSpPr/>
          <p:nvPr/>
        </p:nvSpPr>
        <p:spPr>
          <a:xfrm>
            <a:off x="6407944" y="4196596"/>
            <a:ext cx="3650456" cy="71556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7A7E7"/>
              </a:buClr>
              <a:buSzPts val="5600"/>
              <a:buFont typeface="Spline Sans"/>
              <a:buNone/>
            </a:pPr>
            <a:r>
              <a:rPr b="1" lang="en-US" sz="5600">
                <a:solidFill>
                  <a:srgbClr val="37A7E7"/>
                </a:solidFill>
                <a:latin typeface="Spline Sans"/>
                <a:ea typeface="Spline Sans"/>
                <a:cs typeface="Spline Sans"/>
                <a:sym typeface="Spline Sans"/>
              </a:rPr>
              <a:t>18.5K</a:t>
            </a:r>
            <a:endParaRPr sz="5600">
              <a:solidFill>
                <a:schemeClr val="dk1"/>
              </a:solidFill>
              <a:latin typeface="Calibri"/>
              <a:ea typeface="Calibri"/>
              <a:cs typeface="Calibri"/>
              <a:sym typeface="Calibri"/>
            </a:endParaRPr>
          </a:p>
        </p:txBody>
      </p:sp>
      <p:sp>
        <p:nvSpPr>
          <p:cNvPr id="87" name="Google Shape;87;p14"/>
          <p:cNvSpPr/>
          <p:nvPr/>
        </p:nvSpPr>
        <p:spPr>
          <a:xfrm>
            <a:off x="11064359" y="5268211"/>
            <a:ext cx="2409468" cy="301228"/>
          </a:xfrm>
          <a:prstGeom prst="rect">
            <a:avLst/>
          </a:prstGeom>
          <a:noFill/>
          <a:ln>
            <a:noFill/>
          </a:ln>
        </p:spPr>
        <p:txBody>
          <a:bodyPr anchorCtr="0" anchor="t" bIns="0" lIns="0" spcFirstLastPara="1" rIns="0" wrap="square" tIns="0">
            <a:noAutofit/>
          </a:bodyPr>
          <a:lstStyle/>
          <a:p>
            <a:pPr indent="0" lvl="0" marL="0" marR="0" rtl="0" algn="ctr">
              <a:lnSpc>
                <a:spcPct val="127027"/>
              </a:lnSpc>
              <a:spcBef>
                <a:spcPts val="0"/>
              </a:spcBef>
              <a:spcAft>
                <a:spcPts val="0"/>
              </a:spcAft>
              <a:buClr>
                <a:srgbClr val="E0E4E6"/>
              </a:buClr>
              <a:buSzPts val="1850"/>
              <a:buFont typeface="Spline Sans"/>
              <a:buNone/>
            </a:pPr>
            <a:r>
              <a:rPr b="1" lang="en-US" sz="1850">
                <a:solidFill>
                  <a:srgbClr val="E0E4E6"/>
                </a:solidFill>
                <a:latin typeface="Spline Sans"/>
                <a:ea typeface="Spline Sans"/>
                <a:cs typeface="Spline Sans"/>
                <a:sym typeface="Spline Sans"/>
              </a:rPr>
              <a:t>Refund Tickets</a:t>
            </a:r>
            <a:endParaRPr sz="1850">
              <a:solidFill>
                <a:schemeClr val="dk1"/>
              </a:solidFill>
              <a:latin typeface="Calibri"/>
              <a:ea typeface="Calibri"/>
              <a:cs typeface="Calibri"/>
              <a:sym typeface="Calibri"/>
            </a:endParaRPr>
          </a:p>
        </p:txBody>
      </p:sp>
      <p:sp>
        <p:nvSpPr>
          <p:cNvPr id="88" name="Google Shape;88;p14"/>
          <p:cNvSpPr/>
          <p:nvPr/>
        </p:nvSpPr>
        <p:spPr>
          <a:xfrm>
            <a:off x="6570583" y="5601061"/>
            <a:ext cx="3650456" cy="346829"/>
          </a:xfrm>
          <a:prstGeom prst="rect">
            <a:avLst/>
          </a:prstGeom>
          <a:noFill/>
          <a:ln>
            <a:noFill/>
          </a:ln>
        </p:spPr>
        <p:txBody>
          <a:bodyPr anchorCtr="0" anchor="t" bIns="0" lIns="0" spcFirstLastPara="1" rIns="0" wrap="square" tIns="0">
            <a:noAutofit/>
          </a:bodyPr>
          <a:lstStyle/>
          <a:p>
            <a:pPr indent="0" lvl="0" marL="0" marR="0" rtl="0" algn="ctr">
              <a:lnSpc>
                <a:spcPct val="158823"/>
              </a:lnSpc>
              <a:spcBef>
                <a:spcPts val="0"/>
              </a:spcBef>
              <a:spcAft>
                <a:spcPts val="0"/>
              </a:spcAft>
              <a:buClr>
                <a:srgbClr val="E0E4E6"/>
              </a:buClr>
              <a:buSzPts val="1700"/>
              <a:buFont typeface="Barlow"/>
              <a:buNone/>
            </a:pPr>
            <a:r>
              <a:rPr lang="en-US" sz="1700">
                <a:solidFill>
                  <a:srgbClr val="E0E4E6"/>
                </a:solidFill>
                <a:latin typeface="Barlow"/>
                <a:ea typeface="Barlow"/>
                <a:cs typeface="Barlow"/>
                <a:sym typeface="Barlow"/>
              </a:rPr>
              <a:t>Tickets purchased online</a:t>
            </a:r>
            <a:endParaRPr sz="1700">
              <a:solidFill>
                <a:schemeClr val="dk1"/>
              </a:solidFill>
              <a:latin typeface="Calibri"/>
              <a:ea typeface="Calibri"/>
              <a:cs typeface="Calibri"/>
              <a:sym typeface="Calibri"/>
            </a:endParaRPr>
          </a:p>
        </p:txBody>
      </p:sp>
      <p:sp>
        <p:nvSpPr>
          <p:cNvPr id="89" name="Google Shape;89;p14"/>
          <p:cNvSpPr/>
          <p:nvPr/>
        </p:nvSpPr>
        <p:spPr>
          <a:xfrm>
            <a:off x="6245304" y="6205180"/>
            <a:ext cx="7626191" cy="1387316"/>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0E4E6"/>
              </a:buClr>
              <a:buSzPts val="1700"/>
              <a:buFont typeface="Barlow"/>
              <a:buNone/>
            </a:pPr>
            <a:r>
              <a:rPr lang="en-US" sz="1700">
                <a:solidFill>
                  <a:srgbClr val="E0E4E6"/>
                </a:solidFill>
                <a:latin typeface="Barlow"/>
                <a:ea typeface="Barlow"/>
                <a:cs typeface="Barlow"/>
                <a:sym typeface="Barlow"/>
              </a:rPr>
              <a:t>The total revenue from ticket sales is £703,219, with Standard Class tickets representing 82.50% of the passenger count. A total of 18,521 tickets were purchased online, surpassing the 13,132 tickets bought at stations. The most profitable route is Liverpool Lime Street to London Euston, generating £113,451.</a:t>
            </a:r>
            <a:endParaRPr sz="1700">
              <a:solidFill>
                <a:schemeClr val="dk1"/>
              </a:solidFill>
              <a:latin typeface="Calibri"/>
              <a:ea typeface="Calibri"/>
              <a:cs typeface="Calibri"/>
              <a:sym typeface="Calibri"/>
            </a:endParaRPr>
          </a:p>
        </p:txBody>
      </p:sp>
      <p:sp>
        <p:nvSpPr>
          <p:cNvPr id="90" name="Google Shape;90;p14"/>
          <p:cNvSpPr/>
          <p:nvPr/>
        </p:nvSpPr>
        <p:spPr>
          <a:xfrm>
            <a:off x="10221039" y="4196596"/>
            <a:ext cx="3650456" cy="71556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8DA9DB"/>
              </a:buClr>
              <a:buSzPts val="5600"/>
              <a:buFont typeface="Spline Sans"/>
              <a:buNone/>
            </a:pPr>
            <a:r>
              <a:rPr b="1" lang="en-US" sz="5600">
                <a:solidFill>
                  <a:srgbClr val="8DA9DB"/>
                </a:solidFill>
                <a:latin typeface="Spline Sans"/>
                <a:ea typeface="Spline Sans"/>
                <a:cs typeface="Spline Sans"/>
                <a:sym typeface="Spline Sans"/>
              </a:rPr>
              <a:t>5.2%</a:t>
            </a:r>
            <a:endParaRPr sz="5600">
              <a:solidFill>
                <a:srgbClr val="8DA9DB"/>
              </a:solidFill>
              <a:latin typeface="Calibri"/>
              <a:ea typeface="Calibri"/>
              <a:cs typeface="Calibri"/>
              <a:sym typeface="Calibri"/>
            </a:endParaRPr>
          </a:p>
        </p:txBody>
      </p:sp>
      <p:sp>
        <p:nvSpPr>
          <p:cNvPr id="91" name="Google Shape;91;p14"/>
          <p:cNvSpPr/>
          <p:nvPr/>
        </p:nvSpPr>
        <p:spPr>
          <a:xfrm>
            <a:off x="7180838" y="5268211"/>
            <a:ext cx="2409468" cy="301228"/>
          </a:xfrm>
          <a:prstGeom prst="rect">
            <a:avLst/>
          </a:prstGeom>
          <a:noFill/>
          <a:ln>
            <a:noFill/>
          </a:ln>
        </p:spPr>
        <p:txBody>
          <a:bodyPr anchorCtr="0" anchor="t" bIns="0" lIns="0" spcFirstLastPara="1" rIns="0" wrap="square" tIns="0">
            <a:noAutofit/>
          </a:bodyPr>
          <a:lstStyle/>
          <a:p>
            <a:pPr indent="0" lvl="0" marL="0" marR="0" rtl="0" algn="ctr">
              <a:lnSpc>
                <a:spcPct val="127027"/>
              </a:lnSpc>
              <a:spcBef>
                <a:spcPts val="0"/>
              </a:spcBef>
              <a:spcAft>
                <a:spcPts val="0"/>
              </a:spcAft>
              <a:buClr>
                <a:srgbClr val="E0E4E6"/>
              </a:buClr>
              <a:buSzPts val="1850"/>
              <a:buFont typeface="Spline Sans"/>
              <a:buNone/>
            </a:pPr>
            <a:r>
              <a:rPr b="1" lang="en-US" sz="1850">
                <a:solidFill>
                  <a:srgbClr val="E0E4E6"/>
                </a:solidFill>
                <a:latin typeface="Spline Sans"/>
                <a:ea typeface="Spline Sans"/>
                <a:cs typeface="Spline Sans"/>
                <a:sym typeface="Spline Sans"/>
              </a:rPr>
              <a:t>Online Tickets</a:t>
            </a:r>
            <a:endParaRPr sz="1850">
              <a:solidFill>
                <a:schemeClr val="dk1"/>
              </a:solidFill>
              <a:latin typeface="Calibri"/>
              <a:ea typeface="Calibri"/>
              <a:cs typeface="Calibri"/>
              <a:sym typeface="Calibri"/>
            </a:endParaRPr>
          </a:p>
        </p:txBody>
      </p:sp>
      <p:sp>
        <p:nvSpPr>
          <p:cNvPr id="92" name="Google Shape;92;p14"/>
          <p:cNvSpPr/>
          <p:nvPr/>
        </p:nvSpPr>
        <p:spPr>
          <a:xfrm>
            <a:off x="10373439" y="5540480"/>
            <a:ext cx="3650456" cy="346829"/>
          </a:xfrm>
          <a:prstGeom prst="rect">
            <a:avLst/>
          </a:prstGeom>
          <a:noFill/>
          <a:ln>
            <a:noFill/>
          </a:ln>
        </p:spPr>
        <p:txBody>
          <a:bodyPr anchorCtr="0" anchor="t" bIns="0" lIns="0" spcFirstLastPara="1" rIns="0" wrap="square" tIns="0">
            <a:noAutofit/>
          </a:bodyPr>
          <a:lstStyle/>
          <a:p>
            <a:pPr indent="0" lvl="0" marL="0" marR="0" rtl="0" algn="ctr">
              <a:lnSpc>
                <a:spcPct val="158823"/>
              </a:lnSpc>
              <a:spcBef>
                <a:spcPts val="0"/>
              </a:spcBef>
              <a:spcAft>
                <a:spcPts val="0"/>
              </a:spcAft>
              <a:buClr>
                <a:srgbClr val="E0E4E6"/>
              </a:buClr>
              <a:buSzPts val="1700"/>
              <a:buFont typeface="Barlow"/>
              <a:buNone/>
            </a:pPr>
            <a:r>
              <a:rPr lang="en-US" sz="1700">
                <a:solidFill>
                  <a:srgbClr val="E0E4E6"/>
                </a:solidFill>
                <a:latin typeface="Barlow"/>
                <a:ea typeface="Barlow"/>
                <a:cs typeface="Barlow"/>
                <a:sym typeface="Barlow"/>
              </a:rPr>
              <a:t>Percentage of tickets refund</a:t>
            </a:r>
            <a:endParaRPr sz="17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5"/>
          <p:cNvPicPr preferRelativeResize="0"/>
          <p:nvPr/>
        </p:nvPicPr>
        <p:blipFill rotWithShape="1">
          <a:blip r:embed="rId3">
            <a:alphaModFix/>
          </a:blip>
          <a:srcRect b="0" l="0" r="0" t="0"/>
          <a:stretch/>
        </p:blipFill>
        <p:spPr>
          <a:xfrm>
            <a:off x="198782" y="188844"/>
            <a:ext cx="14203017" cy="78220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p:nvPr/>
        </p:nvSpPr>
        <p:spPr>
          <a:xfrm>
            <a:off x="6350437" y="1049179"/>
            <a:ext cx="5486400"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lang="en-US" sz="4300">
                <a:solidFill>
                  <a:srgbClr val="F0FCFF"/>
                </a:solidFill>
                <a:latin typeface="Spline Sans"/>
                <a:ea typeface="Spline Sans"/>
                <a:cs typeface="Spline Sans"/>
                <a:sym typeface="Spline Sans"/>
              </a:rPr>
              <a:t>Customer Behavior</a:t>
            </a:r>
            <a:endParaRPr sz="4300">
              <a:solidFill>
                <a:schemeClr val="dk1"/>
              </a:solidFill>
              <a:latin typeface="Calibri"/>
              <a:ea typeface="Calibri"/>
              <a:cs typeface="Calibri"/>
              <a:sym typeface="Calibri"/>
            </a:endParaRPr>
          </a:p>
        </p:txBody>
      </p:sp>
      <p:pic>
        <p:nvPicPr>
          <p:cNvPr descr="preencoded.png" id="104" name="Google Shape;104;p16"/>
          <p:cNvPicPr preferRelativeResize="0"/>
          <p:nvPr/>
        </p:nvPicPr>
        <p:blipFill rotWithShape="1">
          <a:blip r:embed="rId3">
            <a:alphaModFix/>
          </a:blip>
          <a:srcRect b="0" l="0" r="0" t="0"/>
          <a:stretch/>
        </p:blipFill>
        <p:spPr>
          <a:xfrm>
            <a:off x="6350437" y="2105263"/>
            <a:ext cx="556260" cy="556260"/>
          </a:xfrm>
          <a:prstGeom prst="rect">
            <a:avLst/>
          </a:prstGeom>
          <a:noFill/>
          <a:ln>
            <a:noFill/>
          </a:ln>
        </p:spPr>
      </p:pic>
      <p:sp>
        <p:nvSpPr>
          <p:cNvPr id="105" name="Google Shape;105;p16"/>
          <p:cNvSpPr/>
          <p:nvPr/>
        </p:nvSpPr>
        <p:spPr>
          <a:xfrm>
            <a:off x="6350437" y="2908340"/>
            <a:ext cx="2225040"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lang="en-US" sz="2150">
                <a:solidFill>
                  <a:srgbClr val="E0E4E6"/>
                </a:solidFill>
                <a:latin typeface="Spline Sans"/>
                <a:ea typeface="Spline Sans"/>
                <a:cs typeface="Spline Sans"/>
                <a:sym typeface="Spline Sans"/>
              </a:rPr>
              <a:t>Crowded Stations</a:t>
            </a:r>
            <a:endParaRPr sz="2150">
              <a:solidFill>
                <a:schemeClr val="dk1"/>
              </a:solidFill>
              <a:latin typeface="Calibri"/>
              <a:ea typeface="Calibri"/>
              <a:cs typeface="Calibri"/>
              <a:sym typeface="Calibri"/>
            </a:endParaRPr>
          </a:p>
        </p:txBody>
      </p:sp>
      <p:sp>
        <p:nvSpPr>
          <p:cNvPr id="106" name="Google Shape;106;p16"/>
          <p:cNvSpPr/>
          <p:nvPr/>
        </p:nvSpPr>
        <p:spPr>
          <a:xfrm>
            <a:off x="6350437" y="3742253"/>
            <a:ext cx="2225040" cy="118514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Birmingham New Street, Manchester Piccadilly</a:t>
            </a:r>
            <a:endParaRPr sz="1900">
              <a:solidFill>
                <a:schemeClr val="dk1"/>
              </a:solidFill>
              <a:latin typeface="Calibri"/>
              <a:ea typeface="Calibri"/>
              <a:cs typeface="Calibri"/>
              <a:sym typeface="Calibri"/>
            </a:endParaRPr>
          </a:p>
        </p:txBody>
      </p:sp>
      <p:pic>
        <p:nvPicPr>
          <p:cNvPr descr="preencoded.png" id="107" name="Google Shape;107;p16"/>
          <p:cNvPicPr preferRelativeResize="0"/>
          <p:nvPr/>
        </p:nvPicPr>
        <p:blipFill rotWithShape="1">
          <a:blip r:embed="rId4">
            <a:alphaModFix/>
          </a:blip>
          <a:srcRect b="0" l="0" r="0" t="0"/>
          <a:stretch/>
        </p:blipFill>
        <p:spPr>
          <a:xfrm>
            <a:off x="8945761" y="2105263"/>
            <a:ext cx="556260" cy="556260"/>
          </a:xfrm>
          <a:prstGeom prst="rect">
            <a:avLst/>
          </a:prstGeom>
          <a:noFill/>
          <a:ln>
            <a:noFill/>
          </a:ln>
        </p:spPr>
      </p:pic>
      <p:sp>
        <p:nvSpPr>
          <p:cNvPr id="108" name="Google Shape;108;p16"/>
          <p:cNvSpPr/>
          <p:nvPr/>
        </p:nvSpPr>
        <p:spPr>
          <a:xfrm>
            <a:off x="8945761" y="2908340"/>
            <a:ext cx="2225159"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lang="en-US" sz="2150">
                <a:solidFill>
                  <a:srgbClr val="E0E4E6"/>
                </a:solidFill>
                <a:latin typeface="Spline Sans"/>
                <a:ea typeface="Spline Sans"/>
                <a:cs typeface="Spline Sans"/>
                <a:sym typeface="Spline Sans"/>
              </a:rPr>
              <a:t>Ticket Preferences</a:t>
            </a:r>
            <a:endParaRPr sz="2150">
              <a:solidFill>
                <a:schemeClr val="dk1"/>
              </a:solidFill>
              <a:latin typeface="Calibri"/>
              <a:ea typeface="Calibri"/>
              <a:cs typeface="Calibri"/>
              <a:sym typeface="Calibri"/>
            </a:endParaRPr>
          </a:p>
        </p:txBody>
      </p:sp>
      <p:sp>
        <p:nvSpPr>
          <p:cNvPr id="109" name="Google Shape;109;p16"/>
          <p:cNvSpPr/>
          <p:nvPr/>
        </p:nvSpPr>
        <p:spPr>
          <a:xfrm>
            <a:off x="8945761" y="3742253"/>
            <a:ext cx="2225159" cy="118514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Advance tickets are most popular (55.46%)</a:t>
            </a:r>
            <a:endParaRPr sz="1900">
              <a:solidFill>
                <a:schemeClr val="dk1"/>
              </a:solidFill>
              <a:latin typeface="Calibri"/>
              <a:ea typeface="Calibri"/>
              <a:cs typeface="Calibri"/>
              <a:sym typeface="Calibri"/>
            </a:endParaRPr>
          </a:p>
        </p:txBody>
      </p:sp>
      <p:pic>
        <p:nvPicPr>
          <p:cNvPr descr="preencoded.png" id="110" name="Google Shape;110;p16"/>
          <p:cNvPicPr preferRelativeResize="0"/>
          <p:nvPr/>
        </p:nvPicPr>
        <p:blipFill rotWithShape="1">
          <a:blip r:embed="rId5">
            <a:alphaModFix/>
          </a:blip>
          <a:srcRect b="0" l="0" r="0" t="0"/>
          <a:stretch/>
        </p:blipFill>
        <p:spPr>
          <a:xfrm>
            <a:off x="11541204" y="2105263"/>
            <a:ext cx="556260" cy="556260"/>
          </a:xfrm>
          <a:prstGeom prst="rect">
            <a:avLst/>
          </a:prstGeom>
          <a:noFill/>
          <a:ln>
            <a:noFill/>
          </a:ln>
        </p:spPr>
      </p:pic>
      <p:sp>
        <p:nvSpPr>
          <p:cNvPr id="111" name="Google Shape;111;p16"/>
          <p:cNvSpPr/>
          <p:nvPr/>
        </p:nvSpPr>
        <p:spPr>
          <a:xfrm>
            <a:off x="11541204" y="2908340"/>
            <a:ext cx="2225040"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lang="en-US" sz="2150">
                <a:solidFill>
                  <a:srgbClr val="E0E4E6"/>
                </a:solidFill>
                <a:latin typeface="Spline Sans"/>
                <a:ea typeface="Spline Sans"/>
                <a:cs typeface="Spline Sans"/>
                <a:sym typeface="Spline Sans"/>
              </a:rPr>
              <a:t>Purchase Behavior</a:t>
            </a:r>
            <a:endParaRPr sz="2150">
              <a:solidFill>
                <a:schemeClr val="dk1"/>
              </a:solidFill>
              <a:latin typeface="Calibri"/>
              <a:ea typeface="Calibri"/>
              <a:cs typeface="Calibri"/>
              <a:sym typeface="Calibri"/>
            </a:endParaRPr>
          </a:p>
        </p:txBody>
      </p:sp>
      <p:sp>
        <p:nvSpPr>
          <p:cNvPr id="112" name="Google Shape;112;p16"/>
          <p:cNvSpPr/>
          <p:nvPr/>
        </p:nvSpPr>
        <p:spPr>
          <a:xfrm>
            <a:off x="11541204" y="3742253"/>
            <a:ext cx="2225040" cy="118514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Passengers prefer buying tickets in advance</a:t>
            </a:r>
            <a:endParaRPr sz="1900">
              <a:solidFill>
                <a:schemeClr val="dk1"/>
              </a:solidFill>
              <a:latin typeface="Calibri"/>
              <a:ea typeface="Calibri"/>
              <a:cs typeface="Calibri"/>
              <a:sym typeface="Calibri"/>
            </a:endParaRPr>
          </a:p>
        </p:txBody>
      </p:sp>
      <p:sp>
        <p:nvSpPr>
          <p:cNvPr id="113" name="Google Shape;113;p16"/>
          <p:cNvSpPr/>
          <p:nvPr/>
        </p:nvSpPr>
        <p:spPr>
          <a:xfrm>
            <a:off x="6350437" y="5205055"/>
            <a:ext cx="7415927" cy="1975247"/>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Birmingham New Street and Manchester Piccadilly are the most crowded stations. Advance tickets are the most popular, accounting for 55.46% of total passengers. Most passengers prefer buying tickets in advance to secure lower prices, indicating a price-sensitive customer base.</a:t>
            </a:r>
            <a:endParaRPr sz="1900">
              <a:solidFill>
                <a:schemeClr val="dk1"/>
              </a:solidFill>
              <a:latin typeface="Calibri"/>
              <a:ea typeface="Calibri"/>
              <a:cs typeface="Calibri"/>
              <a:sym typeface="Calibri"/>
            </a:endParaRPr>
          </a:p>
        </p:txBody>
      </p:sp>
      <p:pic>
        <p:nvPicPr>
          <p:cNvPr descr="A train at a station&#10;&#10;AI-generated content may be incorrect." id="114" name="Google Shape;114;p16"/>
          <p:cNvPicPr preferRelativeResize="0"/>
          <p:nvPr/>
        </p:nvPicPr>
        <p:blipFill rotWithShape="1">
          <a:blip r:embed="rId6">
            <a:alphaModFix/>
          </a:blip>
          <a:srcRect b="0" l="0" r="0" t="0"/>
          <a:stretch/>
        </p:blipFill>
        <p:spPr>
          <a:xfrm>
            <a:off x="390293" y="312234"/>
            <a:ext cx="4884234" cy="741556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p:nvPr/>
        </p:nvSpPr>
        <p:spPr>
          <a:xfrm>
            <a:off x="864037" y="987266"/>
            <a:ext cx="5695236"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lang="en-US" sz="4300">
                <a:solidFill>
                  <a:srgbClr val="F0FCFF"/>
                </a:solidFill>
                <a:latin typeface="Spline Sans"/>
                <a:ea typeface="Spline Sans"/>
                <a:cs typeface="Spline Sans"/>
                <a:sym typeface="Spline Sans"/>
              </a:rPr>
              <a:t>Demographic Insights</a:t>
            </a:r>
            <a:endParaRPr sz="4300">
              <a:solidFill>
                <a:schemeClr val="dk1"/>
              </a:solidFill>
              <a:latin typeface="Calibri"/>
              <a:ea typeface="Calibri"/>
              <a:cs typeface="Calibri"/>
              <a:sym typeface="Calibri"/>
            </a:endParaRPr>
          </a:p>
        </p:txBody>
      </p:sp>
      <p:sp>
        <p:nvSpPr>
          <p:cNvPr id="121" name="Google Shape;121;p17"/>
          <p:cNvSpPr/>
          <p:nvPr/>
        </p:nvSpPr>
        <p:spPr>
          <a:xfrm>
            <a:off x="2271951" y="3332559"/>
            <a:ext cx="2743200" cy="342900"/>
          </a:xfrm>
          <a:prstGeom prst="rect">
            <a:avLst/>
          </a:prstGeom>
          <a:noFill/>
          <a:ln>
            <a:noFill/>
          </a:ln>
        </p:spPr>
        <p:txBody>
          <a:bodyPr anchorCtr="0" anchor="t" bIns="0" lIns="0" spcFirstLastPara="1" rIns="0" wrap="square" tIns="0">
            <a:noAutofit/>
          </a:bodyPr>
          <a:lstStyle/>
          <a:p>
            <a:pPr indent="0" lvl="0" marL="0" marR="0" rtl="0" algn="r">
              <a:lnSpc>
                <a:spcPct val="125581"/>
              </a:lnSpc>
              <a:spcBef>
                <a:spcPts val="0"/>
              </a:spcBef>
              <a:spcAft>
                <a:spcPts val="0"/>
              </a:spcAft>
              <a:buClr>
                <a:srgbClr val="E0E4E6"/>
              </a:buClr>
              <a:buSzPts val="2150"/>
              <a:buFont typeface="Spline Sans"/>
              <a:buNone/>
            </a:pPr>
            <a:r>
              <a:rPr b="1" lang="en-US" sz="2150">
                <a:solidFill>
                  <a:srgbClr val="E0E4E6"/>
                </a:solidFill>
                <a:latin typeface="Spline Sans"/>
                <a:ea typeface="Spline Sans"/>
                <a:cs typeface="Spline Sans"/>
                <a:sym typeface="Spline Sans"/>
              </a:rPr>
              <a:t>Rail Card Usage</a:t>
            </a:r>
            <a:endParaRPr sz="2150">
              <a:solidFill>
                <a:schemeClr val="dk1"/>
              </a:solidFill>
              <a:latin typeface="Calibri"/>
              <a:ea typeface="Calibri"/>
              <a:cs typeface="Calibri"/>
              <a:sym typeface="Calibri"/>
            </a:endParaRPr>
          </a:p>
        </p:txBody>
      </p:sp>
      <p:sp>
        <p:nvSpPr>
          <p:cNvPr id="122" name="Google Shape;122;p17"/>
          <p:cNvSpPr/>
          <p:nvPr/>
        </p:nvSpPr>
        <p:spPr>
          <a:xfrm>
            <a:off x="864037" y="3823573"/>
            <a:ext cx="4151114" cy="790099"/>
          </a:xfrm>
          <a:prstGeom prst="rect">
            <a:avLst/>
          </a:prstGeom>
          <a:noFill/>
          <a:ln>
            <a:noFill/>
          </a:ln>
        </p:spPr>
        <p:txBody>
          <a:bodyPr anchorCtr="0" anchor="t" bIns="0" lIns="0" spcFirstLastPara="1" rIns="0" wrap="square" tIns="0">
            <a:noAutofit/>
          </a:bodyPr>
          <a:lstStyle/>
          <a:p>
            <a:pPr indent="0" lvl="0" marL="0" marR="0" rtl="0" algn="r">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20,921 passengers traveled without a rail card.</a:t>
            </a:r>
            <a:endParaRPr sz="1900">
              <a:solidFill>
                <a:schemeClr val="dk1"/>
              </a:solidFill>
              <a:latin typeface="Calibri"/>
              <a:ea typeface="Calibri"/>
              <a:cs typeface="Calibri"/>
              <a:sym typeface="Calibri"/>
            </a:endParaRPr>
          </a:p>
        </p:txBody>
      </p:sp>
      <p:pic>
        <p:nvPicPr>
          <p:cNvPr descr="preencoded.png" id="123" name="Google Shape;123;p17"/>
          <p:cNvPicPr preferRelativeResize="0"/>
          <p:nvPr/>
        </p:nvPicPr>
        <p:blipFill rotWithShape="1">
          <a:blip r:embed="rId3">
            <a:alphaModFix/>
          </a:blip>
          <a:srcRect b="0" l="0" r="0" t="0"/>
          <a:stretch/>
        </p:blipFill>
        <p:spPr>
          <a:xfrm>
            <a:off x="5508903" y="2166818"/>
            <a:ext cx="3612594" cy="3612594"/>
          </a:xfrm>
          <a:prstGeom prst="rect">
            <a:avLst/>
          </a:prstGeom>
          <a:noFill/>
          <a:ln>
            <a:noFill/>
          </a:ln>
        </p:spPr>
      </p:pic>
      <p:sp>
        <p:nvSpPr>
          <p:cNvPr id="124" name="Google Shape;124;p17"/>
          <p:cNvSpPr/>
          <p:nvPr/>
        </p:nvSpPr>
        <p:spPr>
          <a:xfrm>
            <a:off x="5267920" y="3664506"/>
            <a:ext cx="617220" cy="617220"/>
          </a:xfrm>
          <a:prstGeom prst="roundRect">
            <a:avLst>
              <a:gd fmla="val 1480000" name="adj"/>
            </a:avLst>
          </a:prstGeom>
          <a:solidFill>
            <a:srgbClr val="0A081B"/>
          </a:solidFill>
          <a:ln cap="flat" cmpd="sng" w="30475">
            <a:solidFill>
              <a:srgbClr val="16FFB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5" name="Google Shape;125;p17"/>
          <p:cNvPicPr preferRelativeResize="0"/>
          <p:nvPr/>
        </p:nvPicPr>
        <p:blipFill rotWithShape="1">
          <a:blip r:embed="rId4">
            <a:alphaModFix/>
          </a:blip>
          <a:srcRect b="0" l="0" r="0" t="0"/>
          <a:stretch/>
        </p:blipFill>
        <p:spPr>
          <a:xfrm>
            <a:off x="5437703" y="3799523"/>
            <a:ext cx="277654" cy="347186"/>
          </a:xfrm>
          <a:prstGeom prst="rect">
            <a:avLst/>
          </a:prstGeom>
          <a:noFill/>
          <a:ln>
            <a:noFill/>
          </a:ln>
        </p:spPr>
      </p:pic>
      <p:sp>
        <p:nvSpPr>
          <p:cNvPr id="126" name="Google Shape;126;p17"/>
          <p:cNvSpPr/>
          <p:nvPr/>
        </p:nvSpPr>
        <p:spPr>
          <a:xfrm>
            <a:off x="9615249" y="3332559"/>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E0E4E6"/>
              </a:buClr>
              <a:buSzPts val="2150"/>
              <a:buFont typeface="Spline Sans"/>
              <a:buNone/>
            </a:pPr>
            <a:r>
              <a:rPr b="1" lang="en-US" sz="2150">
                <a:solidFill>
                  <a:srgbClr val="E0E4E6"/>
                </a:solidFill>
                <a:latin typeface="Spline Sans"/>
                <a:ea typeface="Spline Sans"/>
                <a:cs typeface="Spline Sans"/>
                <a:sym typeface="Spline Sans"/>
              </a:rPr>
              <a:t>Payment Methods</a:t>
            </a:r>
            <a:endParaRPr sz="2150">
              <a:solidFill>
                <a:schemeClr val="dk1"/>
              </a:solidFill>
              <a:latin typeface="Calibri"/>
              <a:ea typeface="Calibri"/>
              <a:cs typeface="Calibri"/>
              <a:sym typeface="Calibri"/>
            </a:endParaRPr>
          </a:p>
        </p:txBody>
      </p:sp>
      <p:sp>
        <p:nvSpPr>
          <p:cNvPr id="127" name="Google Shape;127;p17"/>
          <p:cNvSpPr/>
          <p:nvPr/>
        </p:nvSpPr>
        <p:spPr>
          <a:xfrm>
            <a:off x="9615249" y="3823573"/>
            <a:ext cx="4151114"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Credit card payments accounted for 60.46% of transactions.</a:t>
            </a:r>
            <a:endParaRPr sz="1900">
              <a:solidFill>
                <a:schemeClr val="dk1"/>
              </a:solidFill>
              <a:latin typeface="Calibri"/>
              <a:ea typeface="Calibri"/>
              <a:cs typeface="Calibri"/>
              <a:sym typeface="Calibri"/>
            </a:endParaRPr>
          </a:p>
        </p:txBody>
      </p:sp>
      <p:pic>
        <p:nvPicPr>
          <p:cNvPr descr="preencoded.png" id="128" name="Google Shape;128;p17"/>
          <p:cNvPicPr preferRelativeResize="0"/>
          <p:nvPr/>
        </p:nvPicPr>
        <p:blipFill rotWithShape="1">
          <a:blip r:embed="rId5">
            <a:alphaModFix/>
          </a:blip>
          <a:srcRect b="0" l="0" r="0" t="0"/>
          <a:stretch/>
        </p:blipFill>
        <p:spPr>
          <a:xfrm>
            <a:off x="5508903" y="2166818"/>
            <a:ext cx="3612594" cy="3612594"/>
          </a:xfrm>
          <a:prstGeom prst="rect">
            <a:avLst/>
          </a:prstGeom>
          <a:noFill/>
          <a:ln>
            <a:noFill/>
          </a:ln>
        </p:spPr>
      </p:pic>
      <p:sp>
        <p:nvSpPr>
          <p:cNvPr id="129" name="Google Shape;129;p17"/>
          <p:cNvSpPr/>
          <p:nvPr/>
        </p:nvSpPr>
        <p:spPr>
          <a:xfrm>
            <a:off x="8745141" y="3664506"/>
            <a:ext cx="617220" cy="617220"/>
          </a:xfrm>
          <a:prstGeom prst="roundRect">
            <a:avLst>
              <a:gd fmla="val 1480000" name="adj"/>
            </a:avLst>
          </a:prstGeom>
          <a:solidFill>
            <a:srgbClr val="0A081B"/>
          </a:solidFill>
          <a:ln cap="flat" cmpd="sng" w="30475">
            <a:solidFill>
              <a:srgbClr val="29DD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30" name="Google Shape;130;p17"/>
          <p:cNvPicPr preferRelativeResize="0"/>
          <p:nvPr/>
        </p:nvPicPr>
        <p:blipFill rotWithShape="1">
          <a:blip r:embed="rId6">
            <a:alphaModFix/>
          </a:blip>
          <a:srcRect b="0" l="0" r="0" t="0"/>
          <a:stretch/>
        </p:blipFill>
        <p:spPr>
          <a:xfrm>
            <a:off x="8914924" y="3799523"/>
            <a:ext cx="277654" cy="347186"/>
          </a:xfrm>
          <a:prstGeom prst="rect">
            <a:avLst/>
          </a:prstGeom>
          <a:noFill/>
          <a:ln>
            <a:noFill/>
          </a:ln>
        </p:spPr>
      </p:pic>
      <p:sp>
        <p:nvSpPr>
          <p:cNvPr id="131" name="Google Shape;131;p17"/>
          <p:cNvSpPr/>
          <p:nvPr/>
        </p:nvSpPr>
        <p:spPr>
          <a:xfrm>
            <a:off x="864037" y="6057067"/>
            <a:ext cx="12902327" cy="118514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20,921 passengers traveled without a rail card, indicating a potential market for rail card promotions. Credit card payments accounted for 60.46% of transactions, highlighting the preference for credit cards among passengers. Understanding these demographics can inform targeted marketing strategies.</a:t>
            </a:r>
            <a:endParaRPr sz="1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descr="A screenshot of a train ride analysis&#10;&#10;AI-generated content may be incorrect." id="136" name="Google Shape;136;p18"/>
          <p:cNvPicPr preferRelativeResize="0"/>
          <p:nvPr/>
        </p:nvPicPr>
        <p:blipFill rotWithShape="1">
          <a:blip r:embed="rId3">
            <a:alphaModFix/>
          </a:blip>
          <a:srcRect b="0" l="0" r="0" t="0"/>
          <a:stretch/>
        </p:blipFill>
        <p:spPr>
          <a:xfrm>
            <a:off x="301082" y="122663"/>
            <a:ext cx="14095141" cy="7772400"/>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p:nvPr/>
        </p:nvSpPr>
        <p:spPr>
          <a:xfrm>
            <a:off x="864037" y="1514150"/>
            <a:ext cx="5486400"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lang="en-US" sz="4300">
                <a:solidFill>
                  <a:srgbClr val="F0FCFF"/>
                </a:solidFill>
                <a:latin typeface="Spline Sans"/>
                <a:ea typeface="Spline Sans"/>
                <a:cs typeface="Spline Sans"/>
                <a:sym typeface="Spline Sans"/>
              </a:rPr>
              <a:t>Route Analysis</a:t>
            </a:r>
            <a:endParaRPr sz="4300">
              <a:solidFill>
                <a:schemeClr val="dk1"/>
              </a:solidFill>
              <a:latin typeface="Calibri"/>
              <a:ea typeface="Calibri"/>
              <a:cs typeface="Calibri"/>
              <a:sym typeface="Calibri"/>
            </a:endParaRPr>
          </a:p>
        </p:txBody>
      </p:sp>
      <p:sp>
        <p:nvSpPr>
          <p:cNvPr id="143" name="Google Shape;143;p19"/>
          <p:cNvSpPr/>
          <p:nvPr/>
        </p:nvSpPr>
        <p:spPr>
          <a:xfrm>
            <a:off x="864037" y="2721107"/>
            <a:ext cx="2743200"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2150"/>
              <a:buFont typeface="Spline Sans"/>
              <a:buNone/>
            </a:pPr>
            <a:r>
              <a:rPr b="1" lang="en-US" sz="2150">
                <a:solidFill>
                  <a:srgbClr val="F0FCFF"/>
                </a:solidFill>
                <a:latin typeface="Spline Sans"/>
                <a:ea typeface="Spline Sans"/>
                <a:cs typeface="Spline Sans"/>
                <a:sym typeface="Spline Sans"/>
              </a:rPr>
              <a:t>Most Popular Route</a:t>
            </a:r>
            <a:endParaRPr sz="2150">
              <a:solidFill>
                <a:schemeClr val="dk1"/>
              </a:solidFill>
              <a:latin typeface="Calibri"/>
              <a:ea typeface="Calibri"/>
              <a:cs typeface="Calibri"/>
              <a:sym typeface="Calibri"/>
            </a:endParaRPr>
          </a:p>
        </p:txBody>
      </p:sp>
      <p:sp>
        <p:nvSpPr>
          <p:cNvPr id="144" name="Google Shape;144;p19"/>
          <p:cNvSpPr/>
          <p:nvPr/>
        </p:nvSpPr>
        <p:spPr>
          <a:xfrm>
            <a:off x="864037" y="3310823"/>
            <a:ext cx="3898821"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Manchester Piccadilly → Liverpool Lime Street (4,628 trips)</a:t>
            </a:r>
            <a:endParaRPr sz="1900">
              <a:solidFill>
                <a:schemeClr val="dk1"/>
              </a:solidFill>
              <a:latin typeface="Calibri"/>
              <a:ea typeface="Calibri"/>
              <a:cs typeface="Calibri"/>
              <a:sym typeface="Calibri"/>
            </a:endParaRPr>
          </a:p>
        </p:txBody>
      </p:sp>
      <p:sp>
        <p:nvSpPr>
          <p:cNvPr id="145" name="Google Shape;145;p19"/>
          <p:cNvSpPr/>
          <p:nvPr/>
        </p:nvSpPr>
        <p:spPr>
          <a:xfrm>
            <a:off x="5372695" y="2721107"/>
            <a:ext cx="2968228"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2150"/>
              <a:buFont typeface="Spline Sans"/>
              <a:buNone/>
            </a:pPr>
            <a:r>
              <a:rPr b="1" lang="en-US" sz="2150">
                <a:solidFill>
                  <a:srgbClr val="F0FCFF"/>
                </a:solidFill>
                <a:latin typeface="Spline Sans"/>
                <a:ea typeface="Spline Sans"/>
                <a:cs typeface="Spline Sans"/>
                <a:sym typeface="Spline Sans"/>
              </a:rPr>
              <a:t>Highest Revenue Route</a:t>
            </a:r>
            <a:endParaRPr sz="2150">
              <a:solidFill>
                <a:schemeClr val="dk1"/>
              </a:solidFill>
              <a:latin typeface="Calibri"/>
              <a:ea typeface="Calibri"/>
              <a:cs typeface="Calibri"/>
              <a:sym typeface="Calibri"/>
            </a:endParaRPr>
          </a:p>
        </p:txBody>
      </p:sp>
      <p:sp>
        <p:nvSpPr>
          <p:cNvPr id="146" name="Google Shape;146;p19"/>
          <p:cNvSpPr/>
          <p:nvPr/>
        </p:nvSpPr>
        <p:spPr>
          <a:xfrm>
            <a:off x="5372695" y="3310823"/>
            <a:ext cx="3898821" cy="79009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London Kings Cross → York (£183,459)</a:t>
            </a:r>
            <a:endParaRPr sz="1900">
              <a:solidFill>
                <a:schemeClr val="dk1"/>
              </a:solidFill>
              <a:latin typeface="Calibri"/>
              <a:ea typeface="Calibri"/>
              <a:cs typeface="Calibri"/>
              <a:sym typeface="Calibri"/>
            </a:endParaRPr>
          </a:p>
        </p:txBody>
      </p:sp>
      <p:sp>
        <p:nvSpPr>
          <p:cNvPr id="147" name="Google Shape;147;p19"/>
          <p:cNvSpPr/>
          <p:nvPr/>
        </p:nvSpPr>
        <p:spPr>
          <a:xfrm>
            <a:off x="9881354" y="2721107"/>
            <a:ext cx="2902387"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2150"/>
              <a:buFont typeface="Spline Sans"/>
              <a:buNone/>
            </a:pPr>
            <a:r>
              <a:rPr b="1" lang="en-US" sz="2150">
                <a:solidFill>
                  <a:srgbClr val="F0FCFF"/>
                </a:solidFill>
                <a:latin typeface="Spline Sans"/>
                <a:ea typeface="Spline Sans"/>
                <a:cs typeface="Spline Sans"/>
                <a:sym typeface="Spline Sans"/>
              </a:rPr>
              <a:t>Lowest Revenue Route</a:t>
            </a:r>
            <a:endParaRPr sz="2150">
              <a:solidFill>
                <a:schemeClr val="dk1"/>
              </a:solidFill>
              <a:latin typeface="Calibri"/>
              <a:ea typeface="Calibri"/>
              <a:cs typeface="Calibri"/>
              <a:sym typeface="Calibri"/>
            </a:endParaRPr>
          </a:p>
        </p:txBody>
      </p:sp>
      <p:sp>
        <p:nvSpPr>
          <p:cNvPr id="148" name="Google Shape;148;p19"/>
          <p:cNvSpPr/>
          <p:nvPr/>
        </p:nvSpPr>
        <p:spPr>
          <a:xfrm>
            <a:off x="9881354" y="3310823"/>
            <a:ext cx="3898821" cy="395049"/>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London Euston → Oxford (£41)</a:t>
            </a:r>
            <a:endParaRPr sz="1900">
              <a:solidFill>
                <a:schemeClr val="dk1"/>
              </a:solidFill>
              <a:latin typeface="Calibri"/>
              <a:ea typeface="Calibri"/>
              <a:cs typeface="Calibri"/>
              <a:sym typeface="Calibri"/>
            </a:endParaRPr>
          </a:p>
        </p:txBody>
      </p:sp>
      <p:sp>
        <p:nvSpPr>
          <p:cNvPr id="149" name="Google Shape;149;p19"/>
          <p:cNvSpPr/>
          <p:nvPr/>
        </p:nvSpPr>
        <p:spPr>
          <a:xfrm>
            <a:off x="877848" y="6111024"/>
            <a:ext cx="12902327" cy="118514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Manchester Piccadilly to Liverpool Lime Street is the most popular route with 4,628 trips. London Kings Cross to York generates the highest revenue at £183,459. The lowest revenue route is London Euston to Oxford, with a total revenue of only £41. These insights help identify key areas for route optimization.</a:t>
            </a:r>
            <a:endParaRPr sz="1900">
              <a:solidFill>
                <a:schemeClr val="dk1"/>
              </a:solidFill>
              <a:latin typeface="Calibri"/>
              <a:ea typeface="Calibri"/>
              <a:cs typeface="Calibri"/>
              <a:sym typeface="Calibri"/>
            </a:endParaRPr>
          </a:p>
        </p:txBody>
      </p:sp>
      <p:sp>
        <p:nvSpPr>
          <p:cNvPr id="150" name="Google Shape;150;p19"/>
          <p:cNvSpPr/>
          <p:nvPr/>
        </p:nvSpPr>
        <p:spPr>
          <a:xfrm>
            <a:off x="6503498" y="5013850"/>
            <a:ext cx="2902387" cy="3429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2150"/>
              <a:buFont typeface="Spline Sans"/>
              <a:buNone/>
            </a:pPr>
            <a:r>
              <a:rPr b="1" lang="en-US" sz="2150">
                <a:solidFill>
                  <a:srgbClr val="F0FCFF"/>
                </a:solidFill>
                <a:latin typeface="Spline Sans"/>
                <a:ea typeface="Spline Sans"/>
                <a:cs typeface="Spline Sans"/>
                <a:sym typeface="Spline Sans"/>
              </a:rPr>
              <a:t>Peak revenue hours</a:t>
            </a:r>
            <a:endParaRPr sz="2150">
              <a:solidFill>
                <a:schemeClr val="dk1"/>
              </a:solidFill>
              <a:latin typeface="Calibri"/>
              <a:ea typeface="Calibri"/>
              <a:cs typeface="Calibri"/>
              <a:sym typeface="Calibri"/>
            </a:endParaRPr>
          </a:p>
        </p:txBody>
      </p:sp>
      <p:sp>
        <p:nvSpPr>
          <p:cNvPr id="151" name="Google Shape;151;p19"/>
          <p:cNvSpPr/>
          <p:nvPr/>
        </p:nvSpPr>
        <p:spPr>
          <a:xfrm>
            <a:off x="6955972" y="4324139"/>
            <a:ext cx="1311578" cy="766364"/>
          </a:xfrm>
          <a:prstGeom prst="rect">
            <a:avLst/>
          </a:prstGeom>
          <a:noFill/>
          <a:ln>
            <a:noFill/>
          </a:ln>
        </p:spPr>
        <p:txBody>
          <a:bodyPr anchorCtr="0" anchor="t" bIns="45700" lIns="91425" spcFirstLastPara="1" rIns="91425" wrap="square" tIns="45700">
            <a:noAutofit/>
          </a:bodyPr>
          <a:lstStyle/>
          <a:p>
            <a:pPr indent="0" lvl="0" marL="0" marR="0" rtl="0" algn="ctr">
              <a:lnSpc>
                <a:spcPct val="140000"/>
              </a:lnSpc>
              <a:spcBef>
                <a:spcPts val="0"/>
              </a:spcBef>
              <a:spcAft>
                <a:spcPts val="0"/>
              </a:spcAft>
              <a:buNone/>
            </a:pPr>
            <a:r>
              <a:rPr b="1" lang="en-US" sz="4000">
                <a:solidFill>
                  <a:srgbClr val="37A7E7"/>
                </a:solidFill>
                <a:latin typeface="Spline Sans"/>
                <a:ea typeface="Spline Sans"/>
                <a:cs typeface="Spline Sans"/>
                <a:sym typeface="Spline Sans"/>
              </a:rPr>
              <a:t>6AM</a:t>
            </a:r>
            <a:endParaRPr sz="4000">
              <a:solidFill>
                <a:schemeClr val="dk1"/>
              </a:solidFill>
              <a:latin typeface="Calibri"/>
              <a:ea typeface="Calibri"/>
              <a:cs typeface="Calibri"/>
              <a:sym typeface="Calibri"/>
            </a:endParaRPr>
          </a:p>
        </p:txBody>
      </p:sp>
      <p:sp>
        <p:nvSpPr>
          <p:cNvPr id="152" name="Google Shape;152;p19"/>
          <p:cNvSpPr/>
          <p:nvPr/>
        </p:nvSpPr>
        <p:spPr>
          <a:xfrm>
            <a:off x="6803066" y="5356750"/>
            <a:ext cx="2303249" cy="312363"/>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(1911 trips ) 110712£</a:t>
            </a:r>
            <a:endParaRPr sz="1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preencoded.png" id="158" name="Google Shape;158;p20"/>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59" name="Google Shape;159;p20"/>
          <p:cNvSpPr/>
          <p:nvPr/>
        </p:nvSpPr>
        <p:spPr>
          <a:xfrm>
            <a:off x="729258" y="608409"/>
            <a:ext cx="7367826" cy="578763"/>
          </a:xfrm>
          <a:prstGeom prst="rect">
            <a:avLst/>
          </a:prstGeom>
          <a:noFill/>
          <a:ln>
            <a:noFill/>
          </a:ln>
        </p:spPr>
        <p:txBody>
          <a:bodyPr anchorCtr="0" anchor="t" bIns="0" lIns="0" spcFirstLastPara="1" rIns="0" wrap="square" tIns="0">
            <a:noAutofit/>
          </a:bodyPr>
          <a:lstStyle/>
          <a:p>
            <a:pPr indent="0" lvl="0" marL="0" marR="0" rtl="0" algn="l">
              <a:lnSpc>
                <a:spcPct val="126388"/>
              </a:lnSpc>
              <a:spcBef>
                <a:spcPts val="0"/>
              </a:spcBef>
              <a:spcAft>
                <a:spcPts val="0"/>
              </a:spcAft>
              <a:buClr>
                <a:srgbClr val="F0FCFF"/>
              </a:buClr>
              <a:buSzPts val="3600"/>
              <a:buFont typeface="Spline Sans"/>
              <a:buNone/>
            </a:pPr>
            <a:r>
              <a:rPr b="1" lang="en-US" sz="3600">
                <a:solidFill>
                  <a:srgbClr val="F0FCFF"/>
                </a:solidFill>
                <a:latin typeface="Spline Sans"/>
                <a:ea typeface="Spline Sans"/>
                <a:cs typeface="Spline Sans"/>
                <a:sym typeface="Spline Sans"/>
              </a:rPr>
              <a:t>Key Findings &amp; Recommendations</a:t>
            </a:r>
            <a:endParaRPr sz="3600">
              <a:solidFill>
                <a:schemeClr val="dk1"/>
              </a:solidFill>
              <a:latin typeface="Calibri"/>
              <a:ea typeface="Calibri"/>
              <a:cs typeface="Calibri"/>
              <a:sym typeface="Calibri"/>
            </a:endParaRPr>
          </a:p>
        </p:txBody>
      </p:sp>
      <p:sp>
        <p:nvSpPr>
          <p:cNvPr id="160" name="Google Shape;160;p20"/>
          <p:cNvSpPr/>
          <p:nvPr/>
        </p:nvSpPr>
        <p:spPr>
          <a:xfrm>
            <a:off x="729258" y="1734026"/>
            <a:ext cx="468749" cy="468749"/>
          </a:xfrm>
          <a:prstGeom prst="roundRect">
            <a:avLst>
              <a:gd fmla="val 66678" name="adj"/>
            </a:avLst>
          </a:prstGeom>
          <a:solidFill>
            <a:srgbClr val="0A081B"/>
          </a:solidFill>
          <a:ln cap="flat" cmpd="sng" w="22850">
            <a:solidFill>
              <a:srgbClr val="16FFB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20"/>
          <p:cNvSpPr/>
          <p:nvPr/>
        </p:nvSpPr>
        <p:spPr>
          <a:xfrm>
            <a:off x="824686" y="1794748"/>
            <a:ext cx="277773" cy="3471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150"/>
              <a:buFont typeface="Spline Sans"/>
              <a:buNone/>
            </a:pPr>
            <a:r>
              <a:rPr b="1" lang="en-US" sz="2150">
                <a:solidFill>
                  <a:srgbClr val="E0E4E6"/>
                </a:solidFill>
                <a:latin typeface="Spline Sans"/>
                <a:ea typeface="Spline Sans"/>
                <a:cs typeface="Spline Sans"/>
                <a:sym typeface="Spline Sans"/>
              </a:rPr>
              <a:t>1</a:t>
            </a:r>
            <a:endParaRPr sz="2150">
              <a:solidFill>
                <a:schemeClr val="dk1"/>
              </a:solidFill>
              <a:latin typeface="Calibri"/>
              <a:ea typeface="Calibri"/>
              <a:cs typeface="Calibri"/>
              <a:sym typeface="Calibri"/>
            </a:endParaRPr>
          </a:p>
        </p:txBody>
      </p:sp>
      <p:sp>
        <p:nvSpPr>
          <p:cNvPr id="162" name="Google Shape;162;p20"/>
          <p:cNvSpPr/>
          <p:nvPr/>
        </p:nvSpPr>
        <p:spPr>
          <a:xfrm>
            <a:off x="1406366" y="1734026"/>
            <a:ext cx="3048595" cy="2894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E4E6"/>
              </a:buClr>
              <a:buSzPts val="1800"/>
              <a:buFont typeface="Spline Sans"/>
              <a:buNone/>
            </a:pPr>
            <a:r>
              <a:rPr b="1" lang="en-US" sz="1800">
                <a:solidFill>
                  <a:srgbClr val="E0E4E6"/>
                </a:solidFill>
                <a:latin typeface="Spline Sans"/>
                <a:ea typeface="Spline Sans"/>
                <a:cs typeface="Spline Sans"/>
                <a:sym typeface="Spline Sans"/>
              </a:rPr>
              <a:t>Improve Delay Management</a:t>
            </a:r>
            <a:endParaRPr sz="1800">
              <a:solidFill>
                <a:schemeClr val="dk1"/>
              </a:solidFill>
              <a:latin typeface="Calibri"/>
              <a:ea typeface="Calibri"/>
              <a:cs typeface="Calibri"/>
              <a:sym typeface="Calibri"/>
            </a:endParaRPr>
          </a:p>
        </p:txBody>
      </p:sp>
      <p:sp>
        <p:nvSpPr>
          <p:cNvPr id="163" name="Google Shape;163;p20"/>
          <p:cNvSpPr/>
          <p:nvPr/>
        </p:nvSpPr>
        <p:spPr>
          <a:xfrm>
            <a:off x="1406366" y="2148483"/>
            <a:ext cx="7008376" cy="333375"/>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E4E6"/>
              </a:buClr>
              <a:buSzPts val="1600"/>
              <a:buFont typeface="Barlow"/>
              <a:buNone/>
            </a:pPr>
            <a:r>
              <a:rPr lang="en-US" sz="1600">
                <a:solidFill>
                  <a:srgbClr val="E0E4E6"/>
                </a:solidFill>
                <a:latin typeface="Barlow"/>
                <a:ea typeface="Barlow"/>
                <a:cs typeface="Barlow"/>
                <a:sym typeface="Barlow"/>
              </a:rPr>
              <a:t>Invest in infrastructure and contingency planning.</a:t>
            </a:r>
            <a:endParaRPr sz="1600">
              <a:solidFill>
                <a:schemeClr val="dk1"/>
              </a:solidFill>
              <a:latin typeface="Calibri"/>
              <a:ea typeface="Calibri"/>
              <a:cs typeface="Calibri"/>
              <a:sym typeface="Calibri"/>
            </a:endParaRPr>
          </a:p>
        </p:txBody>
      </p:sp>
      <p:sp>
        <p:nvSpPr>
          <p:cNvPr id="164" name="Google Shape;164;p20"/>
          <p:cNvSpPr/>
          <p:nvPr/>
        </p:nvSpPr>
        <p:spPr>
          <a:xfrm>
            <a:off x="729258" y="2924532"/>
            <a:ext cx="468749" cy="468749"/>
          </a:xfrm>
          <a:prstGeom prst="roundRect">
            <a:avLst>
              <a:gd fmla="val 66678" name="adj"/>
            </a:avLst>
          </a:prstGeom>
          <a:solidFill>
            <a:srgbClr val="0A081B"/>
          </a:solidFill>
          <a:ln cap="flat" cmpd="sng" w="22850">
            <a:solidFill>
              <a:srgbClr val="29DD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20"/>
          <p:cNvSpPr/>
          <p:nvPr/>
        </p:nvSpPr>
        <p:spPr>
          <a:xfrm>
            <a:off x="824686" y="2985254"/>
            <a:ext cx="277773" cy="3471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150"/>
              <a:buFont typeface="Spline Sans"/>
              <a:buNone/>
            </a:pPr>
            <a:r>
              <a:rPr b="1" lang="en-US" sz="2150">
                <a:solidFill>
                  <a:srgbClr val="E0E4E6"/>
                </a:solidFill>
                <a:latin typeface="Spline Sans"/>
                <a:ea typeface="Spline Sans"/>
                <a:cs typeface="Spline Sans"/>
                <a:sym typeface="Spline Sans"/>
              </a:rPr>
              <a:t>2</a:t>
            </a:r>
            <a:endParaRPr sz="2150">
              <a:solidFill>
                <a:schemeClr val="dk1"/>
              </a:solidFill>
              <a:latin typeface="Calibri"/>
              <a:ea typeface="Calibri"/>
              <a:cs typeface="Calibri"/>
              <a:sym typeface="Calibri"/>
            </a:endParaRPr>
          </a:p>
        </p:txBody>
      </p:sp>
      <p:sp>
        <p:nvSpPr>
          <p:cNvPr id="166" name="Google Shape;166;p20"/>
          <p:cNvSpPr/>
          <p:nvPr/>
        </p:nvSpPr>
        <p:spPr>
          <a:xfrm>
            <a:off x="1406366" y="2924532"/>
            <a:ext cx="3287673" cy="2894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E4E6"/>
              </a:buClr>
              <a:buSzPts val="1800"/>
              <a:buFont typeface="Spline Sans"/>
              <a:buNone/>
            </a:pPr>
            <a:r>
              <a:rPr b="1" lang="en-US" sz="1800">
                <a:solidFill>
                  <a:srgbClr val="E0E4E6"/>
                </a:solidFill>
                <a:latin typeface="Spline Sans"/>
                <a:ea typeface="Spline Sans"/>
                <a:cs typeface="Spline Sans"/>
                <a:sym typeface="Spline Sans"/>
              </a:rPr>
              <a:t>Optimize Low-Revenue Routes</a:t>
            </a:r>
            <a:endParaRPr sz="1800">
              <a:solidFill>
                <a:schemeClr val="dk1"/>
              </a:solidFill>
              <a:latin typeface="Calibri"/>
              <a:ea typeface="Calibri"/>
              <a:cs typeface="Calibri"/>
              <a:sym typeface="Calibri"/>
            </a:endParaRPr>
          </a:p>
        </p:txBody>
      </p:sp>
      <p:sp>
        <p:nvSpPr>
          <p:cNvPr id="167" name="Google Shape;167;p20"/>
          <p:cNvSpPr/>
          <p:nvPr/>
        </p:nvSpPr>
        <p:spPr>
          <a:xfrm>
            <a:off x="1406366" y="3338989"/>
            <a:ext cx="7008376" cy="333375"/>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E4E6"/>
              </a:buClr>
              <a:buSzPts val="1600"/>
              <a:buFont typeface="Barlow"/>
              <a:buNone/>
            </a:pPr>
            <a:r>
              <a:rPr lang="en-US" sz="1600">
                <a:solidFill>
                  <a:srgbClr val="E0E4E6"/>
                </a:solidFill>
                <a:latin typeface="Barlow"/>
                <a:ea typeface="Barlow"/>
                <a:cs typeface="Barlow"/>
                <a:sym typeface="Barlow"/>
              </a:rPr>
              <a:t>Adjust pricing or reduce frequency.</a:t>
            </a:r>
            <a:endParaRPr sz="1600">
              <a:solidFill>
                <a:schemeClr val="dk1"/>
              </a:solidFill>
              <a:latin typeface="Calibri"/>
              <a:ea typeface="Calibri"/>
              <a:cs typeface="Calibri"/>
              <a:sym typeface="Calibri"/>
            </a:endParaRPr>
          </a:p>
        </p:txBody>
      </p:sp>
      <p:sp>
        <p:nvSpPr>
          <p:cNvPr id="168" name="Google Shape;168;p20"/>
          <p:cNvSpPr/>
          <p:nvPr/>
        </p:nvSpPr>
        <p:spPr>
          <a:xfrm>
            <a:off x="729258" y="4115038"/>
            <a:ext cx="468749" cy="468749"/>
          </a:xfrm>
          <a:prstGeom prst="roundRect">
            <a:avLst>
              <a:gd fmla="val 66678" name="adj"/>
            </a:avLst>
          </a:prstGeom>
          <a:solidFill>
            <a:srgbClr val="0A081B"/>
          </a:solidFill>
          <a:ln cap="flat" cmpd="sng" w="22850">
            <a:solidFill>
              <a:srgbClr val="37A7E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20"/>
          <p:cNvSpPr/>
          <p:nvPr/>
        </p:nvSpPr>
        <p:spPr>
          <a:xfrm>
            <a:off x="824686" y="4175760"/>
            <a:ext cx="277773" cy="3471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150"/>
              <a:buFont typeface="Spline Sans"/>
              <a:buNone/>
            </a:pPr>
            <a:r>
              <a:rPr b="1" lang="en-US" sz="2150">
                <a:solidFill>
                  <a:srgbClr val="E0E4E6"/>
                </a:solidFill>
                <a:latin typeface="Spline Sans"/>
                <a:ea typeface="Spline Sans"/>
                <a:cs typeface="Spline Sans"/>
                <a:sym typeface="Spline Sans"/>
              </a:rPr>
              <a:t>3</a:t>
            </a:r>
            <a:endParaRPr sz="2150">
              <a:solidFill>
                <a:schemeClr val="dk1"/>
              </a:solidFill>
              <a:latin typeface="Calibri"/>
              <a:ea typeface="Calibri"/>
              <a:cs typeface="Calibri"/>
              <a:sym typeface="Calibri"/>
            </a:endParaRPr>
          </a:p>
        </p:txBody>
      </p:sp>
      <p:sp>
        <p:nvSpPr>
          <p:cNvPr id="170" name="Google Shape;170;p20"/>
          <p:cNvSpPr/>
          <p:nvPr/>
        </p:nvSpPr>
        <p:spPr>
          <a:xfrm>
            <a:off x="1406366" y="4115038"/>
            <a:ext cx="2898934" cy="2894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E4E6"/>
              </a:buClr>
              <a:buSzPts val="1800"/>
              <a:buFont typeface="Spline Sans"/>
              <a:buNone/>
            </a:pPr>
            <a:r>
              <a:rPr b="1" lang="en-US" sz="1800">
                <a:solidFill>
                  <a:srgbClr val="E0E4E6"/>
                </a:solidFill>
                <a:latin typeface="Spline Sans"/>
                <a:ea typeface="Spline Sans"/>
                <a:cs typeface="Spline Sans"/>
                <a:sym typeface="Spline Sans"/>
              </a:rPr>
              <a:t>Enhance Peak Hour Pricing</a:t>
            </a:r>
            <a:endParaRPr sz="1800">
              <a:solidFill>
                <a:schemeClr val="dk1"/>
              </a:solidFill>
              <a:latin typeface="Calibri"/>
              <a:ea typeface="Calibri"/>
              <a:cs typeface="Calibri"/>
              <a:sym typeface="Calibri"/>
            </a:endParaRPr>
          </a:p>
        </p:txBody>
      </p:sp>
      <p:sp>
        <p:nvSpPr>
          <p:cNvPr id="171" name="Google Shape;171;p20"/>
          <p:cNvSpPr/>
          <p:nvPr/>
        </p:nvSpPr>
        <p:spPr>
          <a:xfrm>
            <a:off x="1406366" y="4529495"/>
            <a:ext cx="7008376" cy="333375"/>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E4E6"/>
              </a:buClr>
              <a:buSzPts val="1600"/>
              <a:buFont typeface="Barlow"/>
              <a:buNone/>
            </a:pPr>
            <a:r>
              <a:rPr lang="en-US" sz="1600">
                <a:solidFill>
                  <a:srgbClr val="E0E4E6"/>
                </a:solidFill>
                <a:latin typeface="Barlow"/>
                <a:ea typeface="Barlow"/>
                <a:cs typeface="Barlow"/>
                <a:sym typeface="Barlow"/>
              </a:rPr>
              <a:t>Implement dynamic pricing models.</a:t>
            </a:r>
            <a:endParaRPr sz="1600">
              <a:solidFill>
                <a:schemeClr val="dk1"/>
              </a:solidFill>
              <a:latin typeface="Calibri"/>
              <a:ea typeface="Calibri"/>
              <a:cs typeface="Calibri"/>
              <a:sym typeface="Calibri"/>
            </a:endParaRPr>
          </a:p>
        </p:txBody>
      </p:sp>
      <p:sp>
        <p:nvSpPr>
          <p:cNvPr id="172" name="Google Shape;172;p20"/>
          <p:cNvSpPr/>
          <p:nvPr/>
        </p:nvSpPr>
        <p:spPr>
          <a:xfrm>
            <a:off x="729258" y="5305544"/>
            <a:ext cx="468749" cy="468749"/>
          </a:xfrm>
          <a:prstGeom prst="roundRect">
            <a:avLst>
              <a:gd fmla="val 66678" name="adj"/>
            </a:avLst>
          </a:prstGeom>
          <a:solidFill>
            <a:srgbClr val="0A081B"/>
          </a:solidFill>
          <a:ln cap="flat" cmpd="sng" w="22850">
            <a:solidFill>
              <a:srgbClr val="09123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20"/>
          <p:cNvSpPr/>
          <p:nvPr/>
        </p:nvSpPr>
        <p:spPr>
          <a:xfrm>
            <a:off x="824686" y="5366266"/>
            <a:ext cx="277773" cy="3471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0E4E6"/>
              </a:buClr>
              <a:buSzPts val="2150"/>
              <a:buFont typeface="Spline Sans"/>
              <a:buNone/>
            </a:pPr>
            <a:r>
              <a:rPr b="1" lang="en-US" sz="2150">
                <a:solidFill>
                  <a:srgbClr val="E0E4E6"/>
                </a:solidFill>
                <a:latin typeface="Spline Sans"/>
                <a:ea typeface="Spline Sans"/>
                <a:cs typeface="Spline Sans"/>
                <a:sym typeface="Spline Sans"/>
              </a:rPr>
              <a:t>4</a:t>
            </a:r>
            <a:endParaRPr sz="2150">
              <a:solidFill>
                <a:schemeClr val="dk1"/>
              </a:solidFill>
              <a:latin typeface="Calibri"/>
              <a:ea typeface="Calibri"/>
              <a:cs typeface="Calibri"/>
              <a:sym typeface="Calibri"/>
            </a:endParaRPr>
          </a:p>
        </p:txBody>
      </p:sp>
      <p:sp>
        <p:nvSpPr>
          <p:cNvPr id="174" name="Google Shape;174;p20"/>
          <p:cNvSpPr/>
          <p:nvPr/>
        </p:nvSpPr>
        <p:spPr>
          <a:xfrm>
            <a:off x="1406366" y="5305544"/>
            <a:ext cx="2315170" cy="2894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0E4E6"/>
              </a:buClr>
              <a:buSzPts val="1800"/>
              <a:buFont typeface="Spline Sans"/>
              <a:buNone/>
            </a:pPr>
            <a:r>
              <a:rPr b="1" lang="en-US" sz="1800">
                <a:solidFill>
                  <a:srgbClr val="E0E4E6"/>
                </a:solidFill>
                <a:latin typeface="Spline Sans"/>
                <a:ea typeface="Spline Sans"/>
                <a:cs typeface="Spline Sans"/>
                <a:sym typeface="Spline Sans"/>
              </a:rPr>
              <a:t>Boost Online Sales</a:t>
            </a:r>
            <a:endParaRPr sz="1800">
              <a:solidFill>
                <a:schemeClr val="dk1"/>
              </a:solidFill>
              <a:latin typeface="Calibri"/>
              <a:ea typeface="Calibri"/>
              <a:cs typeface="Calibri"/>
              <a:sym typeface="Calibri"/>
            </a:endParaRPr>
          </a:p>
        </p:txBody>
      </p:sp>
      <p:sp>
        <p:nvSpPr>
          <p:cNvPr id="175" name="Google Shape;175;p20"/>
          <p:cNvSpPr/>
          <p:nvPr/>
        </p:nvSpPr>
        <p:spPr>
          <a:xfrm>
            <a:off x="1406366" y="5720001"/>
            <a:ext cx="7008376" cy="333375"/>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E4E6"/>
              </a:buClr>
              <a:buSzPts val="1600"/>
              <a:buFont typeface="Barlow"/>
              <a:buNone/>
            </a:pPr>
            <a:r>
              <a:rPr lang="en-US" sz="1600">
                <a:solidFill>
                  <a:srgbClr val="E0E4E6"/>
                </a:solidFill>
                <a:latin typeface="Barlow"/>
                <a:ea typeface="Barlow"/>
                <a:cs typeface="Barlow"/>
                <a:sym typeface="Barlow"/>
              </a:rPr>
              <a:t>Through digital marketing and promotions.</a:t>
            </a:r>
            <a:endParaRPr sz="1600">
              <a:solidFill>
                <a:schemeClr val="dk1"/>
              </a:solidFill>
              <a:latin typeface="Calibri"/>
              <a:ea typeface="Calibri"/>
              <a:cs typeface="Calibri"/>
              <a:sym typeface="Calibri"/>
            </a:endParaRPr>
          </a:p>
        </p:txBody>
      </p:sp>
      <p:sp>
        <p:nvSpPr>
          <p:cNvPr id="176" name="Google Shape;176;p20"/>
          <p:cNvSpPr/>
          <p:nvPr/>
        </p:nvSpPr>
        <p:spPr>
          <a:xfrm>
            <a:off x="729258" y="6287691"/>
            <a:ext cx="7685484" cy="1333500"/>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0E4E6"/>
              </a:buClr>
              <a:buSzPts val="1600"/>
              <a:buFont typeface="Barlow"/>
              <a:buNone/>
            </a:pPr>
            <a:r>
              <a:rPr lang="en-US" sz="1600">
                <a:solidFill>
                  <a:srgbClr val="E0E4E6"/>
                </a:solidFill>
                <a:latin typeface="Barlow"/>
                <a:ea typeface="Barlow"/>
                <a:cs typeface="Barlow"/>
                <a:sym typeface="Barlow"/>
              </a:rPr>
              <a:t>Key recommendations include improving delay management through infrastructure investments, optimizing low-revenue routes by adjusting pricing, enhancing peak hour pricing with dynamic models, and boosting online ticket sales through digital marketing. These strategies aim to enhance service and increase revenue.</a:t>
            </a:r>
            <a:endParaRPr sz="16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descr="A screenshot of a train ride analysis&#10;&#10;AI-generated content may be incorrect." id="181" name="Google Shape;181;p21"/>
          <p:cNvPicPr preferRelativeResize="0"/>
          <p:nvPr/>
        </p:nvPicPr>
        <p:blipFill rotWithShape="1">
          <a:blip r:embed="rId3">
            <a:alphaModFix/>
          </a:blip>
          <a:srcRect b="0" l="0" r="0" t="0"/>
          <a:stretch/>
        </p:blipFill>
        <p:spPr>
          <a:xfrm>
            <a:off x="256478" y="189571"/>
            <a:ext cx="14150898" cy="781700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descr="preencoded.png" id="187" name="Google Shape;187;p22"/>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88" name="Google Shape;188;p22"/>
          <p:cNvSpPr/>
          <p:nvPr/>
        </p:nvSpPr>
        <p:spPr>
          <a:xfrm>
            <a:off x="864037" y="2599134"/>
            <a:ext cx="5486400" cy="685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0FCFF"/>
              </a:buClr>
              <a:buSzPts val="4300"/>
              <a:buFont typeface="Spline Sans"/>
              <a:buNone/>
            </a:pPr>
            <a:r>
              <a:rPr b="1" lang="en-US" sz="4300">
                <a:solidFill>
                  <a:srgbClr val="F0FCFF"/>
                </a:solidFill>
                <a:latin typeface="Spline Sans"/>
                <a:ea typeface="Spline Sans"/>
                <a:cs typeface="Spline Sans"/>
                <a:sym typeface="Spline Sans"/>
              </a:rPr>
              <a:t>Conclusion</a:t>
            </a:r>
            <a:endParaRPr sz="4300">
              <a:solidFill>
                <a:schemeClr val="dk1"/>
              </a:solidFill>
              <a:latin typeface="Calibri"/>
              <a:ea typeface="Calibri"/>
              <a:cs typeface="Calibri"/>
              <a:sym typeface="Calibri"/>
            </a:endParaRPr>
          </a:p>
        </p:txBody>
      </p:sp>
      <p:sp>
        <p:nvSpPr>
          <p:cNvPr id="189" name="Google Shape;189;p22"/>
          <p:cNvSpPr/>
          <p:nvPr/>
        </p:nvSpPr>
        <p:spPr>
          <a:xfrm>
            <a:off x="864037" y="3655219"/>
            <a:ext cx="7415927" cy="1975247"/>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E0E4E6"/>
              </a:buClr>
              <a:buSzPts val="1900"/>
              <a:buFont typeface="Barlow"/>
              <a:buNone/>
            </a:pPr>
            <a:r>
              <a:rPr lang="en-US" sz="1900">
                <a:solidFill>
                  <a:srgbClr val="E0E4E6"/>
                </a:solidFill>
                <a:latin typeface="Barlow"/>
                <a:ea typeface="Barlow"/>
                <a:cs typeface="Barlow"/>
                <a:sym typeface="Barlow"/>
              </a:rPr>
              <a:t>Our analysis provides valuable insights into train punctuality, revenue trends, customer preferences, and route profitability. By leveraging these findings, UK rail operators can enhance service efficiency, optimize pricing strategies, and improve passenger satisfaction. These improvements will lead to a better overall experience.</a:t>
            </a:r>
            <a:endParaRPr sz="1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